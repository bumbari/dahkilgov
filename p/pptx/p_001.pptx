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5042" autoAdjust="0"/>
  </p:normalViewPr>
  <p:slideViewPr>
    <p:cSldViewPr snapToGrid="0">
      <p:cViewPr varScale="1">
        <p:scale>
          <a:sx n="119" d="100"/>
          <a:sy n="119" d="100"/>
        </p:scale>
        <p:origin x="183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-453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Бисмиллах1и рахьманир рахьим</a:t>
            </a:r>
          </a:p>
          <a:p>
            <a:br>
              <a:rPr lang="ce-Cyrl-RU" dirty="0"/>
            </a:br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конечно, очень глубокомысленное, иногда трагичное, часто юмористичное, но всегда красивое. 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Оздоев И.А. “Ингушский язык. Пособие для педагогических училищ.”,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/>
            </a:br>
            <a:br>
              <a:rPr lang="ce-Cyrl-RU"/>
            </a:br>
            <a:r>
              <a:rPr lang="ce-Cyrl-RU"/>
              <a:t>При расхождении в терминах я отдавал предпочтение терминологии из учебника для педагогических училищ Оздоева И.А.</a:t>
            </a: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br>
              <a:rPr lang="ce-Cyrl-RU" dirty="0"/>
            </a:br>
            <a:r>
              <a:rPr lang="ce-Cyrl-RU" dirty="0"/>
              <a:t>И раз уж мы начинаем изучать ингушские притчи и поговорки, будет уместно привести здесь следующую поговорку:</a:t>
            </a:r>
            <a:br>
              <a:rPr lang="ce-Cyrl-RU" dirty="0"/>
            </a:br>
            <a:r>
              <a:rPr lang="ru-RU" dirty="0"/>
              <a:t>ГӀалгӀай мотт хьона хой, моллагӀча наха юкъе товргва хьо.</a:t>
            </a:r>
            <a:endParaRPr lang="ce-Cyrl-RU" dirty="0"/>
          </a:p>
          <a:p>
            <a:r>
              <a:rPr lang="ru-RU" dirty="0"/>
              <a:t>Если ты знаешь ингушский язык (и обычай), уживешься с любым народом.</a:t>
            </a:r>
            <a:endParaRPr lang="ce-Cyrl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</a:t>
            </a:r>
            <a:r>
              <a:rPr lang="ce-Cyrl-RU"/>
              <a:t>. </a:t>
            </a:r>
            <a:br>
              <a:rPr lang="ce-Cyrl-RU"/>
            </a:br>
            <a:r>
              <a:rPr lang="ce-Cyrl-RU"/>
              <a:t>Я </a:t>
            </a:r>
            <a:r>
              <a:rPr lang="ce-Cyrl-RU" dirty="0"/>
              <a:t>недавно стал использовать программу “</a:t>
            </a:r>
            <a:r>
              <a:rPr lang="en-US" dirty="0" err="1"/>
              <a:t>AutoHotKey</a:t>
            </a:r>
            <a:r>
              <a:rPr lang="en-US" dirty="0"/>
              <a:t>”, </a:t>
            </a:r>
            <a:r>
              <a:rPr lang="ce-Cyrl-RU" dirty="0"/>
              <a:t>у меня теперь </a:t>
            </a:r>
            <a:r>
              <a:rPr lang="en-US" dirty="0"/>
              <a:t>Ctrl-Shift-I</a:t>
            </a:r>
            <a:r>
              <a:rPr lang="ce-Cyrl-RU" dirty="0"/>
              <a:t> печатается как кириллическая палочка.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лоам. В ингушском встречается очень часто, в чеченском – отсутствует, например, кхоам бан (“кхом бе”) – “о” и “а“ произносятся раздельно.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01/09/2026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Placeholder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11" name="Text_Header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618341" y="384243"/>
            <a:ext cx="5369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ce-Cyrl-RU" sz="3200" b="1" dirty="0">
                <a:solidFill>
                  <a:srgbClr val="FF9933"/>
                </a:solidFill>
              </a:rPr>
              <a:t>№ 1</a:t>
            </a:r>
            <a:endParaRPr lang="en-US" sz="3200" b="1" dirty="0">
              <a:solidFill>
                <a:srgbClr val="FF9933"/>
              </a:solidFill>
            </a:endParaRPr>
          </a:p>
          <a:p>
            <a:pPr lvl="0" algn="ctr">
              <a:defRPr/>
            </a:pPr>
            <a:r>
              <a:rPr lang="nl-BE" sz="2000" b="1" dirty="0">
                <a:solidFill>
                  <a:srgbClr val="FF9933"/>
                </a:solidFill>
              </a:rPr>
              <a:t>______________</a:t>
            </a:r>
          </a:p>
          <a:p>
            <a:pPr lvl="0" algn="ctr">
              <a:defRPr/>
            </a:pPr>
            <a:r>
              <a:rPr lang="ru-RU" sz="2800" b="1" dirty="0">
                <a:solidFill>
                  <a:srgbClr val="FF9933"/>
                </a:solidFill>
              </a:rPr>
              <a:t>Са дешал чIоагIагI да цун эздел</a:t>
            </a:r>
            <a:br>
              <a:rPr lang="en-US" sz="2800" b="1" dirty="0">
                <a:solidFill>
                  <a:srgbClr val="FF9933"/>
                </a:solidFill>
              </a:rPr>
            </a:br>
            <a:r>
              <a:rPr lang="en-US" sz="2800" b="1" dirty="0">
                <a:solidFill>
                  <a:srgbClr val="FF9933"/>
                </a:solidFill>
              </a:rPr>
              <a:t>__________</a:t>
            </a:r>
            <a:r>
              <a:rPr lang="ce-Cyrl-RU" sz="2800" b="1" dirty="0">
                <a:solidFill>
                  <a:srgbClr val="FF9933"/>
                </a:solidFill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</a:p>
          <a:p>
            <a:pPr lvl="0" algn="ctr">
              <a:defRPr/>
            </a:pPr>
            <a:r>
              <a:rPr lang="en-US" sz="2000" b="1" dirty="0">
                <a:solidFill>
                  <a:srgbClr val="FF9933"/>
                </a:solidFill>
              </a:rPr>
              <a:t>__________</a:t>
            </a:r>
            <a:br>
              <a:rPr lang="en-US" sz="2000" b="1" dirty="0">
                <a:solidFill>
                  <a:srgbClr val="FF9933"/>
                </a:solidFill>
              </a:rPr>
            </a:b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  <a:latin typeface="Gill Sans MT" panose="020B0502020104020203"/>
            </a:endParaRPr>
          </a:p>
          <a:p>
            <a:pPr lvl="0" algn="ctr">
              <a:defRPr/>
            </a:pPr>
            <a:r>
              <a:rPr lang="en-US" sz="2000" b="1" dirty="0">
                <a:solidFill>
                  <a:srgbClr val="CC6600"/>
                </a:solidFill>
              </a:rPr>
              <a:t>@LADUGA_LADOGA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2409 0.23912 L 0.24622 0.136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516" y="-5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яхар </a:t>
            </a:r>
            <a:r>
              <a:rPr lang="ru-RU" sz="3200" dirty="0"/>
              <a:t>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палочка), проблема при наборе, решение:  </a:t>
            </a:r>
            <a:r>
              <a:rPr lang="en-US" sz="2400" dirty="0" err="1">
                <a:solidFill>
                  <a:prstClr val="black"/>
                </a:solidFill>
              </a:rPr>
              <a:t>AutoHotKey</a:t>
            </a:r>
            <a:r>
              <a:rPr lang="ce-Cyrl-RU" sz="2400" dirty="0">
                <a:solidFill>
                  <a:prstClr val="black"/>
                </a:solidFill>
              </a:rPr>
              <a:t>, шрифт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r>
              <a:rPr kumimoji="0" lang="ce-Cyrl-RU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на конце слов</a:t>
            </a:r>
            <a:endParaRPr kumimoji="0" lang="nl-BE" sz="24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2795</Words>
  <Application>Microsoft Office PowerPoint</Application>
  <PresentationFormat>Widescreen</PresentationFormat>
  <Paragraphs>99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Gill Sans</vt:lpstr>
      <vt:lpstr>Gill Sans MT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PowerPoint Presentation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213</cp:revision>
  <dcterms:created xsi:type="dcterms:W3CDTF">2026-06-01T18:53:02Z</dcterms:created>
  <dcterms:modified xsi:type="dcterms:W3CDTF">2026-09-01T21:18:18Z</dcterms:modified>
</cp:coreProperties>
</file>