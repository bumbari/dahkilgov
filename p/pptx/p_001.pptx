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257" r:id="rId3"/>
    <p:sldId id="262" r:id="rId4"/>
    <p:sldId id="259" r:id="rId5"/>
    <p:sldId id="267" r:id="rId6"/>
    <p:sldId id="258" r:id="rId7"/>
    <p:sldId id="263" r:id="rId8"/>
    <p:sldId id="266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D185C242-68B7-4DC8-A407-97B28E6BAFC5}">
          <p14:sldIdLst>
            <p14:sldId id="256"/>
          </p14:sldIdLst>
        </p14:section>
        <p14:section name="book_cover" id="{FEE08EA0-157C-42D5-9554-D7F4899B98FD}">
          <p14:sldIdLst>
            <p14:sldId id="257"/>
            <p14:sldId id="262"/>
            <p14:sldId id="259"/>
            <p14:sldId id="267"/>
            <p14:sldId id="258"/>
            <p14:sldId id="263"/>
            <p14:sldId id="266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DFDB"/>
    <a:srgbClr val="FF9933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68887" autoAdjust="0"/>
  </p:normalViewPr>
  <p:slideViewPr>
    <p:cSldViewPr snapToGrid="0">
      <p:cViewPr>
        <p:scale>
          <a:sx n="75" d="100"/>
          <a:sy n="75" d="100"/>
        </p:scale>
        <p:origin x="2814" y="83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10EF0D-C0AE-4057-9FB9-5976587F9AED}" type="datetimeFigureOut">
              <a:rPr lang="nl-BE" smtClean="0"/>
              <a:t>04/07/2026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988EC9-9D06-45FD-A085-36D14FED115C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3455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e-Cyrl-RU" dirty="0"/>
              <a:t>Де дика хилда шо, добрый день. Меня зовут Абдулвахид Шудуев. Я сам чеченец, в данной серии видео я хочу поделиться с вами своим опытом изучения ингушского языка. </a:t>
            </a:r>
            <a:br>
              <a:rPr lang="ce-Cyrl-RU" dirty="0"/>
            </a:br>
            <a:r>
              <a:rPr lang="ce-Cyrl-RU" dirty="0"/>
              <a:t>Я видел столько всего хорошего и красивого со стороны ингушей, что мне хочется отблагодарить их хотя бы тем, что я попытаюсь выучить их язык. </a:t>
            </a:r>
            <a:br>
              <a:rPr lang="ce-Cyrl-RU" dirty="0"/>
            </a:br>
            <a:r>
              <a:rPr lang="ce-Cyrl-RU" dirty="0"/>
              <a:t>Первый раз такая идея возникла у меня примерно двадцать лет назад, когда мой старший товарищ и друг, ингуш, принес мне почитать книгу Ибрагима Дахкильгова “Мудрые наставления наших предков”. Тогда я оцифровал эту книгу и опубликовал ее в интернете, она до сих пор там находится, по адресу </a:t>
            </a:r>
            <a:r>
              <a:rPr lang="en-US" dirty="0"/>
              <a:t>orga.narod.ru</a:t>
            </a:r>
            <a:r>
              <a:rPr lang="ce-Cyrl-RU" dirty="0"/>
              <a:t> , там же немного ранее я опубликовал книгу Шарани Джамбекова с чеченским фольклором. </a:t>
            </a:r>
            <a:br>
              <a:rPr lang="ce-Cyrl-RU" dirty="0"/>
            </a:br>
            <a:r>
              <a:rPr lang="ce-Cyrl-RU" dirty="0"/>
              <a:t>У ингушей и чеченцев много общего в фольклоре, оба автора, Джамбеков и Дахкильгов, знали друг друга, сотрудничали друг с другом. В двухтомнике Мусы Гешаева “Знаменитые ингуши” есть статья про Дахкильгова. </a:t>
            </a:r>
          </a:p>
          <a:p>
            <a:r>
              <a:rPr lang="ce-Cyrl-RU" dirty="0"/>
              <a:t>Цитата из этой статьи:</a:t>
            </a:r>
            <a:br>
              <a:rPr lang="ce-Cyrl-RU" dirty="0"/>
            </a:br>
            <a:r>
              <a:rPr lang="ce-Cyrl-RU" dirty="0"/>
              <a:t>“Фольклор связывает народы. Это язык не вражды, но взаимопонимания. Сказка – исток песни. Как родник берет свое начало в горах, так народные слово и мудрость проистекают из корневой системы жизни народов. Счастлив тот, кто взрастил и взлелеял все эти мудрости бытия в сердце, и кто делится этим сердечным прозрением с другими.”</a:t>
            </a:r>
          </a:p>
          <a:p>
            <a:r>
              <a:rPr lang="ce-Cyrl-RU" dirty="0"/>
              <a:t>Дала гештдойла Дахкильгов Ибрах1имна, Джамбеков Ша1ранина, Гешаев Мусана, жаль, что они и люди их поколения ушли, это были люди, много трудившиеся, много сделавшие для своих народов. </a:t>
            </a:r>
          </a:p>
          <a:p>
            <a:r>
              <a:rPr lang="ce-Cyrl-RU" dirty="0"/>
              <a:t>Дахкильгов, кстати, является также автором ингушского флага с этим красивым солярным знаком.</a:t>
            </a:r>
          </a:p>
          <a:p>
            <a:r>
              <a:rPr lang="ce-Cyrl-RU" dirty="0"/>
              <a:t>Так вот, сейчас, через двадцать лет, я решил вернуться к этой книге. Она интересна тем, что там, во-первых, очень богатая лексика с архаичными словами, а во-вторых, автор приводит там перевод на русский язык. Причем перевод сделан очень сбалансированно, без излишнего увлечения выразительными свойствами русского языка, с целью максимального сохранения смысла и красоты ингушского текста. Для желающих изучить ингушский язык такая книга, несомненно, является очень ценной. Да и само содержание книги, конечно, очень красивое, глубокомысленное, часто юмористичное. Книга состоит из двух основных частей – пословицы и притчи. В данном курсе видео я расскажу о притчах. Возможно, в дальнейшем, Дала аьннад Далахь, сделаю отдельный видео-ряд для пословиц. Всего в книге 171 притча, я планирую записать одно видео на притчу. Длительность видео – около 15 минут. Каждое видео будет состоять из короткого вступления</a:t>
            </a:r>
            <a:r>
              <a:rPr lang="en-US" dirty="0"/>
              <a:t> </a:t>
            </a:r>
            <a:r>
              <a:rPr lang="ce-Cyrl-RU" dirty="0"/>
              <a:t>несколько секунд, затем слайд с озвучкой ингушского текста (спасибо ингушам, которые помогают с озвучкой), далее два слайда, каждый на несколько минут, с объяснением лексики и грамматики из данной притчи. В конце несколько поговорок из той же книги, связанных с содержанием притчи.</a:t>
            </a:r>
            <a:br>
              <a:rPr lang="ce-Cyrl-RU" dirty="0"/>
            </a:br>
            <a:r>
              <a:rPr lang="ce-Cyrl-RU" dirty="0"/>
              <a:t>Сейчас, когда я записываю это видео, работа еще далеко не закончена. </a:t>
            </a:r>
            <a:br>
              <a:rPr lang="ce-Cyrl-RU" dirty="0"/>
            </a:br>
            <a:r>
              <a:rPr lang="ce-Cyrl-RU" dirty="0"/>
              <a:t>Я буду излагать свой опыт изучения языка. При этом я, скорее всего, буду увлекаться, делать ошибки, могу сказать что-нибудь, что кому-то не понравится, - в свое оправдание могу сказать, что я начинаю эту работу из хороших побуждений. </a:t>
            </a:r>
            <a:br>
              <a:rPr lang="ce-Cyrl-RU" dirty="0"/>
            </a:br>
            <a:r>
              <a:rPr lang="ce-Cyrl-RU" dirty="0"/>
              <a:t>Возможно, я буду слишком увлекаться сравнением с чеченским, - это потому, что чеченский является для меня родным, и, естественно, при изучении нового языка я сравниваю его со своим родным. Также прошу прощения за мое корявое произношение ингушских слов, я работаю над этим. </a:t>
            </a:r>
            <a:br>
              <a:rPr lang="ce-Cyrl-RU" dirty="0"/>
            </a:br>
            <a:r>
              <a:rPr lang="ce-Cyrl-RU" dirty="0"/>
              <a:t>Мы постараемся двигаться от простого к сложному – сначала алфавит, разъяснение грамматических терминов, затем сложная грамматика с временами глаголов и падежами существительных, ближе к концу – иллюстрации грамматических правил на примере текстов из притч.</a:t>
            </a:r>
          </a:p>
          <a:p>
            <a:r>
              <a:rPr lang="ce-Cyrl-RU" dirty="0"/>
              <a:t>Слайды сделаны </a:t>
            </a:r>
            <a:r>
              <a:rPr lang="en-US" dirty="0"/>
              <a:t>c </a:t>
            </a:r>
            <a:r>
              <a:rPr lang="ce-Cyrl-RU" dirty="0"/>
              <a:t>помощью программы </a:t>
            </a:r>
            <a:r>
              <a:rPr lang="en-US" dirty="0"/>
              <a:t>PowerPoint</a:t>
            </a:r>
            <a:r>
              <a:rPr lang="ce-Cyrl-RU" dirty="0"/>
              <a:t> от </a:t>
            </a:r>
            <a:r>
              <a:rPr lang="en-US" dirty="0"/>
              <a:t>Microsoft. </a:t>
            </a:r>
            <a:r>
              <a:rPr lang="ce-Cyrl-RU" dirty="0"/>
              <a:t>Для разнообразия я сгенерировал иллюстрации к притчам используя </a:t>
            </a:r>
            <a:r>
              <a:rPr lang="en-US" dirty="0"/>
              <a:t>Gemini </a:t>
            </a:r>
            <a:r>
              <a:rPr lang="ce-Cyrl-RU" dirty="0"/>
              <a:t>от </a:t>
            </a:r>
            <a:r>
              <a:rPr lang="en-US" dirty="0"/>
              <a:t>Google</a:t>
            </a:r>
            <a:r>
              <a:rPr lang="ce-Cyrl-RU" dirty="0"/>
              <a:t>. </a:t>
            </a:r>
            <a:br>
              <a:rPr lang="ce-Cyrl-RU" dirty="0"/>
            </a:br>
            <a:r>
              <a:rPr lang="ce-Cyrl-RU" dirty="0"/>
              <a:t>Содержание притч, с текстами на ингушском, русском, чеченском, английском языках опубликовано на </a:t>
            </a:r>
            <a:r>
              <a:rPr lang="en-US" dirty="0" err="1"/>
              <a:t>github</a:t>
            </a:r>
            <a:r>
              <a:rPr lang="ce-Cyrl-RU" dirty="0"/>
              <a:t>, адрес в описании к этому видео. </a:t>
            </a:r>
            <a:br>
              <a:rPr lang="ce-Cyrl-RU" dirty="0"/>
            </a:br>
            <a:r>
              <a:rPr lang="en-US" dirty="0"/>
              <a:t>https://bumbari.github.io/dahkilgov/p/original/d1.htm</a:t>
            </a:r>
          </a:p>
          <a:p>
            <a:r>
              <a:rPr lang="ce-Cyrl-RU" dirty="0"/>
              <a:t>Перевод с ингушского на чеченский сделан мной, перевод на английский машинный, сделан с русского.</a:t>
            </a:r>
          </a:p>
          <a:p>
            <a:r>
              <a:rPr lang="ce-Cyrl-RU" dirty="0"/>
              <a:t>По мере записи очередных видео я буду добавлять туда ссылки на </a:t>
            </a:r>
            <a:r>
              <a:rPr lang="en-US" dirty="0" err="1"/>
              <a:t>youtube</a:t>
            </a:r>
            <a:r>
              <a:rPr lang="en-US" dirty="0"/>
              <a:t> </a:t>
            </a:r>
            <a:r>
              <a:rPr lang="ce-Cyrl-RU" dirty="0"/>
              <a:t>видео.</a:t>
            </a:r>
          </a:p>
          <a:p>
            <a:r>
              <a:rPr lang="ce-Cyrl-RU" dirty="0"/>
              <a:t>При работе над этими видео я постоянно пользуюсь сводным словарем ингушского языка из интернета, платформа</a:t>
            </a:r>
            <a:r>
              <a:rPr lang="ce-Cyrl-RU" b="0" dirty="0"/>
              <a:t> </a:t>
            </a:r>
            <a:r>
              <a:rPr lang="nl-BE" b="0" dirty="0" err="1"/>
              <a:t>PaydaDosh</a:t>
            </a:r>
            <a:r>
              <a:rPr lang="ce-Cyrl-RU" dirty="0"/>
              <a:t>:</a:t>
            </a:r>
            <a:br>
              <a:rPr lang="ce-Cyrl-RU" dirty="0"/>
            </a:br>
            <a:r>
              <a:rPr lang="nl-BE" dirty="0"/>
              <a:t>https://ghalghay.vercel.app/doshlorg.html</a:t>
            </a:r>
            <a:br>
              <a:rPr lang="ce-Cyrl-RU" dirty="0"/>
            </a:br>
            <a:r>
              <a:rPr lang="ce-Cyrl-RU" dirty="0"/>
              <a:t>А также словарями чеченского языка на сайте </a:t>
            </a:r>
            <a:br>
              <a:rPr lang="ce-Cyrl-RU" dirty="0"/>
            </a:br>
            <a:r>
              <a:rPr lang="en-US" dirty="0"/>
              <a:t>https://dikdosham.ru/ru/</a:t>
            </a:r>
            <a:br>
              <a:rPr lang="ce-Cyrl-RU" dirty="0"/>
            </a:br>
            <a:r>
              <a:rPr lang="ce-Cyrl-RU" dirty="0"/>
              <a:t>Большое спасибо авторам этих сайтов, они проделали огромную работу. </a:t>
            </a:r>
            <a:br>
              <a:rPr lang="ce-Cyrl-RU" dirty="0"/>
            </a:br>
            <a:r>
              <a:rPr lang="ce-Cyrl-RU" dirty="0"/>
              <a:t>Также я пользуюсь следующими учебными материалами:</a:t>
            </a:r>
            <a:br>
              <a:rPr lang="ce-Cyrl-RU" dirty="0"/>
            </a:br>
            <a:r>
              <a:rPr lang="ce-Cyrl-RU" dirty="0"/>
              <a:t>Мальсагов З.К. “Грамматика ингушского языка”, 1963 года издания.</a:t>
            </a:r>
            <a:br>
              <a:rPr lang="ce-Cyrl-RU" dirty="0"/>
            </a:br>
            <a:r>
              <a:rPr lang="ce-Cyrl-RU" dirty="0"/>
              <a:t>Долакова Р.И. “Краткая грамматика ингушского языка”, 1967</a:t>
            </a:r>
            <a:br>
              <a:rPr lang="ce-Cyrl-RU" dirty="0"/>
            </a:br>
            <a:r>
              <a:rPr lang="ce-Cyrl-RU" dirty="0"/>
              <a:t>Оздоев И.А. “Ингушский язык”, 1970 г.</a:t>
            </a:r>
            <a:br>
              <a:rPr lang="ce-Cyrl-RU" dirty="0"/>
            </a:br>
            <a:r>
              <a:rPr lang="ce-Cyrl-RU" dirty="0"/>
              <a:t>Ахриева Р.И, Оздоева Ф.Г., Мальсагова Л.Д., Бекова П.Х. “Современный ингушский язык”, 1972 г. </a:t>
            </a:r>
            <a:br>
              <a:rPr lang="ce-Cyrl-RU" dirty="0"/>
            </a:br>
            <a:r>
              <a:rPr lang="ru-RU" dirty="0"/>
              <a:t>Оздоева Э</a:t>
            </a:r>
            <a:r>
              <a:rPr lang="ce-Cyrl-RU" dirty="0"/>
              <a:t>.</a:t>
            </a:r>
            <a:r>
              <a:rPr lang="ru-RU" dirty="0"/>
              <a:t>Г</a:t>
            </a:r>
            <a:r>
              <a:rPr lang="ce-Cyrl-RU" dirty="0"/>
              <a:t>., Алиева П.М., Дудургова П.М. “Временные формы в ингушском языке”, 2018</a:t>
            </a:r>
            <a:br>
              <a:rPr lang="ce-Cyrl-RU" dirty="0"/>
            </a:br>
            <a:r>
              <a:rPr lang="ce-Cyrl-RU" dirty="0"/>
              <a:t>Аушева Э.А. “Типы склонения в ингушском языке”, 2019</a:t>
            </a:r>
            <a:br>
              <a:rPr lang="ce-Cyrl-RU" dirty="0"/>
            </a:br>
            <a:br>
              <a:rPr lang="ce-Cyrl-RU" dirty="0"/>
            </a:br>
            <a:r>
              <a:rPr lang="ce-Cyrl-RU" dirty="0"/>
              <a:t>Ссылки на словари и полные названия книг даны в описании к данному видео.</a:t>
            </a:r>
          </a:p>
          <a:p>
            <a:endParaRPr lang="ce-Cyrl-RU" dirty="0"/>
          </a:p>
          <a:p>
            <a:r>
              <a:rPr lang="ce-Cyrl-RU" dirty="0"/>
              <a:t>Бисмиллах1и рахьманир рахьим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88EC9-9D06-45FD-A085-36D14FED115C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573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88EC9-9D06-45FD-A085-36D14FED115C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40154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e-Cyrl-RU" dirty="0"/>
              <a:t>Притча 1 имеет типичный размер. Хоть она и небольшая, но содержит интересную лексику и грамматические формы. Здесь мы поговорим о лексике из данной притче, позже, на следующем слайде мы поговорим об ингушском алфавите и особенностях произношения.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e-Cyrl-RU" dirty="0"/>
              <a:t>Слово “эздел” (благородство) ключевое слово в ингушском этикете, не случайно первая притча посвящена этому слову.</a:t>
            </a:r>
            <a:br>
              <a:rPr lang="ce-Cyrl-RU" dirty="0"/>
            </a:br>
            <a:r>
              <a:rPr lang="ce-Cyrl-RU" dirty="0"/>
              <a:t>Поговорки из этой же книги:</a:t>
            </a:r>
            <a:br>
              <a:rPr lang="ce-Cyrl-RU" dirty="0"/>
            </a:br>
            <a:r>
              <a:rPr lang="ce-Cyrl-RU" dirty="0"/>
              <a:t>“Эзде вар-воацар белгалла хул” – Благородного от неблагородного легко отличить.</a:t>
            </a:r>
            <a:br>
              <a:rPr lang="ce-Cyrl-RU" dirty="0"/>
            </a:br>
            <a:r>
              <a:rPr lang="ce-Cyrl-RU" dirty="0"/>
              <a:t>“Эздел леладечунца мара дац” – Благородство лишь у того, кто ведет себя благородно”.</a:t>
            </a:r>
          </a:p>
          <a:p>
            <a:r>
              <a:rPr lang="ce-Cyrl-RU" dirty="0"/>
              <a:t>Дешал – сравнительный падеж от “дош” - слово. Тоже важное понятие в этикете. </a:t>
            </a:r>
          </a:p>
          <a:p>
            <a:r>
              <a:rPr lang="ce-Cyrl-RU" dirty="0"/>
              <a:t>“Дош дала сих ма ле, сихле из кхоачашд</a:t>
            </a:r>
            <a:r>
              <a:rPr lang="en-US" dirty="0"/>
              <a:t>é</a:t>
            </a:r>
            <a:r>
              <a:rPr lang="ce-Cyrl-RU" dirty="0"/>
              <a:t>”. – Не спеши давать слово, спеши его сдержать.</a:t>
            </a:r>
            <a:br>
              <a:rPr lang="ce-Cyrl-RU" dirty="0"/>
            </a:br>
            <a:r>
              <a:rPr lang="ce-Cyrl-RU" dirty="0"/>
              <a:t>Ч1ог1аг1 – сильнее, “ч1ог1ах” на чеч. Если в чеч. здесь конечная глухая “х”, то в инг. это произносится твердо, как “г1”. Аналогично, дикаг1 – диках (лучше), хозаг1 – хазах (красивее).</a:t>
            </a:r>
          </a:p>
          <a:p>
            <a:br>
              <a:rPr lang="ce-Cyrl-RU" dirty="0"/>
            </a:br>
            <a:r>
              <a:rPr lang="ce-Cyrl-RU" dirty="0"/>
              <a:t>Ц1аг1а (пайхмар чуваьлча) – вошел в дом, местный падеж. В чеченском местный падеж это “ц1ийне”, но он не так часто употребляется, как в ингушском. В данном случае я бы перевел это на чеченский как “ц1енна пайхмар чуваьлча” – со словом “ц1а” в дательном падеже, или, то же самое в более краткой форме, “пайхмар ц1а чу ваьлча” (имен. падеж).</a:t>
            </a:r>
            <a:r>
              <a:rPr lang="ru-RU" dirty="0"/>
              <a:t> </a:t>
            </a:r>
            <a:r>
              <a:rPr lang="ce-Cyrl-RU" dirty="0"/>
              <a:t>Ингушский чаще использует местные падежи, они выражают все нюансы пространственных отношений. Слово “ц1аг1а” нам еще будет встречаться в других притчах, я надеюсь, что в дальнейшем и вам и мне это слово станет привычнее.</a:t>
            </a:r>
            <a:br>
              <a:rPr lang="en-US" dirty="0"/>
            </a:br>
            <a:r>
              <a:rPr lang="ce-Cyrl-RU" dirty="0"/>
              <a:t>Берригаш – тоже интересное слово, означает “все люди”, по-чеченски “берриш”. </a:t>
            </a:r>
            <a:br>
              <a:rPr lang="ce-Cyrl-RU" dirty="0"/>
            </a:br>
            <a:r>
              <a:rPr lang="ce-Cyrl-RU" dirty="0"/>
              <a:t>Веррига – весь человек, берригаш – все люди. </a:t>
            </a:r>
          </a:p>
          <a:p>
            <a:endParaRPr lang="ce-Cyrl-RU" dirty="0"/>
          </a:p>
          <a:p>
            <a:r>
              <a:rPr lang="ce-Cyrl-RU" sz="1200" dirty="0"/>
              <a:t>1оха – садись. На мой взгляд, при первом употреблении, когда пророк обращается к группе людей, лучше подошло бы слово “1оховша”, во мн. числе. С другой стороны, тогда бы эффект повтора не был бы так явно выражен. </a:t>
            </a:r>
            <a:r>
              <a:rPr lang="ru-RU" sz="1200" dirty="0"/>
              <a:t>П</a:t>
            </a:r>
            <a:r>
              <a:rPr lang="ce-Cyrl-RU" sz="1200" dirty="0"/>
              <a:t>ространственная приставка “1о” (по-чеченски “охьа”) означает “вниз”. Мы планируем рассмотреть пространственные приставки в отдельном видео, ингушский язык очень богат на пространственные приставки, например, маг1а, эг1а, которых нет в чеченском.</a:t>
            </a:r>
            <a:br>
              <a:rPr lang="ce-Cyrl-RU" sz="1200" dirty="0"/>
            </a:br>
            <a:r>
              <a:rPr lang="ru-RU" sz="1200" dirty="0"/>
              <a:t>Латтийсав</a:t>
            </a:r>
            <a:r>
              <a:rPr lang="ce-Cyrl-RU" sz="1200" dirty="0"/>
              <a:t> – опечатка, должно быть “латта висав”, остался стоять.</a:t>
            </a:r>
          </a:p>
          <a:p>
            <a:br>
              <a:rPr lang="ce-Cyrl-RU" sz="1200" dirty="0"/>
            </a:br>
            <a:r>
              <a:rPr lang="ce-Cyrl-RU" sz="1200" dirty="0"/>
              <a:t>Хайнавац – не сел. Интересно, что в чеченском “вац” пишется раздельно – хиъна вац. В ингушском каждый глагол имеет отрицательную форму, эта форма считается отдельным словом, и поэтому пишется вместе. Чеченская орфография считает, что это два разных слова. Про отрицательные формы глаголов мы тоже будем говорить отдельно.</a:t>
            </a:r>
          </a:p>
          <a:p>
            <a:br>
              <a:rPr lang="ce-Cyrl-RU" sz="1200" dirty="0"/>
            </a:br>
            <a:r>
              <a:rPr lang="ru-RU" sz="1200" dirty="0"/>
              <a:t>Б</a:t>
            </a:r>
            <a:r>
              <a:rPr lang="ce-Cyrl-RU" sz="1200" dirty="0"/>
              <a:t>ехк баккха, бехкаш даха во мн. числе, - порицать. </a:t>
            </a:r>
            <a:r>
              <a:rPr lang="ru-RU" sz="1200" dirty="0"/>
              <a:t>Б</a:t>
            </a:r>
            <a:r>
              <a:rPr lang="ce-Cyrl-RU" sz="1200" dirty="0"/>
              <a:t>ехк баккха – буквально “извлечь вину”, также говорят “чкъаьрий даха” – рыбачить. </a:t>
            </a:r>
          </a:p>
          <a:p>
            <a:r>
              <a:rPr lang="ce-Cyrl-RU" sz="1200" dirty="0"/>
              <a:t>Сих - вещественный падеж от са (душа). В ингушском очень много слов, производных от слова “душа” – грустить, веселиться, переживать, и т.д. Таким словам мы планируем посвятить отдельный урок в Притче 159 “</a:t>
            </a:r>
            <a:r>
              <a:rPr lang="ru-RU" sz="1200" dirty="0"/>
              <a:t>Эхь-эзделахи сабар-сатемахи</a:t>
            </a:r>
            <a:r>
              <a:rPr lang="ce-Cyrl-RU" sz="1200" dirty="0"/>
              <a:t>”. </a:t>
            </a:r>
            <a:br>
              <a:rPr lang="ce-Cyrl-RU" sz="1200" dirty="0"/>
            </a:br>
            <a:r>
              <a:rPr lang="ce-Cyrl-RU" sz="1200" dirty="0"/>
              <a:t>Поговорка со словом “са”:</a:t>
            </a:r>
            <a:br>
              <a:rPr lang="ce-Cyrl-RU" sz="1200" dirty="0"/>
            </a:br>
            <a:r>
              <a:rPr lang="ce-Cyrl-RU" sz="1200" dirty="0"/>
              <a:t>“</a:t>
            </a:r>
            <a:r>
              <a:rPr lang="ru-RU" sz="1200" dirty="0"/>
              <a:t>Са дуача в1оахалал сатийна къел тол.</a:t>
            </a:r>
            <a:r>
              <a:rPr lang="ce-Cyrl-RU" sz="1200" dirty="0"/>
              <a:t>” - 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Лучше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спокойная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бедность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чем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гложущее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душу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богатство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88EC9-9D06-45FD-A085-36D14FED115C}" type="slidenum">
              <a:rPr lang="nl-BE" smtClean="0"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45545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I : </a:t>
            </a:r>
            <a:r>
              <a:rPr lang="ce-Cyrl-RU" dirty="0"/>
              <a:t>источник технических проблем для всех северокавказских языков с кириллическим алфавитом. Строго говоря, надо использовать знак “кириллическая палочка” (код </a:t>
            </a:r>
            <a:r>
              <a:rPr lang="nl-BE" dirty="0">
                <a:latin typeface="Gill Sans MT" panose="020B0502020104020203" pitchFamily="34" charset="0"/>
              </a:rPr>
              <a:t>U+04C0</a:t>
            </a:r>
            <a:r>
              <a:rPr lang="ce-Cyrl-RU" dirty="0"/>
              <a:t>), но его нет ни в русской раскладке клавиатуры, ни в английской. </a:t>
            </a:r>
            <a:br>
              <a:rPr lang="ce-Cyrl-RU" dirty="0"/>
            </a:br>
            <a:r>
              <a:rPr lang="ce-Cyrl-RU" dirty="0"/>
              <a:t>Заглавная английская буква “</a:t>
            </a:r>
            <a:r>
              <a:rPr lang="en-US" dirty="0">
                <a:latin typeface="Gill Sans MT" panose="020B0502020104020203" pitchFamily="34" charset="0"/>
              </a:rPr>
              <a:t>I</a:t>
            </a:r>
            <a:r>
              <a:rPr lang="ce-Cyrl-RU" dirty="0"/>
              <a:t>”</a:t>
            </a:r>
            <a:r>
              <a:rPr lang="en-US" dirty="0">
                <a:latin typeface="Gill Sans MT" panose="020B0502020104020203" pitchFamily="34" charset="0"/>
              </a:rPr>
              <a:t> </a:t>
            </a:r>
            <a:r>
              <a:rPr lang="ce-Cyrl-RU" dirty="0"/>
              <a:t>внешне похожа на кириллическую палочку, но имеет другой код, к тому же, чтобы ее напечатать надо временно переключиться на английскую раскладку, что непрактично.</a:t>
            </a:r>
            <a:br>
              <a:rPr lang="ce-Cyrl-RU" dirty="0"/>
            </a:br>
            <a:r>
              <a:rPr lang="ce-Cyrl-RU" dirty="0"/>
              <a:t>Раньше на печатных машинках цифра “1” и английская “</a:t>
            </a:r>
            <a:r>
              <a:rPr lang="en-US" dirty="0">
                <a:latin typeface="Gill Sans MT" panose="020B0502020104020203" pitchFamily="34" charset="0"/>
              </a:rPr>
              <a:t>I” </a:t>
            </a:r>
            <a:r>
              <a:rPr lang="ce-Cyrl-RU" dirty="0"/>
              <a:t>выглядели одинаково, поэтому раньше такой проблемы не было. Вариант – если есть возможность, использовать </a:t>
            </a:r>
            <a:r>
              <a:rPr lang="nl-BE" dirty="0" err="1"/>
              <a:t>Gill</a:t>
            </a:r>
            <a:r>
              <a:rPr lang="nl-BE" dirty="0"/>
              <a:t> Sans</a:t>
            </a:r>
            <a:r>
              <a:rPr lang="ce-Cyrl-RU" dirty="0"/>
              <a:t>, на данных слайдах я использую этот шрифт. Еще один вариант – взять текст с единичками и внести его в раздел “Проверка правописания” на сайте “ДикДошам”, программа автоматически заменит единички на кириллические палочки.</a:t>
            </a:r>
          </a:p>
          <a:p>
            <a:br>
              <a:rPr lang="en-US" dirty="0">
                <a:latin typeface="Gill Sans MT" panose="020B0502020104020203" pitchFamily="34" charset="0"/>
              </a:rPr>
            </a:br>
            <a:r>
              <a:rPr lang="ce-Cyrl-RU" dirty="0"/>
              <a:t>ОЬ: хьога – хьоьга;</a:t>
            </a:r>
            <a:br>
              <a:rPr lang="ce-Cyrl-RU" dirty="0"/>
            </a:br>
            <a:r>
              <a:rPr lang="ce-Cyrl-RU" dirty="0"/>
              <a:t>УЬ: цун, цунга – цуьнан, цуьнга; уж – уьш: </a:t>
            </a:r>
            <a:br>
              <a:rPr lang="ce-Cyrl-RU" dirty="0"/>
            </a:br>
            <a:r>
              <a:rPr lang="ce-Cyrl-RU" dirty="0"/>
              <a:t>ЮЬ: юрта – юьртан</a:t>
            </a:r>
          </a:p>
          <a:p>
            <a:br>
              <a:rPr lang="ce-Cyrl-RU" dirty="0"/>
            </a:br>
            <a:r>
              <a:rPr lang="ce-Cyrl-RU" dirty="0"/>
              <a:t>ОА: оалаш – олуш; ч1</a:t>
            </a:r>
            <a:r>
              <a:rPr lang="ce-Cyrl-RU" b="1" dirty="0"/>
              <a:t>оа</a:t>
            </a:r>
            <a:r>
              <a:rPr lang="ce-Cyrl-RU" dirty="0"/>
              <a:t>г1аг1 – ч1</a:t>
            </a:r>
            <a:r>
              <a:rPr lang="ce-Cyrl-RU" b="1" dirty="0"/>
              <a:t>о</a:t>
            </a:r>
            <a:r>
              <a:rPr lang="ce-Cyrl-RU" dirty="0"/>
              <a:t>г1ах; доалла – долла; к1оаг, лоам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ce-Cyrl-RU" dirty="0"/>
            </a:br>
            <a:r>
              <a:rPr lang="ce-Cyrl-RU" dirty="0"/>
              <a:t>Ф: </a:t>
            </a:r>
            <a: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– встречается чаще, чем в чеченском: </a:t>
            </a:r>
            <a:b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фу (что), фусам (жилье), фийг (зернышко), фоарт (затылок)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r>
              <a:rPr lang="ce-Cyrl-RU" dirty="0"/>
              <a:t>языки без звука “ф” в исконных словах – русский, персидский, практически все кавказские; языки без звука “п” – арабский. Интересно турецкое слово “фес” (феска, тюбетейка). В чеч. оно трансформировалось в “пес”, в инг. звук “ф” сохранился : “фазиг”.</a:t>
            </a:r>
          </a:p>
          <a:p>
            <a:endParaRPr lang="ce-Cyrl-RU" dirty="0"/>
          </a:p>
          <a:p>
            <a: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Буква Х1 встречается реже, чем в чеченском : </a:t>
            </a:r>
            <a:r>
              <a:rPr lang="ce-Cyrl-RU" dirty="0">
                <a:solidFill>
                  <a:prstClr val="black"/>
                </a:solidFill>
              </a:rPr>
              <a:t>уотта</a:t>
            </a:r>
            <a: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– </a:t>
            </a:r>
            <a:r>
              <a:rPr lang="ce-Cyrl-RU" dirty="0">
                <a:solidFill>
                  <a:prstClr val="black"/>
                </a:solidFill>
              </a:rPr>
              <a:t>х1отта</a:t>
            </a:r>
            <a: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, </a:t>
            </a:r>
            <a:r>
              <a:rPr lang="ce-Cyrl-RU" dirty="0">
                <a:solidFill>
                  <a:prstClr val="black"/>
                </a:solidFill>
              </a:rPr>
              <a:t>йара</a:t>
            </a:r>
            <a: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– </a:t>
            </a:r>
            <a:r>
              <a:rPr lang="ce-Cyrl-RU" dirty="0">
                <a:solidFill>
                  <a:prstClr val="black"/>
                </a:solidFill>
              </a:rPr>
              <a:t>х1ара</a:t>
            </a:r>
            <a: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, </a:t>
            </a:r>
            <a:r>
              <a:rPr lang="ce-Cyrl-RU" dirty="0">
                <a:solidFill>
                  <a:prstClr val="black"/>
                </a:solidFill>
              </a:rPr>
              <a:t>фуъ – </a:t>
            </a:r>
            <a: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х1оа</a:t>
            </a:r>
          </a:p>
          <a:p>
            <a:endParaRPr lang="ce-Cyrl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Буква И часто произносится как Ы : из – “ыз”, ц1илеторг – “ц1ылеторг”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ce-Cyrl-RU" dirty="0"/>
            </a:br>
            <a:r>
              <a:rPr lang="ce-Cyrl-RU" dirty="0"/>
              <a:t>Е: </a:t>
            </a:r>
            <a: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Звук Е практически</a:t>
            </a:r>
            <a:r>
              <a:rPr kumimoji="0" lang="ce-Cyrl-RU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отсутствует, </a:t>
            </a:r>
            <a:r>
              <a:rPr lang="ce-Cyrl-RU" dirty="0">
                <a:solidFill>
                  <a:prstClr val="black"/>
                </a:solidFill>
              </a:rPr>
              <a:t>там, где есть буква Е, она </a:t>
            </a:r>
            <a: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произносится : </a:t>
            </a:r>
            <a:b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или как краткое э – эзар, дей (легкий);</a:t>
            </a:r>
            <a:r>
              <a:rPr kumimoji="0" lang="ce-Cyrl-RU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br>
              <a:rPr kumimoji="0" lang="ce-Cyrl-RU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или как дифтонг </a:t>
            </a:r>
            <a:r>
              <a:rPr kumimoji="0" lang="ce-Cyrl-RU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иэ</a:t>
            </a:r>
            <a: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– безам, </a:t>
            </a:r>
            <a:r>
              <a:rPr kumimoji="0" lang="ce-Cyrl-RU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де</a:t>
            </a:r>
            <a: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(делай), </a:t>
            </a:r>
            <a:r>
              <a:rPr kumimoji="0" lang="ce-Cyrl-RU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берх1а</a:t>
            </a:r>
            <a: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(соус). (как “е” в слове </a:t>
            </a:r>
            <a:r>
              <a:rPr kumimoji="0" lang="ce-Cyrl-RU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белый)</a:t>
            </a:r>
            <a: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. </a:t>
            </a:r>
            <a:b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Ср.  инг. </a:t>
            </a:r>
            <a:r>
              <a:rPr lang="ce-Cyrl-RU" dirty="0">
                <a:solidFill>
                  <a:prstClr val="black"/>
                </a:solidFill>
              </a:rPr>
              <a:t>“Даьла раьза хилда” и чеч.  </a:t>
            </a:r>
            <a:r>
              <a:rPr kumimoji="0" lang="ce-Cyrl-RU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“Дела реза хуьлда”</a:t>
            </a:r>
            <a:endParaRPr kumimoji="0" lang="ce-Cyrl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endParaRPr lang="ce-Cyrl-RU" dirty="0"/>
          </a:p>
          <a:p>
            <a:r>
              <a:rPr lang="ce-Cyrl-RU" dirty="0"/>
              <a:t>г1айттаб – г1еттина; 1охайшача – охьахевшича;</a:t>
            </a:r>
          </a:p>
          <a:p>
            <a:br>
              <a:rPr lang="ce-Cyrl-RU" dirty="0"/>
            </a:br>
            <a:r>
              <a:rPr kumimoji="0" lang="ce-Cyrl-RU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Лг, рг, шк, кк, г, к </a:t>
            </a:r>
            <a: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на конце слов произносятся мягко, как </a:t>
            </a:r>
            <a:r>
              <a:rPr kumimoji="0" lang="ce-Cyrl-RU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льгь, рьгь, шькь, ськь, ккь</a:t>
            </a:r>
            <a:br>
              <a:rPr kumimoji="0" lang="ce-Cyrl-RU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ce-Cyrl-RU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(кулг, лерг, пешк, циск, икк, гииг)</a:t>
            </a:r>
          </a:p>
          <a:p>
            <a:endParaRPr lang="ce-Cyrl-RU" dirty="0">
              <a:latin typeface="Gill Sans MT" panose="020B0502020104020203" pitchFamily="34" charset="0"/>
            </a:endParaRPr>
          </a:p>
          <a:p>
            <a:r>
              <a:rPr lang="ce-Cyrl-RU" dirty="0"/>
              <a:t>Ж, З: </a:t>
            </a:r>
            <a: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Буквы “ж” и “з” обычно произносятся как “дж” и “дз” – модж, хьадж, модз, гердз.</a:t>
            </a:r>
            <a:endParaRPr lang="ce-Cyrl-RU" dirty="0"/>
          </a:p>
          <a:p>
            <a:r>
              <a:rPr lang="ce-Cyrl-RU" dirty="0"/>
              <a:t>аналогичная ситуация, например, с английским – Джек, Джон, Дзорро. В заимствованных из русского словах произносится как “ж” и “з”.</a:t>
            </a:r>
            <a:br>
              <a:rPr lang="en-US" dirty="0"/>
            </a:br>
            <a:r>
              <a:rPr lang="ce-Cyrl-RU" dirty="0"/>
              <a:t>Мы вернемся к этим буквам в отдельном видео, Притча 144</a:t>
            </a:r>
          </a:p>
          <a:p>
            <a:endParaRPr lang="ce-Cyrl-RU" dirty="0">
              <a:latin typeface="Gill Sans MT" panose="020B0502020104020203" pitchFamily="34" charset="0"/>
            </a:endParaRPr>
          </a:p>
          <a:p>
            <a:endParaRPr lang="ce-Cyrl-RU" dirty="0">
              <a:latin typeface="Gill Sans MT" panose="020B05020201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e-Cyrl-RU" dirty="0">
                <a:latin typeface="Gill Sans MT" panose="020B0502020104020203" pitchFamily="34" charset="0"/>
              </a:rPr>
              <a:t>С, Ш, Х </a:t>
            </a:r>
            <a: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Буквы </a:t>
            </a:r>
            <a:r>
              <a:rPr lang="ce-Cyrl-RU" dirty="0">
                <a:solidFill>
                  <a:prstClr val="black"/>
                </a:solidFill>
              </a:rPr>
              <a:t>“с”,</a:t>
            </a:r>
            <a: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“ш”,”х” в приставках</a:t>
            </a:r>
            <a:r>
              <a:rPr kumimoji="0" lang="ce-Cyrl-RU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ce-Cyrl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на конце обычно произносится звонко, как “з”,“ж”,”г1”</a:t>
            </a:r>
            <a:endParaRPr kumimoji="0" lang="nl-B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r>
              <a:rPr lang="ce-Cyrl-RU" dirty="0">
                <a:latin typeface="Gill Sans MT" panose="020B0502020104020203" pitchFamily="34" charset="0"/>
              </a:rPr>
              <a:t>в аффиксальных окончаниях : нанас - наназ, берригаш – берригаж, бехкаш - бехкаж, ях – яг1, цох – цог1, сих – сиг1.</a:t>
            </a:r>
          </a:p>
          <a:p>
            <a:r>
              <a:rPr lang="ce-Cyrl-RU" dirty="0">
                <a:latin typeface="Gill Sans MT" panose="020B0502020104020203" pitchFamily="34" charset="0"/>
              </a:rPr>
              <a:t>При этом, например, “х” в слове “нах” является частью корня, поэтому произносится как “х”.</a:t>
            </a:r>
            <a:endParaRPr lang="nl-BE" dirty="0">
              <a:latin typeface="Gill Sans MT" panose="020B05020201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88EC9-9D06-45FD-A085-36D14FED115C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60408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85A49-38AB-5A42-59E2-3ECF4BDBB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258083-2633-7199-587C-488923CCA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F743F6-F317-72DE-E016-FABD812A1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e-Cyrl-RU" dirty="0"/>
              <a:t>Притча 1 имеет типичный размер. Хоть она и небольшая, но содержит интересную лексику и грамматические формы. Здесь мы поговорим о лексике из данной притче, позже, на следующем слайде мы поговорим об ингушском алфавите и особенностях произношения.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e-Cyrl-RU" dirty="0"/>
              <a:t>Слово “эздел” (благородство) ключевое слово в ингушском этикете, не случайно первая притча посвящена этому слову.</a:t>
            </a:r>
            <a:br>
              <a:rPr lang="ce-Cyrl-RU" dirty="0"/>
            </a:br>
            <a:r>
              <a:rPr lang="ce-Cyrl-RU" dirty="0"/>
              <a:t>Поговорки из этой же книги:</a:t>
            </a:r>
            <a:br>
              <a:rPr lang="ce-Cyrl-RU" dirty="0"/>
            </a:br>
            <a:r>
              <a:rPr lang="ce-Cyrl-RU" dirty="0"/>
              <a:t>“Эзде вар-воацар белгалла хул” – Благородного от неблагородного легко отличить.</a:t>
            </a:r>
            <a:br>
              <a:rPr lang="ce-Cyrl-RU" dirty="0"/>
            </a:br>
            <a:r>
              <a:rPr lang="ce-Cyrl-RU" dirty="0"/>
              <a:t>“Эздел леладечунца мара дац” – Благородство лишь у того, кто ведет себя благородно”.</a:t>
            </a:r>
          </a:p>
          <a:p>
            <a:r>
              <a:rPr lang="ce-Cyrl-RU" dirty="0"/>
              <a:t>Дешал – сравнительный падеж от “дош” - слово. Тоже важное понятие в этикете. </a:t>
            </a:r>
          </a:p>
          <a:p>
            <a:r>
              <a:rPr lang="ce-Cyrl-RU" dirty="0"/>
              <a:t>“Дош дала сих ма ле, сихле из кхоачашд</a:t>
            </a:r>
            <a:r>
              <a:rPr lang="en-US" dirty="0"/>
              <a:t>é</a:t>
            </a:r>
            <a:r>
              <a:rPr lang="ce-Cyrl-RU" dirty="0"/>
              <a:t>”. – Не спеши давать слово, спеши его сдержать.</a:t>
            </a:r>
            <a:br>
              <a:rPr lang="ce-Cyrl-RU" dirty="0"/>
            </a:br>
            <a:r>
              <a:rPr lang="ce-Cyrl-RU" dirty="0"/>
              <a:t>Ч1ог1аг1 – сильнее, “ч1ог1ах” на чеч. Если в чеч. здесь конечная глухая “х”, то в инг. это произносится твердо, как “г1”. Аналогично, дикаг1 – диках (лучше), хозаг1 – хазах (красивее).</a:t>
            </a:r>
          </a:p>
          <a:p>
            <a:br>
              <a:rPr lang="ce-Cyrl-RU" dirty="0"/>
            </a:br>
            <a:r>
              <a:rPr lang="ce-Cyrl-RU" dirty="0"/>
              <a:t>Ц1аг1а (пайхмар чуваьлча) – вошел в дом, местный падеж. В чеченском местный падеж это “ц1ийне”, но он не так часто употребляется, как в ингушском. В данном случае я бы перевел это на чеченский как “ц1енна пайхмар чуваьлча” – со словом “ц1а” в дательном падеже, или, то же самое в более краткой форме, “пайхмар ц1а чу ваьлча” (имен. падеж).</a:t>
            </a:r>
            <a:r>
              <a:rPr lang="ru-RU" dirty="0"/>
              <a:t> </a:t>
            </a:r>
            <a:r>
              <a:rPr lang="ce-Cyrl-RU" dirty="0"/>
              <a:t>Ингушский чаще использует местные падежи, они выражают все нюансы пространственных отношений. Слово “ц1аг1а” нам еще будет встречаться в других притчах, я надеюсь, что в дальнейшем и вам и мне это слово станет привычнее.</a:t>
            </a:r>
            <a:br>
              <a:rPr lang="en-US" dirty="0"/>
            </a:br>
            <a:r>
              <a:rPr lang="ce-Cyrl-RU" dirty="0"/>
              <a:t>Берригаш – тоже интересное слово, означает “все люди”, по-чеченски “берриш”. </a:t>
            </a:r>
            <a:br>
              <a:rPr lang="ce-Cyrl-RU" dirty="0"/>
            </a:br>
            <a:r>
              <a:rPr lang="ce-Cyrl-RU" dirty="0"/>
              <a:t>Веррига – весь человек, берригаш – все люди. </a:t>
            </a:r>
          </a:p>
          <a:p>
            <a:endParaRPr lang="ce-Cyrl-RU" dirty="0"/>
          </a:p>
          <a:p>
            <a:r>
              <a:rPr lang="ce-Cyrl-RU" sz="1200" dirty="0"/>
              <a:t>1оха – садись. На мой взгляд, при первом употреблении, когда пророк обращается к группе людей, лучше подошло бы слово “1оховша”, во мн. числе. С другой стороны, тогда бы эффект повтора не был бы так явно выражен. </a:t>
            </a:r>
            <a:r>
              <a:rPr lang="ru-RU" sz="1200" dirty="0"/>
              <a:t>П</a:t>
            </a:r>
            <a:r>
              <a:rPr lang="ce-Cyrl-RU" sz="1200" dirty="0"/>
              <a:t>ространственная приставка “1о” (по-чеченски “охьа”) означает “вниз”. Мы планируем рассмотреть пространственные приставки в отдельном видео, ингушский язык очень богат на пространственные приставки, например, маг1а, эг1а, которых нет в чеченском.</a:t>
            </a:r>
            <a:br>
              <a:rPr lang="ce-Cyrl-RU" sz="1200" dirty="0"/>
            </a:br>
            <a:r>
              <a:rPr lang="ru-RU" sz="1200" dirty="0"/>
              <a:t>Латтийсав</a:t>
            </a:r>
            <a:r>
              <a:rPr lang="ce-Cyrl-RU" sz="1200" dirty="0"/>
              <a:t> – опечатка, должно быть “латта висав”, остался стоять.</a:t>
            </a:r>
          </a:p>
          <a:p>
            <a:br>
              <a:rPr lang="ce-Cyrl-RU" sz="1200" dirty="0"/>
            </a:br>
            <a:r>
              <a:rPr lang="ce-Cyrl-RU" sz="1200" dirty="0"/>
              <a:t>Хайнавац – не сел. Интересно, что в чеченском “вац” пишется раздельно – хиъна вац. В ингушском каждый глагол имеет отрицательную форму, эта форма считается отдельным словом, и поэтому пишется вместе. Чеченская орфография считает, что это два разных слова. Про отрицательные формы глаголов мы тоже будем говорить отдельно.</a:t>
            </a:r>
          </a:p>
          <a:p>
            <a:br>
              <a:rPr lang="ce-Cyrl-RU" sz="1200" dirty="0"/>
            </a:br>
            <a:r>
              <a:rPr lang="ru-RU" sz="1200" dirty="0"/>
              <a:t>Б</a:t>
            </a:r>
            <a:r>
              <a:rPr lang="ce-Cyrl-RU" sz="1200" dirty="0"/>
              <a:t>ехк баккха, бехкаш даха во мн. числе, - порицать. </a:t>
            </a:r>
            <a:r>
              <a:rPr lang="ru-RU" sz="1200" dirty="0"/>
              <a:t>Б</a:t>
            </a:r>
            <a:r>
              <a:rPr lang="ce-Cyrl-RU" sz="1200" dirty="0"/>
              <a:t>ехк баккха – буквально “извлечь вину”, также говорят “чкъаьрий даха” – рыбачить. </a:t>
            </a:r>
          </a:p>
          <a:p>
            <a:r>
              <a:rPr lang="ce-Cyrl-RU" sz="1200" dirty="0"/>
              <a:t>Сих - вещественный падеж от са (душа). В ингушском очень много слов, производных от слова “душа” – грустить, веселиться, переживать, и т.д. Таким словам мы планируем посвятить отдельный урок в Притче 159 “</a:t>
            </a:r>
            <a:r>
              <a:rPr lang="ru-RU" sz="1200" dirty="0"/>
              <a:t>Эхь-эзделахи сабар-сатемахи</a:t>
            </a:r>
            <a:r>
              <a:rPr lang="ce-Cyrl-RU" sz="1200" dirty="0"/>
              <a:t>”. </a:t>
            </a:r>
            <a:br>
              <a:rPr lang="ce-Cyrl-RU" sz="1200" dirty="0"/>
            </a:br>
            <a:r>
              <a:rPr lang="ce-Cyrl-RU" sz="1200" dirty="0"/>
              <a:t>Поговорка со словом “са”:</a:t>
            </a:r>
            <a:br>
              <a:rPr lang="ce-Cyrl-RU" sz="1200" dirty="0"/>
            </a:br>
            <a:r>
              <a:rPr lang="ce-Cyrl-RU" sz="1200" dirty="0"/>
              <a:t>“</a:t>
            </a:r>
            <a:r>
              <a:rPr lang="ru-RU" sz="1200" dirty="0"/>
              <a:t>Са дуача в1оахалал сатийна къел тол.</a:t>
            </a:r>
            <a:r>
              <a:rPr lang="ce-Cyrl-RU" sz="1200" dirty="0"/>
              <a:t>” - 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Лучше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спокойная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бедность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чем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гложущее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душу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богатство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78B8A-B08C-380C-3DF3-9429532A69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88EC9-9D06-45FD-A085-36D14FED115C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23858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04/07/2026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86729059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04/07/2026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05231634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04/07/2026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083104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04/07/2026</a:t>
            </a:fld>
            <a:endParaRPr lang="nl-B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756922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04/07/2026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309565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04/07/2026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941629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04/07/2026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47484124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04/07/2026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8654808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D986570-2C26-4E5F-9D28-4D18F9BAC427}" type="datetimeFigureOut">
              <a:rPr lang="nl-BE" smtClean="0"/>
              <a:t>04/07/2026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820353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04/07/2026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9009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04/07/2026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273344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4000"/>
                <a:satMod val="80000"/>
                <a:lumMod val="94000"/>
                <a:lumOff val="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86570-2C26-4E5F-9D28-4D18F9BAC427}" type="datetimeFigureOut">
              <a:rPr lang="nl-BE" smtClean="0"/>
              <a:t>04/07/2026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5E9C3EB-3209-46C0-A1BF-04B855C83966}" type="slidenum">
              <a:rPr lang="nl-BE" smtClean="0"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3194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Narodnaya_Ingushskaya">
            <a:hlinkClick r:id="" action="ppaction://media"/>
            <a:extLst>
              <a:ext uri="{FF2B5EF4-FFF2-40B4-BE49-F238E27FC236}">
                <a16:creationId xmlns:a16="http://schemas.microsoft.com/office/drawing/2014/main" id="{6AA5EB36-CCC9-D90B-7C25-A280071F8536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5602" end="133226.9375"/>
                  <p14:fade out="1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00332" y="5626500"/>
            <a:ext cx="487363" cy="4873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0B9045-3109-7F3D-3F6E-A237CA6F2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4425" y="802299"/>
            <a:ext cx="8623151" cy="1991144"/>
          </a:xfrm>
        </p:spPr>
        <p:txBody>
          <a:bodyPr/>
          <a:lstStyle/>
          <a:p>
            <a:pPr algn="ctr"/>
            <a:r>
              <a:rPr lang="ce-Cyrl-RU" dirty="0"/>
              <a:t>Опыт изучения ингушского языка</a:t>
            </a:r>
            <a:endParaRPr lang="nl-BE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A53427-5985-4E85-8EC8-645334CA8C0A}"/>
              </a:ext>
            </a:extLst>
          </p:cNvPr>
          <p:cNvCxnSpPr>
            <a:cxnSpLocks/>
          </p:cNvCxnSpPr>
          <p:nvPr/>
        </p:nvCxnSpPr>
        <p:spPr>
          <a:xfrm>
            <a:off x="1307876" y="3234447"/>
            <a:ext cx="95762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CFFAA4-007A-6284-7B95-54B3559E4A1E}"/>
              </a:ext>
            </a:extLst>
          </p:cNvPr>
          <p:cNvCxnSpPr>
            <a:cxnSpLocks/>
          </p:cNvCxnSpPr>
          <p:nvPr/>
        </p:nvCxnSpPr>
        <p:spPr>
          <a:xfrm>
            <a:off x="1307876" y="5342107"/>
            <a:ext cx="95762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 7">
            <a:extLst>
              <a:ext uri="{FF2B5EF4-FFF2-40B4-BE49-F238E27FC236}">
                <a16:creationId xmlns:a16="http://schemas.microsoft.com/office/drawing/2014/main" id="{2CFAA90A-62ED-E505-101E-911AC776E6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7464" y="3531204"/>
            <a:ext cx="8637072" cy="1369897"/>
          </a:xfrm>
        </p:spPr>
        <p:txBody>
          <a:bodyPr>
            <a:normAutofit/>
          </a:bodyPr>
          <a:lstStyle/>
          <a:p>
            <a:pPr algn="ctr"/>
            <a:r>
              <a:rPr lang="ce-Cyrl-RU" sz="3200" dirty="0"/>
              <a:t>ингушские притчи </a:t>
            </a:r>
            <a:br>
              <a:rPr lang="ce-Cyrl-RU" sz="3200" dirty="0"/>
            </a:br>
            <a:r>
              <a:rPr lang="ru-RU" sz="3200" dirty="0"/>
              <a:t>Р</a:t>
            </a:r>
            <a:r>
              <a:rPr lang="ce-Cyrl-RU" sz="3200" dirty="0"/>
              <a:t>азбор лексики и грамматики</a:t>
            </a:r>
            <a:endParaRPr lang="nl-BE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39B72C-C59F-50B4-1A21-B1295BA244D0}"/>
              </a:ext>
            </a:extLst>
          </p:cNvPr>
          <p:cNvSpPr txBox="1"/>
          <p:nvPr/>
        </p:nvSpPr>
        <p:spPr>
          <a:xfrm>
            <a:off x="4319954" y="5789243"/>
            <a:ext cx="35520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CC6600"/>
                </a:solidFill>
              </a:rPr>
              <a:t>@LADUGA_LADOGA</a:t>
            </a:r>
            <a:endParaRPr lang="nl-BE" sz="2400" b="1" dirty="0">
              <a:solidFill>
                <a:srgbClr val="CC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81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EEFE-FAC7-B414-5EE3-E89A0F227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223737"/>
            <a:ext cx="9603275" cy="493813"/>
          </a:xfrm>
        </p:spPr>
        <p:txBody>
          <a:bodyPr>
            <a:noAutofit/>
          </a:bodyPr>
          <a:lstStyle/>
          <a:p>
            <a:pPr algn="ctr"/>
            <a:r>
              <a:rPr lang="ce-Cyrl-RU" sz="4000" dirty="0"/>
              <a:t>Мудрые наставления наших предков</a:t>
            </a:r>
            <a:endParaRPr lang="nl-BE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46817F-2590-AF4F-062B-7810BBC5A9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5422" y="2681626"/>
            <a:ext cx="1969259" cy="34496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DC7B53-5EC4-58F2-9016-E24BFB875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455" y="2681626"/>
            <a:ext cx="3011997" cy="3449638"/>
          </a:xfrm>
          <a:prstGeom prst="rect">
            <a:avLst/>
          </a:prstGeom>
        </p:spPr>
      </p:pic>
      <p:sp>
        <p:nvSpPr>
          <p:cNvPr id="6" name="Subtitle 7">
            <a:extLst>
              <a:ext uri="{FF2B5EF4-FFF2-40B4-BE49-F238E27FC236}">
                <a16:creationId xmlns:a16="http://schemas.microsoft.com/office/drawing/2014/main" id="{F8D657EF-BD2E-4F0B-971C-809E230094C5}"/>
              </a:ext>
            </a:extLst>
          </p:cNvPr>
          <p:cNvSpPr txBox="1">
            <a:spLocks/>
          </p:cNvSpPr>
          <p:nvPr/>
        </p:nvSpPr>
        <p:spPr>
          <a:xfrm>
            <a:off x="1777464" y="962385"/>
            <a:ext cx="8637072" cy="1239727"/>
          </a:xfrm>
          <a:prstGeom prst="rect">
            <a:avLst/>
          </a:prstGeom>
        </p:spPr>
        <p:txBody>
          <a:bodyPr vert="horz" lIns="91440" tIns="91440" rIns="91440" bIns="91440" rtlCol="0">
            <a:normAutofit fontScale="92500" lnSpcReduction="10000"/>
          </a:bodyPr>
          <a:lstStyle>
            <a:lvl1pPr indent="0" algn="ctr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b="0" cap="all" baseline="0">
                <a:effectLst/>
              </a:defRPr>
            </a:lvl1pPr>
            <a:lvl2pPr indent="0" algn="ctr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cap="none" baseline="0">
                <a:effectLst/>
              </a:defRPr>
            </a:lvl2pPr>
            <a:lvl3pPr indent="0" algn="ctr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>
                <a:effectLst/>
              </a:defRPr>
            </a:lvl3pPr>
            <a:lvl4pPr indent="0" algn="ctr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cap="none" baseline="0">
                <a:effectLst/>
              </a:defRPr>
            </a:lvl4pPr>
            <a:lvl5pPr indent="0" algn="ctr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>
                <a:effectLst/>
              </a:defRPr>
            </a:lvl5pPr>
            <a:lvl6pPr indent="0" algn="ctr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>
                <a:effectLst/>
              </a:defRPr>
            </a:lvl6pPr>
            <a:lvl7pPr indent="0" algn="ctr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>
                <a:effectLst/>
              </a:defRPr>
            </a:lvl7pPr>
            <a:lvl8pPr indent="0" algn="ctr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aseline="0">
                <a:effectLst/>
              </a:defRPr>
            </a:lvl8pPr>
            <a:lvl9pPr indent="0" algn="ctr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aseline="0">
                <a:effectLst/>
              </a:defRPr>
            </a:lvl9pPr>
          </a:lstStyle>
          <a:p>
            <a:r>
              <a:rPr lang="ce-Cyrl-RU" sz="3200" dirty="0"/>
              <a:t>Из ингушского фольклора</a:t>
            </a:r>
            <a:br>
              <a:rPr lang="ce-Cyrl-RU" sz="3200" dirty="0"/>
            </a:br>
            <a:r>
              <a:rPr lang="ce-Cyrl-RU" sz="3200" dirty="0"/>
              <a:t>И.А. Дахкильгов, 2000 г.</a:t>
            </a:r>
            <a:endParaRPr lang="nl-BE" sz="3200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511886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000">
        <p:fade/>
      </p:transition>
    </mc:Choice>
    <mc:Fallback xmlns="">
      <p:transition spd="med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CC4DD-6064-8AF3-DEC8-492C16576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7464" y="198765"/>
            <a:ext cx="8637073" cy="565733"/>
          </a:xfrm>
        </p:spPr>
        <p:txBody>
          <a:bodyPr>
            <a:normAutofit/>
          </a:bodyPr>
          <a:lstStyle/>
          <a:p>
            <a:pPr algn="ctr"/>
            <a:r>
              <a:rPr lang="ce-Cyrl-RU" sz="3200"/>
              <a:t>предисловие</a:t>
            </a:r>
            <a:endParaRPr lang="nl-BE" sz="3200" dirty="0"/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141967CA-1DF4-A873-EA1E-9E7699B91C1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5364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76000">
        <p:fade/>
      </p:transition>
    </mc:Choice>
    <mc:Fallback xmlns="">
      <p:transition spd="med" advTm="176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88FC515-7E5F-5531-8FDD-8728149AFB7C}"/>
              </a:ext>
            </a:extLst>
          </p:cNvPr>
          <p:cNvSpPr txBox="1"/>
          <p:nvPr/>
        </p:nvSpPr>
        <p:spPr>
          <a:xfrm>
            <a:off x="833336" y="920621"/>
            <a:ext cx="1052532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/>
            </a:pPr>
            <a:r>
              <a:rPr lang="ru-RU" sz="3200" b="1" dirty="0"/>
              <a:t>Са дешал ч1оаг</a:t>
            </a:r>
            <a:r>
              <a:rPr lang="nl-BE" sz="3200" b="1" dirty="0"/>
              <a:t>I</a:t>
            </a:r>
            <a:r>
              <a:rPr lang="ru-RU" sz="3200" b="1" dirty="0"/>
              <a:t>аг</a:t>
            </a:r>
            <a:r>
              <a:rPr lang="nl-BE" sz="3200" b="1" dirty="0"/>
              <a:t>I </a:t>
            </a:r>
            <a:r>
              <a:rPr lang="ru-RU" sz="3200" b="1" dirty="0"/>
              <a:t>да цун эздел</a:t>
            </a:r>
            <a:endParaRPr lang="ce-Cyrl-RU" sz="3200" b="1" dirty="0"/>
          </a:p>
          <a:p>
            <a:pPr marL="514350" indent="-514350" algn="ctr">
              <a:buAutoNum type="arabicPeriod"/>
            </a:pPr>
            <a:endParaRPr lang="nl-BE" sz="3200" dirty="0"/>
          </a:p>
          <a:p>
            <a:r>
              <a:rPr lang="ru-RU" sz="3200" dirty="0"/>
              <a:t>Гулбенна нах багӀача цӀагӀа Мохьмад-пайхамар чуваьлча, берригаш гӀайттаб. Пайхамара Ӏоха а аьнна, уж Ӏохайшача, цхьа зӀамига саг латт</a:t>
            </a:r>
            <a:r>
              <a:rPr lang="ce-Cyrl-RU" sz="3200" dirty="0"/>
              <a:t>а в</a:t>
            </a:r>
            <a:r>
              <a:rPr lang="ru-RU" sz="3200" dirty="0"/>
              <a:t>исав. Пайхамара шозлагӀа а а</a:t>
            </a:r>
            <a:r>
              <a:rPr lang="ce-Cyrl-RU" sz="3200" dirty="0"/>
              <a:t>ь</a:t>
            </a:r>
            <a:r>
              <a:rPr lang="ru-RU" sz="3200" dirty="0"/>
              <a:t>ннад цунга, Ӏоха. ТӀаккха а хайнавац. Пайхамара яхар хӀана дац Ӏа, Ӏоха ях хьога, оалаш, бехкаш даха нах болабелча, Мохьмад-пайхамара аьннад:</a:t>
            </a:r>
          </a:p>
          <a:p>
            <a:r>
              <a:rPr lang="ru-RU" sz="3200" dirty="0"/>
              <a:t>- Бехкаш ма даха цох. Са дешал чӀоагӀагӀа да цун сих доалла эздел.</a:t>
            </a:r>
            <a:endParaRPr lang="nl-BE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EAB63-F4FF-9DD0-9ADB-1E42B4A3A833}"/>
              </a:ext>
            </a:extLst>
          </p:cNvPr>
          <p:cNvSpPr txBox="1"/>
          <p:nvPr/>
        </p:nvSpPr>
        <p:spPr>
          <a:xfrm>
            <a:off x="5108642" y="302309"/>
            <a:ext cx="1974716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ce-Cyrl-RU" sz="1600" b="1" dirty="0"/>
              <a:t>Г1АЛГ1АЙ</a:t>
            </a:r>
            <a:endParaRPr lang="nl-BE" sz="1600" dirty="0"/>
          </a:p>
        </p:txBody>
      </p:sp>
    </p:spTree>
    <p:extLst>
      <p:ext uri="{BB962C8B-B14F-4D97-AF65-F5344CB8AC3E}">
        <p14:creationId xmlns:p14="http://schemas.microsoft.com/office/powerpoint/2010/main" val="235282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1000">
        <p:fade/>
      </p:transition>
    </mc:Choice>
    <mc:Fallback xmlns="">
      <p:transition spd="med" advTm="41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DF90C-729C-3B9C-4997-1D0EDCAB4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F4E762B-BE22-34F4-37FC-54D7F596ABD9}"/>
              </a:ext>
            </a:extLst>
          </p:cNvPr>
          <p:cNvSpPr txBox="1">
            <a:spLocks/>
          </p:cNvSpPr>
          <p:nvPr/>
        </p:nvSpPr>
        <p:spPr>
          <a:xfrm>
            <a:off x="869004" y="528463"/>
            <a:ext cx="10379413" cy="60016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Его благородство сильнее моих слов</a:t>
            </a:r>
            <a:br>
              <a:rPr kumimoji="0" lang="ce-Cyrl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 одном доме собрались люди. Они сидели и беседовали. В это время вошел пророк Мухаммед. Все встали, приветствуя его. Пророк попросил их сесть, и тогда все сели. Один юноша продолжал стоять. Пророк повторно предложил ему сесть. Юноша продолжал стоять. На него зашикали: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“Садись, тебе говорят. Для тебя слово пророка ничто не значит?”. Тогда Мухаммед-пророк сказал: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“Не обижайте юношу. Благородство, впитавшееся в его душу, сильнее моих слов”.</a:t>
            </a:r>
            <a:r>
              <a:rPr kumimoji="0" lang="ce-Cyrl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nl-BE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79485C-8E5D-861C-BF82-F93A3D3B61D5}"/>
              </a:ext>
            </a:extLst>
          </p:cNvPr>
          <p:cNvSpPr txBox="1"/>
          <p:nvPr/>
        </p:nvSpPr>
        <p:spPr>
          <a:xfrm>
            <a:off x="5108642" y="100090"/>
            <a:ext cx="1974716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ce-Cyrl-RU" sz="1600" b="1" dirty="0"/>
              <a:t>РУССКИЙ</a:t>
            </a:r>
            <a:endParaRPr lang="nl-BE" sz="1600" dirty="0"/>
          </a:p>
        </p:txBody>
      </p:sp>
    </p:spTree>
    <p:extLst>
      <p:ext uri="{BB962C8B-B14F-4D97-AF65-F5344CB8AC3E}">
        <p14:creationId xmlns:p14="http://schemas.microsoft.com/office/powerpoint/2010/main" val="126509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000">
        <p:fade/>
      </p:transition>
    </mc:Choice>
    <mc:Fallback xmlns="">
      <p:transition spd="med" advTm="2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CF6D9B2-7B50-314B-634A-73A548DB36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32" y="1244970"/>
            <a:ext cx="6117074" cy="3336586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1329C50E-74C0-7ABA-F08B-A63C7E035D8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716226" y="1952171"/>
            <a:ext cx="4965970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Са дешал чIоагIагI да цун эздел</a:t>
            </a:r>
            <a:r>
              <a:rPr kumimoji="0" lang="ce-Cyrl-RU" sz="24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endParaRPr kumimoji="0" lang="nl-BE" sz="2400" b="1" i="0" u="none" strike="noStrike" kern="1200" cap="none" spc="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43BD79-EADF-39AF-26F8-D7E577B6C3C9}"/>
              </a:ext>
            </a:extLst>
          </p:cNvPr>
          <p:cNvSpPr txBox="1"/>
          <p:nvPr/>
        </p:nvSpPr>
        <p:spPr>
          <a:xfrm>
            <a:off x="7322585" y="1322794"/>
            <a:ext cx="39526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e-Cyrl-RU" sz="32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Alasassy Caps"/>
                <a:ea typeface="+mn-ea"/>
                <a:cs typeface="+mn-cs"/>
              </a:rPr>
              <a:t>№ 1</a:t>
            </a:r>
            <a:endParaRPr kumimoji="0" lang="nl-BE" sz="3200" b="1" i="0" u="none" strike="noStrike" kern="1200" cap="none" spc="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Alasassy Caps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A48C73-175C-D8D8-25C7-9E0DDE77C77F}"/>
              </a:ext>
            </a:extLst>
          </p:cNvPr>
          <p:cNvSpPr txBox="1"/>
          <p:nvPr/>
        </p:nvSpPr>
        <p:spPr>
          <a:xfrm>
            <a:off x="6589766" y="3381439"/>
            <a:ext cx="53696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ea typeface="+mn-ea"/>
                <a:cs typeface="+mn-cs"/>
              </a:rPr>
              <a:t>Его благородство сильнее моих слов</a:t>
            </a:r>
            <a:br>
              <a:rPr kumimoji="0" lang="ce-Cyrl-RU" sz="20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ea typeface="+mn-ea"/>
                <a:cs typeface="+mn-cs"/>
              </a:rPr>
            </a:br>
            <a:br>
              <a:rPr kumimoji="0" lang="ce-Cyrl-RU" sz="20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His nobility speaks louder than my words</a:t>
            </a: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44E224-A0A3-F28E-221F-EB5BC8440BAA}"/>
              </a:ext>
            </a:extLst>
          </p:cNvPr>
          <p:cNvCxnSpPr>
            <a:cxnSpLocks/>
          </p:cNvCxnSpPr>
          <p:nvPr/>
        </p:nvCxnSpPr>
        <p:spPr>
          <a:xfrm>
            <a:off x="8369925" y="1899972"/>
            <a:ext cx="1556425" cy="0"/>
          </a:xfrm>
          <a:prstGeom prst="line">
            <a:avLst/>
          </a:prstGeom>
          <a:ln>
            <a:solidFill>
              <a:srgbClr val="CC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B7D954C-17E0-A338-D96F-6134F0C5115A}"/>
              </a:ext>
            </a:extLst>
          </p:cNvPr>
          <p:cNvCxnSpPr>
            <a:cxnSpLocks/>
          </p:cNvCxnSpPr>
          <p:nvPr/>
        </p:nvCxnSpPr>
        <p:spPr>
          <a:xfrm>
            <a:off x="8369925" y="2558211"/>
            <a:ext cx="1556425" cy="0"/>
          </a:xfrm>
          <a:prstGeom prst="line">
            <a:avLst/>
          </a:prstGeom>
          <a:ln>
            <a:solidFill>
              <a:srgbClr val="CC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34AFEBD-0312-5DC2-8668-33F8363DE6B2}"/>
              </a:ext>
            </a:extLst>
          </p:cNvPr>
          <p:cNvCxnSpPr>
            <a:cxnSpLocks/>
          </p:cNvCxnSpPr>
          <p:nvPr/>
        </p:nvCxnSpPr>
        <p:spPr>
          <a:xfrm>
            <a:off x="8369925" y="3867825"/>
            <a:ext cx="1556425" cy="0"/>
          </a:xfrm>
          <a:prstGeom prst="line">
            <a:avLst/>
          </a:prstGeom>
          <a:ln>
            <a:solidFill>
              <a:srgbClr val="CC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_inh_001">
            <a:hlinkClick r:id="" action="ppaction://media"/>
            <a:extLst>
              <a:ext uri="{FF2B5EF4-FFF2-40B4-BE49-F238E27FC236}">
                <a16:creationId xmlns:a16="http://schemas.microsoft.com/office/drawing/2014/main" id="{905DB5AE-7B3F-AF54-4805-CF9550DA55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0170" y="184826"/>
            <a:ext cx="398834" cy="39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401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000">
        <p:fade/>
      </p:transition>
    </mc:Choice>
    <mc:Fallback xmlns="">
      <p:transition spd="med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1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79A5-B4FF-B41C-F4E9-DF9BF7B6E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8550" y="251759"/>
            <a:ext cx="2374900" cy="473118"/>
          </a:xfrm>
        </p:spPr>
        <p:txBody>
          <a:bodyPr>
            <a:noAutofit/>
          </a:bodyPr>
          <a:lstStyle/>
          <a:p>
            <a:r>
              <a:rPr lang="ce-Cyrl-RU" sz="4000" dirty="0"/>
              <a:t>Лексика</a:t>
            </a:r>
            <a:endParaRPr lang="nl-BE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44861D-3E2A-B75E-A9EB-F3A1C9D82181}"/>
              </a:ext>
            </a:extLst>
          </p:cNvPr>
          <p:cNvSpPr txBox="1"/>
          <p:nvPr/>
        </p:nvSpPr>
        <p:spPr>
          <a:xfrm>
            <a:off x="361951" y="1374200"/>
            <a:ext cx="848994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/>
            </a:pPr>
            <a:r>
              <a:rPr lang="ru-RU" sz="3200" b="1" dirty="0">
                <a:solidFill>
                  <a:schemeClr val="bg1"/>
                </a:solidFill>
              </a:rPr>
              <a:t>Са дешал ч1оаг</a:t>
            </a:r>
            <a:r>
              <a:rPr lang="nl-BE" sz="3200" b="1" dirty="0">
                <a:solidFill>
                  <a:schemeClr val="bg1"/>
                </a:solidFill>
              </a:rPr>
              <a:t>I</a:t>
            </a:r>
            <a:r>
              <a:rPr lang="ru-RU" sz="3200" b="1" dirty="0">
                <a:solidFill>
                  <a:schemeClr val="bg1"/>
                </a:solidFill>
              </a:rPr>
              <a:t>аг</a:t>
            </a:r>
            <a:r>
              <a:rPr lang="nl-BE" sz="3200" b="1" dirty="0">
                <a:solidFill>
                  <a:schemeClr val="bg1"/>
                </a:solidFill>
              </a:rPr>
              <a:t>I </a:t>
            </a:r>
            <a:r>
              <a:rPr lang="ru-RU" sz="3200" b="1" dirty="0">
                <a:solidFill>
                  <a:schemeClr val="bg1"/>
                </a:solidFill>
              </a:rPr>
              <a:t>да цун </a:t>
            </a:r>
            <a:r>
              <a:rPr lang="ru-RU" sz="3200" b="1" dirty="0"/>
              <a:t>эздел</a:t>
            </a:r>
            <a:endParaRPr lang="nl-BE" sz="3200" dirty="0"/>
          </a:p>
          <a:p>
            <a:r>
              <a:rPr lang="ru-RU" sz="3200" dirty="0">
                <a:solidFill>
                  <a:schemeClr val="bg1"/>
                </a:solidFill>
              </a:rPr>
              <a:t>Гулбенна нах багӀача </a:t>
            </a:r>
            <a:r>
              <a:rPr lang="ru-RU" sz="3200" dirty="0"/>
              <a:t>цӀагӀа</a:t>
            </a:r>
            <a:r>
              <a:rPr lang="ru-RU" sz="3200" dirty="0">
                <a:solidFill>
                  <a:schemeClr val="bg1"/>
                </a:solidFill>
              </a:rPr>
              <a:t> Мохьмад-пайхамар</a:t>
            </a:r>
            <a:endParaRPr lang="ce-Cyrl-RU" sz="3200" dirty="0">
              <a:solidFill>
                <a:schemeClr val="bg1"/>
              </a:solidFill>
            </a:endParaRPr>
          </a:p>
          <a:p>
            <a:r>
              <a:rPr lang="ru-RU" sz="3200" dirty="0">
                <a:solidFill>
                  <a:schemeClr val="bg1"/>
                </a:solidFill>
              </a:rPr>
              <a:t>чуваьлча, </a:t>
            </a:r>
            <a:r>
              <a:rPr lang="ru-RU" sz="3200" dirty="0"/>
              <a:t>берригаш</a:t>
            </a:r>
            <a:r>
              <a:rPr lang="ru-RU" sz="3200" dirty="0">
                <a:solidFill>
                  <a:schemeClr val="bg1"/>
                </a:solidFill>
              </a:rPr>
              <a:t> гӀайттаб.</a:t>
            </a:r>
            <a:endParaRPr lang="ce-Cyrl-RU" sz="3200" dirty="0">
              <a:solidFill>
                <a:schemeClr val="bg1"/>
              </a:solidFill>
            </a:endParaRPr>
          </a:p>
          <a:p>
            <a:r>
              <a:rPr lang="ru-RU" sz="3200" dirty="0">
                <a:solidFill>
                  <a:schemeClr val="bg1"/>
                </a:solidFill>
              </a:rPr>
              <a:t>Пайхамара </a:t>
            </a:r>
            <a:r>
              <a:rPr lang="ru-RU" sz="3200" dirty="0"/>
              <a:t>Ӏоха</a:t>
            </a:r>
            <a:r>
              <a:rPr lang="ru-RU" sz="3200" dirty="0">
                <a:solidFill>
                  <a:schemeClr val="bg1"/>
                </a:solidFill>
              </a:rPr>
              <a:t> а аьнна, уж Ӏохайшача, цхьа </a:t>
            </a:r>
            <a:endParaRPr lang="ce-Cyrl-RU" sz="3200" dirty="0">
              <a:solidFill>
                <a:schemeClr val="bg1"/>
              </a:solidFill>
            </a:endParaRPr>
          </a:p>
          <a:p>
            <a:r>
              <a:rPr lang="ru-RU" sz="3200" dirty="0">
                <a:solidFill>
                  <a:schemeClr val="bg1"/>
                </a:solidFill>
              </a:rPr>
              <a:t>зӀамига саг </a:t>
            </a:r>
            <a:r>
              <a:rPr lang="ru-RU" sz="3200" dirty="0"/>
              <a:t>латт</a:t>
            </a:r>
            <a:r>
              <a:rPr lang="ce-Cyrl-RU" sz="3200" dirty="0"/>
              <a:t>а в</a:t>
            </a:r>
            <a:r>
              <a:rPr lang="ru-RU" sz="3200" dirty="0"/>
              <a:t>исав</a:t>
            </a:r>
            <a:r>
              <a:rPr lang="ru-RU" sz="3200" dirty="0">
                <a:solidFill>
                  <a:schemeClr val="bg1"/>
                </a:solidFill>
              </a:rPr>
              <a:t>. Пайхамара шозлагӀа а </a:t>
            </a:r>
            <a:endParaRPr lang="ce-Cyrl-RU" sz="3200" dirty="0">
              <a:solidFill>
                <a:schemeClr val="bg1"/>
              </a:solidFill>
            </a:endParaRPr>
          </a:p>
          <a:p>
            <a:r>
              <a:rPr lang="ru-RU" sz="3200" dirty="0">
                <a:solidFill>
                  <a:schemeClr val="bg1"/>
                </a:solidFill>
              </a:rPr>
              <a:t>а</a:t>
            </a:r>
            <a:r>
              <a:rPr lang="ce-Cyrl-RU" sz="3200" dirty="0">
                <a:solidFill>
                  <a:schemeClr val="bg1"/>
                </a:solidFill>
              </a:rPr>
              <a:t>ь</a:t>
            </a:r>
            <a:r>
              <a:rPr lang="ru-RU" sz="3200" dirty="0">
                <a:solidFill>
                  <a:schemeClr val="bg1"/>
                </a:solidFill>
              </a:rPr>
              <a:t>ннад цунга, Ӏоха. ТӀаккха а </a:t>
            </a:r>
            <a:r>
              <a:rPr lang="ru-RU" sz="3200" dirty="0"/>
              <a:t>хайнавац</a:t>
            </a:r>
            <a:r>
              <a:rPr lang="ru-RU" sz="3200" dirty="0">
                <a:solidFill>
                  <a:schemeClr val="bg1"/>
                </a:solidFill>
              </a:rPr>
              <a:t>. </a:t>
            </a:r>
            <a:endParaRPr lang="ce-Cyrl-RU" sz="3200" dirty="0">
              <a:solidFill>
                <a:schemeClr val="bg1"/>
              </a:solidFill>
            </a:endParaRPr>
          </a:p>
          <a:p>
            <a:r>
              <a:rPr lang="ru-RU" sz="3200" dirty="0">
                <a:solidFill>
                  <a:schemeClr val="bg1"/>
                </a:solidFill>
              </a:rPr>
              <a:t>Пайхамара </a:t>
            </a:r>
            <a:r>
              <a:rPr lang="ru-RU" sz="3200" dirty="0"/>
              <a:t>яхар</a:t>
            </a:r>
            <a:r>
              <a:rPr lang="ru-RU" sz="3200" dirty="0">
                <a:solidFill>
                  <a:schemeClr val="bg1"/>
                </a:solidFill>
              </a:rPr>
              <a:t> хӀана дац Ӏа, Ӏоха ях хьога,</a:t>
            </a:r>
            <a:endParaRPr lang="ce-Cyrl-RU" sz="3200" dirty="0">
              <a:solidFill>
                <a:schemeClr val="bg1"/>
              </a:solidFill>
            </a:endParaRPr>
          </a:p>
          <a:p>
            <a:r>
              <a:rPr lang="ru-RU" sz="3200" dirty="0">
                <a:solidFill>
                  <a:schemeClr val="bg1"/>
                </a:solidFill>
              </a:rPr>
              <a:t>оалаш, </a:t>
            </a:r>
            <a:r>
              <a:rPr lang="ru-RU" sz="3200" dirty="0"/>
              <a:t>бехкаш даха </a:t>
            </a:r>
            <a:r>
              <a:rPr lang="ru-RU" sz="3200" dirty="0">
                <a:solidFill>
                  <a:schemeClr val="bg1"/>
                </a:solidFill>
              </a:rPr>
              <a:t>нах болабелча, Мохьмад-пайхамара аьннад:</a:t>
            </a:r>
            <a:r>
              <a:rPr lang="ce-Cyrl-RU" sz="3200" dirty="0">
                <a:solidFill>
                  <a:schemeClr val="bg1"/>
                </a:solidFill>
              </a:rPr>
              <a:t> </a:t>
            </a:r>
            <a:r>
              <a:rPr lang="ru-RU" sz="3200" dirty="0">
                <a:solidFill>
                  <a:schemeClr val="bg1"/>
                </a:solidFill>
              </a:rPr>
              <a:t>- Бехкаш ма даха цох. Са</a:t>
            </a:r>
            <a:endParaRPr lang="ce-Cyrl-RU" sz="3200" dirty="0">
              <a:solidFill>
                <a:schemeClr val="bg1"/>
              </a:solidFill>
            </a:endParaRPr>
          </a:p>
          <a:p>
            <a:r>
              <a:rPr lang="ce-Cyrl-RU" sz="3200" dirty="0">
                <a:solidFill>
                  <a:schemeClr val="bg1"/>
                </a:solidFill>
              </a:rPr>
              <a:t> </a:t>
            </a:r>
            <a:r>
              <a:rPr lang="ru-RU" sz="3200" dirty="0"/>
              <a:t>дешал</a:t>
            </a:r>
            <a:r>
              <a:rPr lang="ru-RU" sz="3200" dirty="0">
                <a:solidFill>
                  <a:schemeClr val="bg1"/>
                </a:solidFill>
              </a:rPr>
              <a:t> </a:t>
            </a:r>
            <a:r>
              <a:rPr lang="ru-RU" sz="3200" dirty="0"/>
              <a:t>чӀоагӀагӀа</a:t>
            </a:r>
            <a:r>
              <a:rPr lang="ru-RU" sz="3200" dirty="0">
                <a:solidFill>
                  <a:schemeClr val="bg1"/>
                </a:solidFill>
              </a:rPr>
              <a:t> да цун </a:t>
            </a:r>
            <a:r>
              <a:rPr lang="ru-RU" sz="3200" dirty="0"/>
              <a:t>сих</a:t>
            </a:r>
            <a:r>
              <a:rPr lang="ru-RU" sz="3200" dirty="0">
                <a:solidFill>
                  <a:schemeClr val="bg1"/>
                </a:solidFill>
              </a:rPr>
              <a:t> доалла эздел.</a:t>
            </a:r>
            <a:endParaRPr lang="nl-BE" sz="3200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4198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73661">
        <p:fade/>
      </p:transition>
    </mc:Choice>
    <mc:Fallback xmlns="">
      <p:transition spd="med" advTm="37366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1C3D7-8F43-C664-6847-4DA52E5AA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987B4-C964-B0CD-00E2-2CCAC2768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1474"/>
            <a:ext cx="9451596" cy="489726"/>
          </a:xfrm>
        </p:spPr>
        <p:txBody>
          <a:bodyPr>
            <a:noAutofit/>
          </a:bodyPr>
          <a:lstStyle/>
          <a:p>
            <a:r>
              <a:rPr lang="ru-RU" dirty="0"/>
              <a:t>Г</a:t>
            </a:r>
            <a:r>
              <a:rPr lang="ce-Cyrl-RU" dirty="0"/>
              <a:t>рамматика : АЛФАВИТ и произношение</a:t>
            </a:r>
            <a:endParaRPr lang="nl-B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23BAD7-7A9D-C3E8-1310-252346763A0D}"/>
              </a:ext>
            </a:extLst>
          </p:cNvPr>
          <p:cNvSpPr txBox="1"/>
          <p:nvPr/>
        </p:nvSpPr>
        <p:spPr>
          <a:xfrm>
            <a:off x="323851" y="895350"/>
            <a:ext cx="655954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e-Cyrl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13 букв, которых нет в русском : 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br>
            <a:r>
              <a:rPr kumimoji="0" lang="ce-Cyrl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гласные</a:t>
            </a:r>
            <a:r>
              <a:rPr kumimoji="0" lang="ce-Cyrl-RU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ce-Cyrl-RU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аь,  яь;</a:t>
            </a:r>
            <a:r>
              <a:rPr kumimoji="0" lang="ce-Cyrl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br>
              <a:rPr kumimoji="0" lang="ce-Cyrl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br>
            <a:r>
              <a:rPr kumimoji="0" lang="ce-Cyrl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согласные </a:t>
            </a:r>
            <a:r>
              <a:rPr kumimoji="0" lang="ce-Cyrl-RU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г1, кх, къ, к1, п1, т1, хь, х1, ц1, ч1, 1;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ce-Cyrl-RU" sz="2400" dirty="0">
                <a:solidFill>
                  <a:prstClr val="black"/>
                </a:solidFill>
              </a:rPr>
              <a:t>Буква </a:t>
            </a:r>
            <a:r>
              <a:rPr lang="ru-RU" sz="2400" b="1" dirty="0">
                <a:solidFill>
                  <a:prstClr val="black"/>
                </a:solidFill>
              </a:rPr>
              <a:t>Ӏ</a:t>
            </a:r>
            <a:r>
              <a:rPr lang="ce-Cyrl-RU" sz="2400" dirty="0">
                <a:solidFill>
                  <a:prstClr val="black"/>
                </a:solidFill>
              </a:rPr>
              <a:t> (кирилл. палочка) </a:t>
            </a:r>
            <a:br>
              <a:rPr lang="ce-Cyrl-RU" sz="2400" dirty="0">
                <a:solidFill>
                  <a:prstClr val="black"/>
                </a:solidFill>
              </a:rPr>
            </a:br>
            <a:r>
              <a:rPr lang="ce-Cyrl-RU" sz="2400" dirty="0">
                <a:solidFill>
                  <a:prstClr val="black"/>
                </a:solidFill>
              </a:rPr>
              <a:t>	– в шрифте </a:t>
            </a:r>
            <a:r>
              <a:rPr lang="en-US" sz="2400" dirty="0">
                <a:solidFill>
                  <a:prstClr val="black"/>
                </a:solidFill>
              </a:rPr>
              <a:t>Gill Sans</a:t>
            </a:r>
            <a:r>
              <a:rPr lang="ce-Cyrl-RU" sz="2400" dirty="0">
                <a:solidFill>
                  <a:prstClr val="black"/>
                </a:solidFill>
              </a:rPr>
              <a:t> </a:t>
            </a:r>
            <a:r>
              <a:rPr lang="ce-Cyrl-RU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ce-Cyrl-RU" sz="2400" dirty="0">
                <a:solidFill>
                  <a:prstClr val="black"/>
                </a:solidFill>
              </a:rPr>
              <a:t>похожа на </a:t>
            </a:r>
            <a:r>
              <a:rPr lang="en-US" sz="2400" b="1" dirty="0">
                <a:solidFill>
                  <a:prstClr val="black"/>
                </a:solidFill>
              </a:rPr>
              <a:t>I </a:t>
            </a:r>
            <a:endParaRPr kumimoji="0" lang="en-US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ce-Cyrl-RU" sz="2400" dirty="0">
                <a:solidFill>
                  <a:prstClr val="black"/>
                </a:solidFill>
              </a:rPr>
              <a:t>Д</a:t>
            </a:r>
            <a:r>
              <a:rPr kumimoji="0" lang="ce-Cyrl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ифтонг </a:t>
            </a:r>
            <a:r>
              <a:rPr kumimoji="0" lang="ce-Cyrl-RU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оа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e-Cyrl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Буква </a:t>
            </a:r>
            <a:r>
              <a:rPr kumimoji="0" lang="ce-Cyrl-RU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Ф</a:t>
            </a:r>
            <a:r>
              <a:rPr kumimoji="0" lang="ce-Cyrl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e-Cyrl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Буква </a:t>
            </a:r>
            <a:r>
              <a:rPr kumimoji="0" lang="ce-Cyrl-RU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Х1</a:t>
            </a:r>
            <a:r>
              <a:rPr kumimoji="0" lang="ce-Cyrl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e-Cyrl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Буква </a:t>
            </a:r>
            <a:r>
              <a:rPr kumimoji="0" lang="ce-Cyrl-RU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И</a:t>
            </a:r>
            <a:r>
              <a:rPr kumimoji="0" lang="ce-Cyrl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e-Cyrl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Буква </a:t>
            </a:r>
            <a:r>
              <a:rPr kumimoji="0" lang="ce-Cyrl-RU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Е</a:t>
            </a:r>
            <a:r>
              <a:rPr kumimoji="0" lang="ce-Cyrl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e-Cyrl-RU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Лг, рг, шк, кк, г, к </a:t>
            </a:r>
            <a:r>
              <a:rPr kumimoji="0" lang="ce-Cyrl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на конце слов</a:t>
            </a:r>
            <a:endParaRPr kumimoji="0" lang="ce-Cyrl-RU" sz="2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e-Cyrl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Буквы </a:t>
            </a:r>
            <a:r>
              <a:rPr kumimoji="0" lang="ce-Cyrl-RU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ж</a:t>
            </a:r>
            <a:r>
              <a:rPr kumimoji="0" lang="ce-Cyrl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и </a:t>
            </a:r>
            <a:r>
              <a:rPr kumimoji="0" lang="ce-Cyrl-RU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з</a:t>
            </a:r>
            <a:endParaRPr kumimoji="0" lang="ce-Cyrl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e-Cyrl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Буквы </a:t>
            </a:r>
            <a:r>
              <a:rPr lang="ce-Cyrl-RU" sz="2400" i="1" dirty="0">
                <a:solidFill>
                  <a:prstClr val="black"/>
                </a:solidFill>
              </a:rPr>
              <a:t>с</a:t>
            </a:r>
            <a:r>
              <a:rPr lang="ce-Cyrl-RU" sz="2400" dirty="0">
                <a:solidFill>
                  <a:prstClr val="black"/>
                </a:solidFill>
              </a:rPr>
              <a:t>, </a:t>
            </a:r>
            <a:r>
              <a:rPr kumimoji="0" lang="ce-Cyrl-RU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ш</a:t>
            </a:r>
            <a:r>
              <a:rPr kumimoji="0" lang="ce-Cyrl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, </a:t>
            </a:r>
            <a:r>
              <a:rPr kumimoji="0" lang="ce-Cyrl-RU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х</a:t>
            </a:r>
            <a:endParaRPr kumimoji="0" lang="nl-B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3179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73661">
        <p:fade/>
      </p:transition>
    </mc:Choice>
    <mc:Fallback xmlns="">
      <p:transition spd="med" advTm="37366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71BFC-D1CE-7F15-8E93-A14250621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480C3-F830-229E-00B7-3600A4B79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300" y="265438"/>
            <a:ext cx="2819400" cy="580936"/>
          </a:xfrm>
        </p:spPr>
        <p:txBody>
          <a:bodyPr>
            <a:noAutofit/>
          </a:bodyPr>
          <a:lstStyle/>
          <a:p>
            <a:r>
              <a:rPr lang="ce-Cyrl-RU" sz="3600" dirty="0"/>
              <a:t>ПОГОВОРКИ</a:t>
            </a:r>
            <a:endParaRPr lang="nl-BE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5CF2A6-32E9-6984-A555-8A3E80786E88}"/>
              </a:ext>
            </a:extLst>
          </p:cNvPr>
          <p:cNvSpPr txBox="1"/>
          <p:nvPr/>
        </p:nvSpPr>
        <p:spPr>
          <a:xfrm>
            <a:off x="791308" y="1659906"/>
            <a:ext cx="1110859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nl-BE" sz="3200" b="1" dirty="0" err="1">
                <a:solidFill>
                  <a:srgbClr val="000000"/>
                </a:solidFill>
                <a:latin typeface="Gill Sans"/>
              </a:rPr>
              <a:t>Эзде</a:t>
            </a:r>
            <a:r>
              <a:rPr lang="nl-BE" sz="3200" b="1" dirty="0">
                <a:solidFill>
                  <a:srgbClr val="000000"/>
                </a:solidFill>
                <a:latin typeface="Gill Sans"/>
              </a:rPr>
              <a:t> </a:t>
            </a:r>
            <a:r>
              <a:rPr lang="nl-BE" sz="3200" b="1" dirty="0" err="1">
                <a:solidFill>
                  <a:srgbClr val="000000"/>
                </a:solidFill>
                <a:latin typeface="Gill Sans"/>
              </a:rPr>
              <a:t>вар-воацар</a:t>
            </a:r>
            <a:r>
              <a:rPr lang="nl-BE" sz="3200" b="1" dirty="0">
                <a:solidFill>
                  <a:srgbClr val="000000"/>
                </a:solidFill>
                <a:latin typeface="Gill Sans"/>
              </a:rPr>
              <a:t> </a:t>
            </a:r>
            <a:r>
              <a:rPr lang="nl-BE" sz="3200" b="1" dirty="0" err="1">
                <a:solidFill>
                  <a:srgbClr val="000000"/>
                </a:solidFill>
                <a:latin typeface="Gill Sans"/>
              </a:rPr>
              <a:t>белгалла</a:t>
            </a:r>
            <a:r>
              <a:rPr lang="nl-BE" sz="3200" b="1" dirty="0">
                <a:solidFill>
                  <a:srgbClr val="000000"/>
                </a:solidFill>
                <a:latin typeface="Gill Sans"/>
              </a:rPr>
              <a:t> </a:t>
            </a:r>
            <a:r>
              <a:rPr lang="nl-BE" sz="3200" b="1" dirty="0" err="1">
                <a:solidFill>
                  <a:srgbClr val="000000"/>
                </a:solidFill>
                <a:latin typeface="Gill Sans"/>
              </a:rPr>
              <a:t>хул</a:t>
            </a:r>
            <a:r>
              <a:rPr lang="nl-BE" sz="3200" b="1" dirty="0">
                <a:solidFill>
                  <a:srgbClr val="000000"/>
                </a:solidFill>
                <a:latin typeface="Gill Sans"/>
              </a:rPr>
              <a:t> </a:t>
            </a:r>
            <a:br>
              <a:rPr lang="ce-Cyrl-RU" sz="3200" b="0" i="0" dirty="0">
                <a:solidFill>
                  <a:srgbClr val="000000"/>
                </a:solidFill>
                <a:effectLst/>
                <a:latin typeface="Gill Sans"/>
              </a:rPr>
            </a:br>
            <a:r>
              <a:rPr lang="ce-Cyrl-RU" sz="3200" b="0" i="0" dirty="0">
                <a:solidFill>
                  <a:srgbClr val="000000"/>
                </a:solidFill>
                <a:effectLst/>
                <a:latin typeface="Gill Sans"/>
              </a:rPr>
              <a:t>	</a:t>
            </a:r>
            <a:r>
              <a:rPr lang="nl-BE" sz="2800" b="0" i="0" dirty="0">
                <a:solidFill>
                  <a:srgbClr val="000000"/>
                </a:solidFill>
                <a:effectLst/>
                <a:latin typeface="Gill Sans"/>
              </a:rPr>
              <a:t>– </a:t>
            </a:r>
            <a:r>
              <a:rPr lang="nl-BE" sz="2800" b="0" i="0" dirty="0" err="1">
                <a:solidFill>
                  <a:srgbClr val="000000"/>
                </a:solidFill>
                <a:effectLst/>
                <a:latin typeface="Gill Sans"/>
              </a:rPr>
              <a:t>Благородного</a:t>
            </a:r>
            <a:r>
              <a:rPr lang="nl-BE" sz="2800" b="0" i="0" dirty="0">
                <a:solidFill>
                  <a:srgbClr val="000000"/>
                </a:solidFill>
                <a:effectLst/>
                <a:latin typeface="Gill Sans"/>
              </a:rPr>
              <a:t> </a:t>
            </a:r>
            <a:r>
              <a:rPr lang="nl-BE" sz="2800" b="0" i="0" dirty="0" err="1">
                <a:solidFill>
                  <a:srgbClr val="000000"/>
                </a:solidFill>
                <a:effectLst/>
                <a:latin typeface="Gill Sans"/>
              </a:rPr>
              <a:t>от</a:t>
            </a:r>
            <a:r>
              <a:rPr lang="nl-BE" sz="2800" b="0" i="0" dirty="0">
                <a:solidFill>
                  <a:srgbClr val="000000"/>
                </a:solidFill>
                <a:effectLst/>
                <a:latin typeface="Gill Sans"/>
              </a:rPr>
              <a:t> </a:t>
            </a:r>
            <a:r>
              <a:rPr lang="nl-BE" sz="2800" b="0" i="0" dirty="0" err="1">
                <a:solidFill>
                  <a:srgbClr val="000000"/>
                </a:solidFill>
                <a:effectLst/>
                <a:latin typeface="Gill Sans"/>
              </a:rPr>
              <a:t>неблагородного</a:t>
            </a:r>
            <a:r>
              <a:rPr lang="nl-BE" sz="2800" b="0" i="0" dirty="0">
                <a:solidFill>
                  <a:srgbClr val="000000"/>
                </a:solidFill>
                <a:effectLst/>
                <a:latin typeface="Gill Sans"/>
              </a:rPr>
              <a:t> </a:t>
            </a:r>
            <a:r>
              <a:rPr lang="nl-BE" sz="2800" b="0" i="0" dirty="0" err="1">
                <a:solidFill>
                  <a:srgbClr val="000000"/>
                </a:solidFill>
                <a:effectLst/>
                <a:latin typeface="Gill Sans"/>
              </a:rPr>
              <a:t>легко</a:t>
            </a:r>
            <a:r>
              <a:rPr lang="nl-BE" sz="2800" b="0" i="0" dirty="0">
                <a:solidFill>
                  <a:srgbClr val="000000"/>
                </a:solidFill>
                <a:effectLst/>
                <a:latin typeface="Gill Sans"/>
              </a:rPr>
              <a:t> </a:t>
            </a:r>
            <a:r>
              <a:rPr lang="nl-BE" sz="2800" b="0" i="0" dirty="0" err="1">
                <a:solidFill>
                  <a:srgbClr val="000000"/>
                </a:solidFill>
                <a:effectLst/>
                <a:latin typeface="Gill Sans"/>
              </a:rPr>
              <a:t>отличить</a:t>
            </a:r>
            <a:r>
              <a:rPr lang="nl-BE" sz="2800" b="0" i="0" dirty="0">
                <a:solidFill>
                  <a:srgbClr val="000000"/>
                </a:solidFill>
                <a:effectLst/>
                <a:latin typeface="Gill Sans"/>
              </a:rPr>
              <a:t>.</a:t>
            </a:r>
          </a:p>
          <a:p>
            <a:pPr algn="l">
              <a:buNone/>
            </a:pPr>
            <a:r>
              <a:rPr lang="nl-BE" sz="3200" b="1" dirty="0" err="1">
                <a:solidFill>
                  <a:srgbClr val="000000"/>
                </a:solidFill>
                <a:latin typeface="Gill Sans"/>
              </a:rPr>
              <a:t>Эздел</a:t>
            </a:r>
            <a:r>
              <a:rPr lang="nl-BE" sz="3200" b="1" dirty="0">
                <a:solidFill>
                  <a:srgbClr val="000000"/>
                </a:solidFill>
                <a:latin typeface="Gill Sans"/>
              </a:rPr>
              <a:t> </a:t>
            </a:r>
            <a:r>
              <a:rPr lang="nl-BE" sz="3200" b="1" dirty="0" err="1">
                <a:solidFill>
                  <a:srgbClr val="000000"/>
                </a:solidFill>
                <a:latin typeface="Gill Sans"/>
              </a:rPr>
              <a:t>леладечунца</a:t>
            </a:r>
            <a:r>
              <a:rPr lang="nl-BE" sz="3200" b="1" dirty="0">
                <a:solidFill>
                  <a:srgbClr val="000000"/>
                </a:solidFill>
                <a:latin typeface="Gill Sans"/>
              </a:rPr>
              <a:t> </a:t>
            </a:r>
            <a:r>
              <a:rPr lang="nl-BE" sz="3200" b="1" dirty="0" err="1">
                <a:solidFill>
                  <a:srgbClr val="000000"/>
                </a:solidFill>
                <a:latin typeface="Gill Sans"/>
              </a:rPr>
              <a:t>мара</a:t>
            </a:r>
            <a:r>
              <a:rPr lang="nl-BE" sz="3200" b="1" dirty="0">
                <a:solidFill>
                  <a:srgbClr val="000000"/>
                </a:solidFill>
                <a:latin typeface="Gill Sans"/>
              </a:rPr>
              <a:t> </a:t>
            </a:r>
            <a:r>
              <a:rPr lang="nl-BE" sz="3200" b="1" dirty="0" err="1">
                <a:solidFill>
                  <a:srgbClr val="000000"/>
                </a:solidFill>
                <a:latin typeface="Gill Sans"/>
              </a:rPr>
              <a:t>дац</a:t>
            </a:r>
            <a:r>
              <a:rPr lang="nl-BE" sz="3200" b="1" dirty="0">
                <a:solidFill>
                  <a:srgbClr val="000000"/>
                </a:solidFill>
                <a:latin typeface="Gill Sans"/>
              </a:rPr>
              <a:t> </a:t>
            </a:r>
            <a:br>
              <a:rPr lang="ce-Cyrl-RU" sz="3200" b="0" i="0" dirty="0">
                <a:solidFill>
                  <a:srgbClr val="000000"/>
                </a:solidFill>
                <a:effectLst/>
                <a:latin typeface="Gill Sans"/>
              </a:rPr>
            </a:br>
            <a:r>
              <a:rPr lang="ce-Cyrl-RU" sz="3200" b="0" i="0" dirty="0">
                <a:solidFill>
                  <a:srgbClr val="000000"/>
                </a:solidFill>
                <a:effectLst/>
                <a:latin typeface="Gill Sans"/>
              </a:rPr>
              <a:t>	</a:t>
            </a:r>
            <a:r>
              <a:rPr lang="nl-BE" sz="2800" b="0" i="0" dirty="0">
                <a:solidFill>
                  <a:srgbClr val="000000"/>
                </a:solidFill>
                <a:effectLst/>
                <a:latin typeface="Gill Sans"/>
              </a:rPr>
              <a:t>– </a:t>
            </a:r>
            <a:r>
              <a:rPr lang="nl-BE" sz="2800" b="0" i="0" dirty="0" err="1">
                <a:solidFill>
                  <a:srgbClr val="000000"/>
                </a:solidFill>
                <a:effectLst/>
                <a:latin typeface="Gill Sans"/>
              </a:rPr>
              <a:t>Благородство</a:t>
            </a:r>
            <a:r>
              <a:rPr lang="nl-BE" sz="2800" b="0" i="0" dirty="0">
                <a:solidFill>
                  <a:srgbClr val="000000"/>
                </a:solidFill>
                <a:effectLst/>
                <a:latin typeface="Gill Sans"/>
              </a:rPr>
              <a:t> </a:t>
            </a:r>
            <a:r>
              <a:rPr lang="nl-BE" sz="2800" b="0" i="0" dirty="0" err="1">
                <a:solidFill>
                  <a:srgbClr val="000000"/>
                </a:solidFill>
                <a:effectLst/>
                <a:latin typeface="Gill Sans"/>
              </a:rPr>
              <a:t>лишь</a:t>
            </a:r>
            <a:r>
              <a:rPr lang="nl-BE" sz="2800" b="0" i="0" dirty="0">
                <a:solidFill>
                  <a:srgbClr val="000000"/>
                </a:solidFill>
                <a:effectLst/>
                <a:latin typeface="Gill Sans"/>
              </a:rPr>
              <a:t> у </a:t>
            </a:r>
            <a:r>
              <a:rPr lang="nl-BE" sz="2800" b="0" i="0" dirty="0" err="1">
                <a:solidFill>
                  <a:srgbClr val="000000"/>
                </a:solidFill>
                <a:effectLst/>
                <a:latin typeface="Gill Sans"/>
              </a:rPr>
              <a:t>того</a:t>
            </a:r>
            <a:r>
              <a:rPr lang="nl-BE" sz="2800" b="0" i="0" dirty="0">
                <a:solidFill>
                  <a:srgbClr val="000000"/>
                </a:solidFill>
                <a:effectLst/>
                <a:latin typeface="Gill Sans"/>
              </a:rPr>
              <a:t>, </a:t>
            </a:r>
            <a:r>
              <a:rPr lang="nl-BE" sz="2800" b="0" i="0" dirty="0" err="1">
                <a:solidFill>
                  <a:srgbClr val="000000"/>
                </a:solidFill>
                <a:effectLst/>
                <a:latin typeface="Gill Sans"/>
              </a:rPr>
              <a:t>кто</a:t>
            </a:r>
            <a:r>
              <a:rPr lang="nl-BE" sz="2800" b="0" i="0" dirty="0">
                <a:solidFill>
                  <a:srgbClr val="000000"/>
                </a:solidFill>
                <a:effectLst/>
                <a:latin typeface="Gill Sans"/>
              </a:rPr>
              <a:t> </a:t>
            </a:r>
            <a:r>
              <a:rPr lang="nl-BE" sz="2800" b="0" i="0" dirty="0" err="1">
                <a:solidFill>
                  <a:srgbClr val="000000"/>
                </a:solidFill>
                <a:effectLst/>
                <a:latin typeface="Gill Sans"/>
              </a:rPr>
              <a:t>ведет</a:t>
            </a:r>
            <a:r>
              <a:rPr lang="nl-BE" sz="2800" b="0" i="0" dirty="0">
                <a:solidFill>
                  <a:srgbClr val="000000"/>
                </a:solidFill>
                <a:effectLst/>
                <a:latin typeface="Gill Sans"/>
              </a:rPr>
              <a:t> </a:t>
            </a:r>
            <a:r>
              <a:rPr lang="nl-BE" sz="2800" b="0" i="0" dirty="0" err="1">
                <a:solidFill>
                  <a:srgbClr val="000000"/>
                </a:solidFill>
                <a:effectLst/>
                <a:latin typeface="Gill Sans"/>
              </a:rPr>
              <a:t>себя</a:t>
            </a:r>
            <a:r>
              <a:rPr lang="nl-BE" sz="2800" b="0" i="0" dirty="0">
                <a:solidFill>
                  <a:srgbClr val="000000"/>
                </a:solidFill>
                <a:effectLst/>
                <a:latin typeface="Gill Sans"/>
              </a:rPr>
              <a:t> </a:t>
            </a:r>
            <a:r>
              <a:rPr lang="nl-BE" sz="2800" b="0" i="0" dirty="0" err="1">
                <a:solidFill>
                  <a:srgbClr val="000000"/>
                </a:solidFill>
                <a:effectLst/>
                <a:latin typeface="Gill Sans"/>
              </a:rPr>
              <a:t>благородно</a:t>
            </a:r>
            <a:r>
              <a:rPr lang="nl-BE" sz="2800" b="0" i="0" dirty="0">
                <a:solidFill>
                  <a:srgbClr val="000000"/>
                </a:solidFill>
                <a:effectLst/>
                <a:latin typeface="Gill Sans"/>
              </a:rPr>
              <a:t>.</a:t>
            </a:r>
          </a:p>
          <a:p>
            <a:r>
              <a:rPr lang="nl-BE" sz="3200" b="1" dirty="0" err="1">
                <a:solidFill>
                  <a:srgbClr val="000000"/>
                </a:solidFill>
                <a:latin typeface="Gill Sans"/>
              </a:rPr>
              <a:t>Сих</a:t>
            </a:r>
            <a:r>
              <a:rPr lang="nl-BE" sz="3200" b="1" dirty="0">
                <a:solidFill>
                  <a:srgbClr val="000000"/>
                </a:solidFill>
                <a:latin typeface="Gill Sans"/>
              </a:rPr>
              <a:t> </a:t>
            </a:r>
            <a:r>
              <a:rPr lang="nl-BE" sz="3200" b="1" dirty="0" err="1">
                <a:solidFill>
                  <a:srgbClr val="000000"/>
                </a:solidFill>
                <a:latin typeface="Gill Sans"/>
              </a:rPr>
              <a:t>лета</a:t>
            </a:r>
            <a:r>
              <a:rPr lang="nl-BE" sz="3200" b="1" dirty="0">
                <a:solidFill>
                  <a:srgbClr val="000000"/>
                </a:solidFill>
                <a:latin typeface="Gill Sans"/>
              </a:rPr>
              <a:t> </a:t>
            </a:r>
            <a:r>
              <a:rPr lang="nl-BE" sz="3200" b="1" dirty="0" err="1">
                <a:solidFill>
                  <a:srgbClr val="000000"/>
                </a:solidFill>
                <a:latin typeface="Gill Sans"/>
              </a:rPr>
              <a:t>эздел</a:t>
            </a:r>
            <a:r>
              <a:rPr lang="nl-BE" sz="3200" b="1" dirty="0">
                <a:solidFill>
                  <a:srgbClr val="000000"/>
                </a:solidFill>
                <a:latin typeface="Gill Sans"/>
              </a:rPr>
              <a:t> – </a:t>
            </a:r>
            <a:r>
              <a:rPr lang="nl-BE" sz="3200" b="1" dirty="0" err="1">
                <a:solidFill>
                  <a:srgbClr val="000000"/>
                </a:solidFill>
                <a:latin typeface="Gill Sans"/>
              </a:rPr>
              <a:t>бохоргбоаца</a:t>
            </a:r>
            <a:r>
              <a:rPr lang="nl-BE" sz="3200" b="1" dirty="0">
                <a:solidFill>
                  <a:srgbClr val="000000"/>
                </a:solidFill>
                <a:latin typeface="Gill Sans"/>
              </a:rPr>
              <a:t> </a:t>
            </a:r>
            <a:r>
              <a:rPr lang="nl-BE" sz="3200" b="1" dirty="0" err="1">
                <a:solidFill>
                  <a:srgbClr val="000000"/>
                </a:solidFill>
                <a:latin typeface="Gill Sans"/>
              </a:rPr>
              <a:t>лоаман</a:t>
            </a:r>
            <a:r>
              <a:rPr lang="nl-BE" sz="3200" b="1" dirty="0">
                <a:solidFill>
                  <a:srgbClr val="000000"/>
                </a:solidFill>
                <a:latin typeface="Gill Sans"/>
              </a:rPr>
              <a:t> </a:t>
            </a:r>
            <a:r>
              <a:rPr lang="nl-BE" sz="3200" b="1" dirty="0" err="1">
                <a:solidFill>
                  <a:srgbClr val="000000"/>
                </a:solidFill>
                <a:latin typeface="Gill Sans"/>
              </a:rPr>
              <a:t>берд</a:t>
            </a:r>
            <a:r>
              <a:rPr lang="nl-BE" sz="3200" b="1" dirty="0">
                <a:solidFill>
                  <a:srgbClr val="000000"/>
                </a:solidFill>
                <a:latin typeface="Gill Sans"/>
              </a:rPr>
              <a:t> </a:t>
            </a:r>
            <a:br>
              <a:rPr lang="ce-Cyrl-RU" sz="3200" b="0" i="0" dirty="0">
                <a:solidFill>
                  <a:srgbClr val="000000"/>
                </a:solidFill>
                <a:effectLst/>
                <a:latin typeface="Gill Sans"/>
              </a:rPr>
            </a:br>
            <a:r>
              <a:rPr lang="ce-Cyrl-RU" sz="3200" b="0" i="0" dirty="0">
                <a:solidFill>
                  <a:srgbClr val="000000"/>
                </a:solidFill>
                <a:effectLst/>
                <a:latin typeface="Gill Sans"/>
              </a:rPr>
              <a:t>	</a:t>
            </a:r>
            <a:r>
              <a:rPr lang="nl-BE" sz="2800" dirty="0">
                <a:solidFill>
                  <a:srgbClr val="000000"/>
                </a:solidFill>
                <a:latin typeface="Gill Sans"/>
              </a:rPr>
              <a:t>–</a:t>
            </a:r>
            <a:r>
              <a:rPr lang="nl-BE" sz="2800" b="0" i="0" dirty="0">
                <a:solidFill>
                  <a:srgbClr val="000000"/>
                </a:solidFill>
                <a:effectLst/>
                <a:latin typeface="Gill Sans"/>
              </a:rPr>
              <a:t> </a:t>
            </a:r>
            <a:r>
              <a:rPr lang="nl-BE" sz="2800" b="0" i="0" dirty="0" err="1">
                <a:solidFill>
                  <a:srgbClr val="000000"/>
                </a:solidFill>
                <a:effectLst/>
                <a:latin typeface="Gill Sans"/>
              </a:rPr>
              <a:t>Внутреннее</a:t>
            </a:r>
            <a:r>
              <a:rPr lang="nl-BE" sz="2800" b="0" i="0" dirty="0">
                <a:solidFill>
                  <a:srgbClr val="000000"/>
                </a:solidFill>
                <a:effectLst/>
                <a:latin typeface="Gill Sans"/>
              </a:rPr>
              <a:t> (</a:t>
            </a:r>
            <a:r>
              <a:rPr lang="nl-BE" sz="2800" b="0" i="0" dirty="0" err="1">
                <a:solidFill>
                  <a:srgbClr val="000000"/>
                </a:solidFill>
                <a:effectLst/>
                <a:latin typeface="Gill Sans"/>
              </a:rPr>
              <a:t>не</a:t>
            </a:r>
            <a:r>
              <a:rPr lang="nl-BE" sz="2800" b="0" i="0" dirty="0">
                <a:solidFill>
                  <a:srgbClr val="000000"/>
                </a:solidFill>
                <a:effectLst/>
                <a:latin typeface="Gill Sans"/>
              </a:rPr>
              <a:t> </a:t>
            </a:r>
            <a:r>
              <a:rPr lang="nl-BE" sz="2800" b="0" i="0" dirty="0" err="1">
                <a:solidFill>
                  <a:srgbClr val="000000"/>
                </a:solidFill>
                <a:effectLst/>
                <a:latin typeface="Gill Sans"/>
              </a:rPr>
              <a:t>показное</a:t>
            </a:r>
            <a:r>
              <a:rPr lang="nl-BE" sz="2800" b="0" i="0" dirty="0">
                <a:solidFill>
                  <a:srgbClr val="000000"/>
                </a:solidFill>
                <a:effectLst/>
                <a:latin typeface="Gill Sans"/>
              </a:rPr>
              <a:t>) </a:t>
            </a:r>
            <a:r>
              <a:rPr lang="nl-BE" sz="2800" b="0" i="0" dirty="0" err="1">
                <a:solidFill>
                  <a:srgbClr val="000000"/>
                </a:solidFill>
                <a:effectLst/>
                <a:latin typeface="Gill Sans"/>
              </a:rPr>
              <a:t>благородство</a:t>
            </a:r>
            <a:r>
              <a:rPr lang="nl-BE" sz="2800" b="0" i="0" dirty="0">
                <a:solidFill>
                  <a:srgbClr val="000000"/>
                </a:solidFill>
                <a:effectLst/>
                <a:latin typeface="Gill Sans"/>
              </a:rPr>
              <a:t> </a:t>
            </a:r>
            <a:r>
              <a:rPr lang="nl-BE" sz="2800" b="0" i="0" dirty="0" err="1">
                <a:solidFill>
                  <a:srgbClr val="000000"/>
                </a:solidFill>
                <a:effectLst/>
                <a:latin typeface="Gill Sans"/>
              </a:rPr>
              <a:t>крепче</a:t>
            </a:r>
            <a:r>
              <a:rPr lang="ce-Cyrl-RU" sz="2800" dirty="0">
                <a:solidFill>
                  <a:srgbClr val="000000"/>
                </a:solidFill>
                <a:latin typeface="Gill Sans"/>
              </a:rPr>
              <a:t> </a:t>
            </a:r>
            <a:r>
              <a:rPr lang="nl-BE" sz="2800" b="0" i="0" dirty="0" err="1">
                <a:solidFill>
                  <a:srgbClr val="000000"/>
                </a:solidFill>
                <a:effectLst/>
                <a:latin typeface="Gill Sans"/>
              </a:rPr>
              <a:t>скалистого</a:t>
            </a:r>
            <a:r>
              <a:rPr lang="nl-BE" sz="2800" b="0" i="0" dirty="0">
                <a:solidFill>
                  <a:srgbClr val="000000"/>
                </a:solidFill>
                <a:effectLst/>
                <a:latin typeface="Gill Sans"/>
              </a:rPr>
              <a:t> </a:t>
            </a:r>
            <a:r>
              <a:rPr lang="nl-BE" sz="2800" b="0" i="0" dirty="0" err="1">
                <a:solidFill>
                  <a:srgbClr val="000000"/>
                </a:solidFill>
                <a:effectLst/>
                <a:latin typeface="Gill Sans"/>
              </a:rPr>
              <a:t>берега</a:t>
            </a:r>
            <a:r>
              <a:rPr lang="nl-BE" sz="2800" b="0" i="0" dirty="0">
                <a:solidFill>
                  <a:srgbClr val="000000"/>
                </a:solidFill>
                <a:effectLst/>
                <a:latin typeface="Gill Sans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B79A99-E424-F1F7-7971-4A3E612E3B0F}"/>
              </a:ext>
            </a:extLst>
          </p:cNvPr>
          <p:cNvSpPr txBox="1"/>
          <p:nvPr/>
        </p:nvSpPr>
        <p:spPr>
          <a:xfrm>
            <a:off x="4319954" y="5789243"/>
            <a:ext cx="35520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CC6600"/>
                </a:solidFill>
              </a:rPr>
              <a:t>@LADUGA_LADOGA</a:t>
            </a:r>
            <a:endParaRPr lang="nl-BE" sz="2400" b="1" dirty="0">
              <a:solidFill>
                <a:srgbClr val="CC66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7939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73661">
        <p:fade/>
      </p:transition>
    </mc:Choice>
    <mc:Fallback xmlns="">
      <p:transition spd="med" advTm="373661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1.3|0.5|0.5|1.5|0.5|0.9|176|0.5|0.3|0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1.3|0.5|0.5|1.5|0.5|0.9|176|0.5|0.3|0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1.3|0.5|0.5|1.5|0.5|0.9|176|0.5|0.3|0.5"/>
</p:tagLst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3219</Words>
  <Application>Microsoft Office PowerPoint</Application>
  <PresentationFormat>Widescreen</PresentationFormat>
  <Paragraphs>101</Paragraphs>
  <Slides>9</Slides>
  <Notes>5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Alasassy Caps</vt:lpstr>
      <vt:lpstr>Aptos</vt:lpstr>
      <vt:lpstr>Arial</vt:lpstr>
      <vt:lpstr>Gill Sans</vt:lpstr>
      <vt:lpstr>Gill Sans MT</vt:lpstr>
      <vt:lpstr>Times New Roman</vt:lpstr>
      <vt:lpstr>Gallery</vt:lpstr>
      <vt:lpstr>Опыт изучения ингушского языка</vt:lpstr>
      <vt:lpstr>Мудрые наставления наших предков</vt:lpstr>
      <vt:lpstr>предисловие</vt:lpstr>
      <vt:lpstr>PowerPoint Presentation</vt:lpstr>
      <vt:lpstr>PowerPoint Presentation</vt:lpstr>
      <vt:lpstr>Са дешал чIоагIагI да цун эздел </vt:lpstr>
      <vt:lpstr>Лексика</vt:lpstr>
      <vt:lpstr>Грамматика : АЛФАВИТ и произношение</vt:lpstr>
      <vt:lpstr>ПОГОВОРКИ</vt:lpstr>
    </vt:vector>
  </TitlesOfParts>
  <Company>FPS Public Health Belgium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Abdulvakhid Shoudouev (FOD VVVL - SPF SPSCAE)</dc:creator>
  <cp:lastModifiedBy>Abdulvakhid Shoudouev (FOD VVVL - SPF SPSCAE)</cp:lastModifiedBy>
  <cp:revision>176</cp:revision>
  <dcterms:created xsi:type="dcterms:W3CDTF">2026-06-01T18:53:02Z</dcterms:created>
  <dcterms:modified xsi:type="dcterms:W3CDTF">2026-07-05T00:25:31Z</dcterms:modified>
</cp:coreProperties>
</file>