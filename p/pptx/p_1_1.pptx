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2" r:id="rId4"/>
    <p:sldId id="258" r:id="rId5"/>
    <p:sldId id="259" r:id="rId6"/>
    <p:sldId id="267" r:id="rId7"/>
    <p:sldId id="260" r:id="rId8"/>
    <p:sldId id="261" r:id="rId9"/>
    <p:sldId id="263"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185C242-68B7-4DC8-A407-97B28E6BAFC5}">
          <p14:sldIdLst>
            <p14:sldId id="256"/>
          </p14:sldIdLst>
        </p14:section>
        <p14:section name="book_cover" id="{FEE08EA0-157C-42D5-9554-D7F4899B98FD}">
          <p14:sldIdLst>
            <p14:sldId id="257"/>
            <p14:sldId id="262"/>
          </p14:sldIdLst>
        </p14:section>
        <p14:section name="story_name" id="{3529E971-8119-4829-BD88-A7D2789F4180}">
          <p14:sldIdLst>
            <p14:sldId id="258"/>
          </p14:sldIdLst>
        </p14:section>
        <p14:section name="Story_text_inh" id="{9FE4DF01-14C5-45CE-ACA8-0B0B0612A66C}">
          <p14:sldIdLst>
            <p14:sldId id="259"/>
          </p14:sldIdLst>
        </p14:section>
        <p14:section name="Story_text_ru" id="{EC7CF159-B613-4BB0-A71F-6A447E7D2288}">
          <p14:sldIdLst>
            <p14:sldId id="267"/>
          </p14:sldIdLst>
        </p14:section>
        <p14:section name="story_text_eng" id="{1F75236F-9138-4460-9D2C-69429F04EC38}">
          <p14:sldIdLst>
            <p14:sldId id="260"/>
          </p14:sldIdLst>
        </p14:section>
        <p14:section name="story_text_che" id="{0754FFD2-BC67-43BD-9920-805D43719411}">
          <p14:sldIdLst>
            <p14:sldId id="261"/>
            <p14:sldId id="263"/>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88" autoAdjust="0"/>
  </p:normalViewPr>
  <p:slideViewPr>
    <p:cSldViewPr snapToGrid="0">
      <p:cViewPr varScale="1">
        <p:scale>
          <a:sx n="150" d="100"/>
          <a:sy n="150" d="100"/>
        </p:scale>
        <p:origin x="630" y="132"/>
      </p:cViewPr>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9D986570-2C26-4E5F-9D28-4D18F9BAC427}" type="datetimeFigureOut">
              <a:rPr lang="nl-BE" smtClean="0"/>
              <a:t>14/06/2026</a:t>
            </a:fld>
            <a:endParaRPr lang="nl-BE"/>
          </a:p>
        </p:txBody>
      </p:sp>
      <p:sp>
        <p:nvSpPr>
          <p:cNvPr id="5" name="Footer Placeholder 4"/>
          <p:cNvSpPr>
            <a:spLocks noGrp="1"/>
          </p:cNvSpPr>
          <p:nvPr>
            <p:ph type="ftr" sz="quarter" idx="11"/>
          </p:nvPr>
        </p:nvSpPr>
        <p:spPr>
          <a:xfrm>
            <a:off x="2416500" y="329307"/>
            <a:ext cx="4973915" cy="309201"/>
          </a:xfrm>
        </p:spPr>
        <p:txBody>
          <a:bodyPr/>
          <a:lstStyle/>
          <a:p>
            <a:endParaRPr lang="nl-BE"/>
          </a:p>
        </p:txBody>
      </p:sp>
      <p:sp>
        <p:nvSpPr>
          <p:cNvPr id="6" name="Slide Number Placeholder 5"/>
          <p:cNvSpPr>
            <a:spLocks noGrp="1"/>
          </p:cNvSpPr>
          <p:nvPr>
            <p:ph type="sldNum" sz="quarter" idx="12"/>
          </p:nvPr>
        </p:nvSpPr>
        <p:spPr>
          <a:xfrm>
            <a:off x="1437664" y="798973"/>
            <a:ext cx="811019" cy="503578"/>
          </a:xfrm>
        </p:spPr>
        <p:txBody>
          <a:bodyPr/>
          <a:lstStyle/>
          <a:p>
            <a:fld id="{75E9C3EB-3209-46C0-A1BF-04B855C83966}" type="slidenum">
              <a:rPr lang="nl-BE" smtClean="0"/>
              <a:t>‹#›</a:t>
            </a:fld>
            <a:endParaRPr lang="nl-BE"/>
          </a:p>
        </p:txBody>
      </p:sp>
      <p:sp>
        <p:nvSpPr>
          <p:cNvPr id="8" name="TextBox 7">
            <a:extLst>
              <a:ext uri="{FF2B5EF4-FFF2-40B4-BE49-F238E27FC236}">
                <a16:creationId xmlns:a16="http://schemas.microsoft.com/office/drawing/2014/main" id="{1F455A86-9B17-54B9-2CE5-8916635CDC73}"/>
              </a:ext>
            </a:extLst>
          </p:cNvPr>
          <p:cNvSpPr txBox="1"/>
          <p:nvPr userDrawn="1"/>
        </p:nvSpPr>
        <p:spPr>
          <a:xfrm>
            <a:off x="419054" y="6299200"/>
            <a:ext cx="1982240" cy="276999"/>
          </a:xfrm>
          <a:prstGeom prst="rect">
            <a:avLst/>
          </a:prstGeom>
          <a:noFill/>
        </p:spPr>
        <p:txBody>
          <a:bodyPr wrap="square" rtlCol="0">
            <a:spAutoFit/>
          </a:bodyPr>
          <a:lstStyle/>
          <a:p>
            <a:pPr algn="l"/>
            <a:r>
              <a:rPr lang="en-US" sz="1200" b="1" dirty="0">
                <a:solidFill>
                  <a:srgbClr val="CC6600"/>
                </a:solidFill>
              </a:rPr>
              <a:t>@LADUGA_LADOGA</a:t>
            </a:r>
            <a:endParaRPr lang="nl-BE" sz="1200" b="1" dirty="0">
              <a:solidFill>
                <a:srgbClr val="CC6600"/>
              </a:solidFill>
            </a:endParaRPr>
          </a:p>
        </p:txBody>
      </p:sp>
      <p:sp>
        <p:nvSpPr>
          <p:cNvPr id="9" name="TextBox 8">
            <a:extLst>
              <a:ext uri="{FF2B5EF4-FFF2-40B4-BE49-F238E27FC236}">
                <a16:creationId xmlns:a16="http://schemas.microsoft.com/office/drawing/2014/main" id="{4D0D7826-67D3-570C-DC2E-EC5B60B640A7}"/>
              </a:ext>
            </a:extLst>
          </p:cNvPr>
          <p:cNvSpPr txBox="1"/>
          <p:nvPr userDrawn="1"/>
        </p:nvSpPr>
        <p:spPr>
          <a:xfrm>
            <a:off x="3832529" y="6299200"/>
            <a:ext cx="7863840" cy="3077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dirty="0">
                <a:ln>
                  <a:noFill/>
                </a:ln>
                <a:solidFill>
                  <a:srgbClr val="CC6600"/>
                </a:solidFill>
                <a:effectLst/>
                <a:uLnTx/>
                <a:uFillTx/>
                <a:ea typeface="+mn-ea"/>
                <a:cs typeface="+mn-cs"/>
              </a:rPr>
              <a:t>И.А. </a:t>
            </a:r>
            <a:r>
              <a:rPr lang="ru-RU" sz="1400" b="1" kern="1200" noProof="0" dirty="0">
                <a:solidFill>
                  <a:srgbClr val="CC6600"/>
                </a:solidFill>
                <a:latin typeface="+mn-lt"/>
                <a:ea typeface="+mn-ea"/>
                <a:cs typeface="+mn-cs"/>
              </a:rPr>
              <a:t>Дахкильгов</a:t>
            </a:r>
            <a:r>
              <a:rPr kumimoji="0" lang="ru-RU" sz="1400" b="1" i="0" u="none" strike="noStrike" kern="1200" cap="none" spc="0" normalizeH="0" baseline="0" noProof="0" dirty="0">
                <a:ln>
                  <a:noFill/>
                </a:ln>
                <a:solidFill>
                  <a:srgbClr val="CC6600"/>
                </a:solidFill>
                <a:effectLst/>
                <a:uLnTx/>
                <a:uFillTx/>
                <a:ea typeface="+mn-ea"/>
                <a:cs typeface="+mn-cs"/>
              </a:rPr>
              <a:t>. Хьехаме дувцарш - поучительные рассказы-притчи.</a:t>
            </a:r>
            <a:r>
              <a:rPr kumimoji="0" lang="en-US" sz="1400" b="1" i="0" u="none" strike="noStrike" kern="1200" cap="none" spc="0" normalizeH="0" baseline="0" noProof="0" dirty="0">
                <a:ln>
                  <a:noFill/>
                </a:ln>
                <a:solidFill>
                  <a:srgbClr val="CC6600"/>
                </a:solidFill>
                <a:effectLst/>
                <a:uLnTx/>
                <a:uFillTx/>
                <a:ea typeface="+mn-ea"/>
                <a:cs typeface="+mn-cs"/>
              </a:rPr>
              <a:t> </a:t>
            </a:r>
            <a:r>
              <a:rPr kumimoji="0" lang="ru-RU" sz="1400" b="1" i="0" u="none" strike="noStrike" kern="1200" cap="none" spc="0" normalizeH="0" baseline="0" noProof="0" dirty="0">
                <a:ln>
                  <a:noFill/>
                </a:ln>
                <a:solidFill>
                  <a:srgbClr val="CC6600"/>
                </a:solidFill>
                <a:effectLst/>
                <a:uLnTx/>
                <a:uFillTx/>
                <a:ea typeface="+mn-ea"/>
                <a:cs typeface="+mn-cs"/>
              </a:rPr>
              <a:t>Из ингушского фольклора.</a:t>
            </a:r>
            <a:endParaRPr lang="nl-BE" sz="1400" b="1" dirty="0">
              <a:solidFill>
                <a:srgbClr val="CC6600"/>
              </a:solidFill>
            </a:endParaRPr>
          </a:p>
        </p:txBody>
      </p:sp>
    </p:spTree>
    <p:extLst>
      <p:ext uri="{BB962C8B-B14F-4D97-AF65-F5344CB8AC3E}">
        <p14:creationId xmlns:p14="http://schemas.microsoft.com/office/powerpoint/2010/main" val="2886729059"/>
      </p:ext>
    </p:extLst>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986570-2C26-4E5F-9D28-4D18F9BAC427}" type="datetimeFigureOut">
              <a:rPr lang="nl-BE" smtClean="0"/>
              <a:t>14/06/2026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75E9C3EB-3209-46C0-A1BF-04B855C83966}" type="slidenum">
              <a:rPr lang="nl-BE" smtClean="0"/>
              <a:t>‹#›</a:t>
            </a:fld>
            <a:endParaRPr lang="nl-BE"/>
          </a:p>
        </p:txBody>
      </p:sp>
      <p:sp>
        <p:nvSpPr>
          <p:cNvPr id="7" name="TextBox 6">
            <a:extLst>
              <a:ext uri="{FF2B5EF4-FFF2-40B4-BE49-F238E27FC236}">
                <a16:creationId xmlns:a16="http://schemas.microsoft.com/office/drawing/2014/main" id="{32F62EAB-314F-C75A-21DD-AB2C064388D5}"/>
              </a:ext>
            </a:extLst>
          </p:cNvPr>
          <p:cNvSpPr txBox="1"/>
          <p:nvPr userDrawn="1"/>
        </p:nvSpPr>
        <p:spPr>
          <a:xfrm>
            <a:off x="419054" y="6299200"/>
            <a:ext cx="1982240" cy="276999"/>
          </a:xfrm>
          <a:prstGeom prst="rect">
            <a:avLst/>
          </a:prstGeom>
          <a:noFill/>
        </p:spPr>
        <p:txBody>
          <a:bodyPr wrap="square" rtlCol="0">
            <a:spAutoFit/>
          </a:bodyPr>
          <a:lstStyle/>
          <a:p>
            <a:pPr algn="l"/>
            <a:r>
              <a:rPr lang="en-US" sz="1200" b="1" dirty="0">
                <a:solidFill>
                  <a:srgbClr val="CC6600"/>
                </a:solidFill>
              </a:rPr>
              <a:t>@LADUGA_LADOGA</a:t>
            </a:r>
            <a:endParaRPr lang="nl-BE" sz="1200" b="1" dirty="0">
              <a:solidFill>
                <a:srgbClr val="CC6600"/>
              </a:solidFill>
            </a:endParaRPr>
          </a:p>
        </p:txBody>
      </p:sp>
      <p:sp>
        <p:nvSpPr>
          <p:cNvPr id="8" name="TextBox 7">
            <a:extLst>
              <a:ext uri="{FF2B5EF4-FFF2-40B4-BE49-F238E27FC236}">
                <a16:creationId xmlns:a16="http://schemas.microsoft.com/office/drawing/2014/main" id="{C0EE0B99-DB1E-7DFC-9C7B-70FA11250A1B}"/>
              </a:ext>
            </a:extLst>
          </p:cNvPr>
          <p:cNvSpPr txBox="1"/>
          <p:nvPr userDrawn="1"/>
        </p:nvSpPr>
        <p:spPr>
          <a:xfrm>
            <a:off x="3832529" y="6299200"/>
            <a:ext cx="7863840" cy="3077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ru-RU" sz="1400" b="1" i="0" u="none" strike="noStrike" kern="1200" cap="none" spc="0" normalizeH="0" baseline="0" noProof="0" dirty="0">
                <a:ln>
                  <a:noFill/>
                </a:ln>
                <a:solidFill>
                  <a:srgbClr val="CC6600"/>
                </a:solidFill>
                <a:effectLst/>
                <a:uLnTx/>
                <a:uFillTx/>
                <a:ea typeface="+mn-ea"/>
                <a:cs typeface="+mn-cs"/>
              </a:rPr>
              <a:t>И.А. </a:t>
            </a:r>
            <a:r>
              <a:rPr lang="ru-RU" sz="1400" b="1" kern="1200" noProof="0" dirty="0">
                <a:solidFill>
                  <a:srgbClr val="CC6600"/>
                </a:solidFill>
                <a:latin typeface="+mn-lt"/>
                <a:ea typeface="+mn-ea"/>
                <a:cs typeface="+mn-cs"/>
              </a:rPr>
              <a:t>Дахкильгов</a:t>
            </a:r>
            <a:r>
              <a:rPr kumimoji="0" lang="ru-RU" sz="1400" b="1" i="0" u="none" strike="noStrike" kern="1200" cap="none" spc="0" normalizeH="0" baseline="0" noProof="0" dirty="0">
                <a:ln>
                  <a:noFill/>
                </a:ln>
                <a:solidFill>
                  <a:srgbClr val="CC6600"/>
                </a:solidFill>
                <a:effectLst/>
                <a:uLnTx/>
                <a:uFillTx/>
                <a:ea typeface="+mn-ea"/>
                <a:cs typeface="+mn-cs"/>
              </a:rPr>
              <a:t>. Хьехаме дувцарш - поучительные рассказы-притчи.</a:t>
            </a:r>
            <a:r>
              <a:rPr kumimoji="0" lang="en-US" sz="1400" b="1" i="0" u="none" strike="noStrike" kern="1200" cap="none" spc="0" normalizeH="0" baseline="0" noProof="0" dirty="0">
                <a:ln>
                  <a:noFill/>
                </a:ln>
                <a:solidFill>
                  <a:srgbClr val="CC6600"/>
                </a:solidFill>
                <a:effectLst/>
                <a:uLnTx/>
                <a:uFillTx/>
                <a:ea typeface="+mn-ea"/>
                <a:cs typeface="+mn-cs"/>
              </a:rPr>
              <a:t> </a:t>
            </a:r>
            <a:r>
              <a:rPr kumimoji="0" lang="ru-RU" sz="1400" b="1" i="0" u="none" strike="noStrike" kern="1200" cap="none" spc="0" normalizeH="0" baseline="0" noProof="0" dirty="0">
                <a:ln>
                  <a:noFill/>
                </a:ln>
                <a:solidFill>
                  <a:srgbClr val="CC6600"/>
                </a:solidFill>
                <a:effectLst/>
                <a:uLnTx/>
                <a:uFillTx/>
                <a:ea typeface="+mn-ea"/>
                <a:cs typeface="+mn-cs"/>
              </a:rPr>
              <a:t>Из ингушского фольклора.</a:t>
            </a:r>
            <a:endParaRPr lang="nl-BE" sz="1400" b="1" dirty="0">
              <a:solidFill>
                <a:srgbClr val="CC6600"/>
              </a:solidFill>
            </a:endParaRPr>
          </a:p>
        </p:txBody>
      </p:sp>
    </p:spTree>
    <p:extLst>
      <p:ext uri="{BB962C8B-B14F-4D97-AF65-F5344CB8AC3E}">
        <p14:creationId xmlns:p14="http://schemas.microsoft.com/office/powerpoint/2010/main" val="3005231634"/>
      </p:ext>
    </p:extLst>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986570-2C26-4E5F-9D28-4D18F9BAC427}" type="datetimeFigureOut">
              <a:rPr lang="nl-BE" smtClean="0"/>
              <a:t>14/06/2026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75E9C3EB-3209-46C0-A1BF-04B855C83966}" type="slidenum">
              <a:rPr lang="nl-BE" smtClean="0"/>
              <a:t>‹#›</a:t>
            </a:fld>
            <a:endParaRPr lang="nl-BE"/>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0083104"/>
      </p:ext>
    </p:extLst>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986570-2C26-4E5F-9D28-4D18F9BAC427}" type="datetimeFigureOut">
              <a:rPr lang="nl-BE" smtClean="0"/>
              <a:t>14/06/2026</a:t>
            </a:fld>
            <a:endParaRPr lang="nl-BE" dirty="0"/>
          </a:p>
        </p:txBody>
      </p:sp>
      <p:sp>
        <p:nvSpPr>
          <p:cNvPr id="6" name="Footer Placeholder 5"/>
          <p:cNvSpPr>
            <a:spLocks noGrp="1"/>
          </p:cNvSpPr>
          <p:nvPr>
            <p:ph type="ftr" sz="quarter" idx="11"/>
          </p:nvPr>
        </p:nvSpPr>
        <p:spPr/>
        <p:txBody>
          <a:bodyPr/>
          <a:lstStyle/>
          <a:p>
            <a:endParaRPr lang="nl-BE" dirty="0"/>
          </a:p>
        </p:txBody>
      </p:sp>
      <p:sp>
        <p:nvSpPr>
          <p:cNvPr id="7" name="Slide Number Placeholder 6"/>
          <p:cNvSpPr>
            <a:spLocks noGrp="1"/>
          </p:cNvSpPr>
          <p:nvPr>
            <p:ph type="sldNum" sz="quarter" idx="12"/>
          </p:nvPr>
        </p:nvSpPr>
        <p:spPr/>
        <p:txBody>
          <a:bodyPr/>
          <a:lstStyle/>
          <a:p>
            <a:fld id="{75E9C3EB-3209-46C0-A1BF-04B855C83966}" type="slidenum">
              <a:rPr lang="nl-BE" smtClean="0"/>
              <a:t>‹#›</a:t>
            </a:fld>
            <a:endParaRPr lang="nl-BE"/>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59756922"/>
      </p:ext>
    </p:extLst>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986570-2C26-4E5F-9D28-4D18F9BAC427}" type="datetimeFigureOut">
              <a:rPr lang="nl-BE" smtClean="0"/>
              <a:t>14/06/2026</a:t>
            </a:fld>
            <a:endParaRPr lang="nl-BE"/>
          </a:p>
        </p:txBody>
      </p:sp>
      <p:sp>
        <p:nvSpPr>
          <p:cNvPr id="8" name="Footer Placeholder 7"/>
          <p:cNvSpPr>
            <a:spLocks noGrp="1"/>
          </p:cNvSpPr>
          <p:nvPr>
            <p:ph type="ftr" sz="quarter" idx="11"/>
          </p:nvPr>
        </p:nvSpPr>
        <p:spPr/>
        <p:txBody>
          <a:bodyPr/>
          <a:lstStyle/>
          <a:p>
            <a:endParaRPr lang="nl-BE"/>
          </a:p>
        </p:txBody>
      </p:sp>
      <p:sp>
        <p:nvSpPr>
          <p:cNvPr id="9" name="Slide Number Placeholder 8"/>
          <p:cNvSpPr>
            <a:spLocks noGrp="1"/>
          </p:cNvSpPr>
          <p:nvPr>
            <p:ph type="sldNum" sz="quarter" idx="12"/>
          </p:nvPr>
        </p:nvSpPr>
        <p:spPr/>
        <p:txBody>
          <a:bodyPr/>
          <a:lstStyle/>
          <a:p>
            <a:fld id="{75E9C3EB-3209-46C0-A1BF-04B855C83966}" type="slidenum">
              <a:rPr lang="nl-BE" smtClean="0"/>
              <a:t>‹#›</a:t>
            </a:fld>
            <a:endParaRPr lang="nl-BE"/>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22309565"/>
      </p:ext>
    </p:extLst>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D986570-2C26-4E5F-9D28-4D18F9BAC427}" type="datetimeFigureOut">
              <a:rPr lang="nl-BE" smtClean="0"/>
              <a:t>14/06/2026</a:t>
            </a:fld>
            <a:endParaRPr lang="nl-BE"/>
          </a:p>
        </p:txBody>
      </p:sp>
      <p:sp>
        <p:nvSpPr>
          <p:cNvPr id="4" name="Footer Placeholder 3"/>
          <p:cNvSpPr>
            <a:spLocks noGrp="1"/>
          </p:cNvSpPr>
          <p:nvPr>
            <p:ph type="ftr" sz="quarter" idx="11"/>
          </p:nvPr>
        </p:nvSpPr>
        <p:spPr/>
        <p:txBody>
          <a:bodyPr/>
          <a:lstStyle/>
          <a:p>
            <a:endParaRPr lang="nl-BE"/>
          </a:p>
        </p:txBody>
      </p:sp>
      <p:sp>
        <p:nvSpPr>
          <p:cNvPr id="5" name="Slide Number Placeholder 4"/>
          <p:cNvSpPr>
            <a:spLocks noGrp="1"/>
          </p:cNvSpPr>
          <p:nvPr>
            <p:ph type="sldNum" sz="quarter" idx="12"/>
          </p:nvPr>
        </p:nvSpPr>
        <p:spPr/>
        <p:txBody>
          <a:bodyPr/>
          <a:lstStyle/>
          <a:p>
            <a:fld id="{75E9C3EB-3209-46C0-A1BF-04B855C83966}" type="slidenum">
              <a:rPr lang="nl-BE" smtClean="0"/>
              <a:t>‹#›</a:t>
            </a:fld>
            <a:endParaRPr lang="nl-BE"/>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7941629"/>
      </p:ext>
    </p:extLst>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986570-2C26-4E5F-9D28-4D18F9BAC427}" type="datetimeFigureOut">
              <a:rPr lang="nl-BE" smtClean="0"/>
              <a:t>14/06/2026</a:t>
            </a:fld>
            <a:endParaRPr lang="nl-BE"/>
          </a:p>
        </p:txBody>
      </p:sp>
      <p:sp>
        <p:nvSpPr>
          <p:cNvPr id="3" name="Footer Placeholder 2"/>
          <p:cNvSpPr>
            <a:spLocks noGrp="1"/>
          </p:cNvSpPr>
          <p:nvPr>
            <p:ph type="ftr" sz="quarter" idx="11"/>
          </p:nvPr>
        </p:nvSpPr>
        <p:spPr/>
        <p:txBody>
          <a:bodyPr/>
          <a:lstStyle/>
          <a:p>
            <a:endParaRPr lang="nl-BE"/>
          </a:p>
        </p:txBody>
      </p:sp>
      <p:sp>
        <p:nvSpPr>
          <p:cNvPr id="4" name="Slide Number Placeholder 3"/>
          <p:cNvSpPr>
            <a:spLocks noGrp="1"/>
          </p:cNvSpPr>
          <p:nvPr>
            <p:ph type="sldNum" sz="quarter" idx="12"/>
          </p:nvPr>
        </p:nvSpPr>
        <p:spPr/>
        <p:txBody>
          <a:bodyPr/>
          <a:lstStyle/>
          <a:p>
            <a:fld id="{75E9C3EB-3209-46C0-A1BF-04B855C83966}" type="slidenum">
              <a:rPr lang="nl-BE" smtClean="0"/>
              <a:t>‹#›</a:t>
            </a:fld>
            <a:endParaRPr lang="nl-BE"/>
          </a:p>
        </p:txBody>
      </p:sp>
    </p:spTree>
    <p:extLst>
      <p:ext uri="{BB962C8B-B14F-4D97-AF65-F5344CB8AC3E}">
        <p14:creationId xmlns:p14="http://schemas.microsoft.com/office/powerpoint/2010/main" val="3747484124"/>
      </p:ext>
    </p:extLst>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986570-2C26-4E5F-9D28-4D18F9BAC427}" type="datetimeFigureOut">
              <a:rPr lang="nl-BE" smtClean="0"/>
              <a:t>14/06/2026</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75E9C3EB-3209-46C0-A1BF-04B855C83966}" type="slidenum">
              <a:rPr lang="nl-BE" smtClean="0"/>
              <a:t>‹#›</a:t>
            </a:fld>
            <a:endParaRPr lang="nl-BE"/>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8654808"/>
      </p:ext>
    </p:extLst>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D986570-2C26-4E5F-9D28-4D18F9BAC427}" type="datetimeFigureOut">
              <a:rPr lang="nl-BE" smtClean="0"/>
              <a:t>14/06/2026</a:t>
            </a:fld>
            <a:endParaRPr lang="nl-BE"/>
          </a:p>
        </p:txBody>
      </p:sp>
      <p:sp>
        <p:nvSpPr>
          <p:cNvPr id="6" name="Footer Placeholder 5"/>
          <p:cNvSpPr>
            <a:spLocks noGrp="1"/>
          </p:cNvSpPr>
          <p:nvPr>
            <p:ph type="ftr" sz="quarter" idx="11"/>
          </p:nvPr>
        </p:nvSpPr>
        <p:spPr>
          <a:xfrm>
            <a:off x="1447382" y="318640"/>
            <a:ext cx="5541004" cy="320931"/>
          </a:xfrm>
        </p:spPr>
        <p:txBody>
          <a:bodyPr/>
          <a:lstStyle/>
          <a:p>
            <a:endParaRPr lang="nl-BE"/>
          </a:p>
        </p:txBody>
      </p:sp>
      <p:sp>
        <p:nvSpPr>
          <p:cNvPr id="7" name="Slide Number Placeholder 6"/>
          <p:cNvSpPr>
            <a:spLocks noGrp="1"/>
          </p:cNvSpPr>
          <p:nvPr>
            <p:ph type="sldNum" sz="quarter" idx="12"/>
          </p:nvPr>
        </p:nvSpPr>
        <p:spPr/>
        <p:txBody>
          <a:bodyPr/>
          <a:lstStyle/>
          <a:p>
            <a:fld id="{75E9C3EB-3209-46C0-A1BF-04B855C83966}" type="slidenum">
              <a:rPr lang="nl-BE" smtClean="0"/>
              <a:t>‹#›</a:t>
            </a:fld>
            <a:endParaRPr lang="nl-BE"/>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71820353"/>
      </p:ext>
    </p:extLst>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986570-2C26-4E5F-9D28-4D18F9BAC427}" type="datetimeFigureOut">
              <a:rPr lang="nl-BE" smtClean="0"/>
              <a:t>14/06/2026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75E9C3EB-3209-46C0-A1BF-04B855C83966}" type="slidenum">
              <a:rPr lang="nl-BE" smtClean="0"/>
              <a:t>‹#›</a:t>
            </a:fld>
            <a:endParaRPr lang="nl-BE"/>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799009"/>
      </p:ext>
    </p:extLst>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986570-2C26-4E5F-9D28-4D18F9BAC427}" type="datetimeFigureOut">
              <a:rPr lang="nl-BE" smtClean="0"/>
              <a:t>14/06/2026</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75E9C3EB-3209-46C0-A1BF-04B855C83966}" type="slidenum">
              <a:rPr lang="nl-BE" smtClean="0"/>
              <a:t>‹#›</a:t>
            </a:fld>
            <a:endParaRPr lang="nl-BE"/>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6273344"/>
      </p:ext>
    </p:extLst>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94000"/>
                <a:satMod val="80000"/>
                <a:lumMod val="94000"/>
                <a:lumOff val="6000"/>
              </a:schemeClr>
            </a:gs>
            <a:gs pos="100000">
              <a:schemeClr val="bg2">
                <a:shade val="80000"/>
              </a:schemeClr>
            </a:gs>
          </a:gsLst>
          <a:path path="circle">
            <a:fillToRect l="43000" r="43000" b="10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D986570-2C26-4E5F-9D28-4D18F9BAC427}" type="datetimeFigureOut">
              <a:rPr lang="nl-BE" smtClean="0"/>
              <a:t>14/06/2026</a:t>
            </a:fld>
            <a:endParaRPr lang="nl-BE"/>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nl-BE"/>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75E9C3EB-3209-46C0-A1BF-04B855C83966}" type="slidenum">
              <a:rPr lang="nl-BE" smtClean="0"/>
              <a:t>‹#›</a:t>
            </a:fld>
            <a:endParaRPr lang="nl-BE" dirty="0"/>
          </a:p>
        </p:txBody>
      </p:sp>
    </p:spTree>
    <p:extLst>
      <p:ext uri="{BB962C8B-B14F-4D97-AF65-F5344CB8AC3E}">
        <p14:creationId xmlns:p14="http://schemas.microsoft.com/office/powerpoint/2010/main" val="103194958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cover/>
  </p:transition>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1.mp3"/><Relationship Id="rId1" Type="http://schemas.openxmlformats.org/officeDocument/2006/relationships/audio" Target="NULL"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p3"/><Relationship Id="rId1" Type="http://schemas.microsoft.com/office/2007/relationships/media" Target="../media/media2.mp3"/><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Narodnaya_Ingushskaya">
            <a:hlinkClick r:id="" action="ppaction://media"/>
            <a:extLst>
              <a:ext uri="{FF2B5EF4-FFF2-40B4-BE49-F238E27FC236}">
                <a16:creationId xmlns:a16="http://schemas.microsoft.com/office/drawing/2014/main" id="{6AA5EB36-CCC9-D90B-7C25-A280071F8536}"/>
              </a:ext>
            </a:extLst>
          </p:cNvPr>
          <p:cNvPicPr>
            <a:picLocks noChangeAspect="1"/>
          </p:cNvPicPr>
          <p:nvPr>
            <a:audioFile r:link="rId1"/>
            <p:extLst>
              <p:ext uri="{DAA4B4D4-6D71-4841-9C94-3DE7FCFB9230}">
                <p14:media xmlns:p14="http://schemas.microsoft.com/office/powerpoint/2010/main" r:embed="rId2">
                  <p14:trim st="5602" end="133226.9375"/>
                  <p14:fade out="1000"/>
                </p14:media>
              </p:ext>
            </p:extLst>
          </p:nvPr>
        </p:nvPicPr>
        <p:blipFill>
          <a:blip r:embed="rId4"/>
          <a:stretch>
            <a:fillRect/>
          </a:stretch>
        </p:blipFill>
        <p:spPr>
          <a:xfrm>
            <a:off x="800332" y="5626500"/>
            <a:ext cx="487363" cy="487363"/>
          </a:xfrm>
          <a:prstGeom prst="rect">
            <a:avLst/>
          </a:prstGeom>
        </p:spPr>
      </p:pic>
      <p:sp>
        <p:nvSpPr>
          <p:cNvPr id="2" name="Title 1">
            <a:extLst>
              <a:ext uri="{FF2B5EF4-FFF2-40B4-BE49-F238E27FC236}">
                <a16:creationId xmlns:a16="http://schemas.microsoft.com/office/drawing/2014/main" id="{060B9045-3109-7F3D-3F6E-A237CA6F2463}"/>
              </a:ext>
            </a:extLst>
          </p:cNvPr>
          <p:cNvSpPr>
            <a:spLocks noGrp="1"/>
          </p:cNvSpPr>
          <p:nvPr>
            <p:ph type="ctrTitle"/>
          </p:nvPr>
        </p:nvSpPr>
        <p:spPr>
          <a:xfrm>
            <a:off x="1784425" y="802299"/>
            <a:ext cx="8623151" cy="1991144"/>
          </a:xfrm>
        </p:spPr>
        <p:txBody>
          <a:bodyPr/>
          <a:lstStyle/>
          <a:p>
            <a:pPr algn="ctr"/>
            <a:r>
              <a:rPr lang="ce-Cyrl-RU" dirty="0"/>
              <a:t>Опыт изучения ингушского языка</a:t>
            </a:r>
            <a:endParaRPr lang="nl-BE" dirty="0"/>
          </a:p>
        </p:txBody>
      </p:sp>
      <p:cxnSp>
        <p:nvCxnSpPr>
          <p:cNvPr id="9" name="Straight Connector 8">
            <a:extLst>
              <a:ext uri="{FF2B5EF4-FFF2-40B4-BE49-F238E27FC236}">
                <a16:creationId xmlns:a16="http://schemas.microsoft.com/office/drawing/2014/main" id="{5DA53427-5985-4E85-8EC8-645334CA8C0A}"/>
              </a:ext>
            </a:extLst>
          </p:cNvPr>
          <p:cNvCxnSpPr>
            <a:cxnSpLocks/>
          </p:cNvCxnSpPr>
          <p:nvPr/>
        </p:nvCxnSpPr>
        <p:spPr>
          <a:xfrm>
            <a:off x="1307876" y="3234447"/>
            <a:ext cx="95762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2CFFAA4-007A-6284-7B95-54B3559E4A1E}"/>
              </a:ext>
            </a:extLst>
          </p:cNvPr>
          <p:cNvCxnSpPr>
            <a:cxnSpLocks/>
          </p:cNvCxnSpPr>
          <p:nvPr/>
        </p:nvCxnSpPr>
        <p:spPr>
          <a:xfrm>
            <a:off x="1307876" y="5342107"/>
            <a:ext cx="9576248"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Subtitle 7">
            <a:extLst>
              <a:ext uri="{FF2B5EF4-FFF2-40B4-BE49-F238E27FC236}">
                <a16:creationId xmlns:a16="http://schemas.microsoft.com/office/drawing/2014/main" id="{2CFAA90A-62ED-E505-101E-911AC776E6A5}"/>
              </a:ext>
            </a:extLst>
          </p:cNvPr>
          <p:cNvSpPr>
            <a:spLocks noGrp="1"/>
          </p:cNvSpPr>
          <p:nvPr>
            <p:ph type="subTitle" idx="1"/>
          </p:nvPr>
        </p:nvSpPr>
        <p:spPr>
          <a:xfrm>
            <a:off x="1777464" y="3531204"/>
            <a:ext cx="8637072" cy="977621"/>
          </a:xfrm>
        </p:spPr>
        <p:txBody>
          <a:bodyPr>
            <a:normAutofit fontScale="92500" lnSpcReduction="20000"/>
          </a:bodyPr>
          <a:lstStyle/>
          <a:p>
            <a:pPr algn="ctr"/>
            <a:r>
              <a:rPr lang="ce-Cyrl-RU" dirty="0"/>
              <a:t>ингушские притчи </a:t>
            </a:r>
            <a:br>
              <a:rPr lang="ce-Cyrl-RU" dirty="0"/>
            </a:br>
            <a:r>
              <a:rPr lang="ce-Cyrl-RU" dirty="0"/>
              <a:t>с переводом на русский, чеченский и Английский языки.</a:t>
            </a:r>
            <a:br>
              <a:rPr lang="ce-Cyrl-RU" dirty="0"/>
            </a:br>
            <a:r>
              <a:rPr lang="ru-RU" dirty="0"/>
              <a:t>Р</a:t>
            </a:r>
            <a:r>
              <a:rPr lang="ce-Cyrl-RU" dirty="0"/>
              <a:t>азбор лексики и грамматики.</a:t>
            </a:r>
            <a:endParaRPr lang="nl-BE" dirty="0"/>
          </a:p>
          <a:p>
            <a:endParaRPr lang="nl-BE" dirty="0"/>
          </a:p>
        </p:txBody>
      </p:sp>
    </p:spTree>
    <p:extLst>
      <p:ext uri="{BB962C8B-B14F-4D97-AF65-F5344CB8AC3E}">
        <p14:creationId xmlns:p14="http://schemas.microsoft.com/office/powerpoint/2010/main" val="3287819153"/>
      </p:ext>
    </p:extLst>
  </p:cSld>
  <p:clrMapOvr>
    <a:masterClrMapping/>
  </p:clrMapOvr>
  <mc:AlternateContent xmlns:mc="http://schemas.openxmlformats.org/markup-compatibility/2006" xmlns:p14="http://schemas.microsoft.com/office/powerpoint/2010/main">
    <mc:Choice Requires="p14">
      <p:transition p14:dur="0" advTm="2000"/>
    </mc:Choice>
    <mc:Fallback xmlns="">
      <p:transition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DEEFE-FAC7-B414-5EE3-E89A0F227BF5}"/>
              </a:ext>
            </a:extLst>
          </p:cNvPr>
          <p:cNvSpPr>
            <a:spLocks noGrp="1"/>
          </p:cNvSpPr>
          <p:nvPr>
            <p:ph type="title"/>
          </p:nvPr>
        </p:nvSpPr>
        <p:spPr>
          <a:xfrm>
            <a:off x="1294363" y="223737"/>
            <a:ext cx="9603275" cy="493813"/>
          </a:xfrm>
        </p:spPr>
        <p:txBody>
          <a:bodyPr>
            <a:normAutofit fontScale="90000"/>
          </a:bodyPr>
          <a:lstStyle/>
          <a:p>
            <a:pPr algn="ctr"/>
            <a:r>
              <a:rPr lang="ce-Cyrl-RU" dirty="0"/>
              <a:t>Мудрые наставления наших предков</a:t>
            </a:r>
            <a:endParaRPr lang="nl-BE" dirty="0"/>
          </a:p>
        </p:txBody>
      </p:sp>
      <p:pic>
        <p:nvPicPr>
          <p:cNvPr id="5" name="Content Placeholder 4">
            <a:extLst>
              <a:ext uri="{FF2B5EF4-FFF2-40B4-BE49-F238E27FC236}">
                <a16:creationId xmlns:a16="http://schemas.microsoft.com/office/drawing/2014/main" id="{6A46817F-2590-AF4F-062B-7810BBC5A9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55422" y="2171671"/>
            <a:ext cx="1969259" cy="3449638"/>
          </a:xfrm>
          <a:prstGeom prst="rect">
            <a:avLst/>
          </a:prstGeom>
        </p:spPr>
      </p:pic>
      <p:pic>
        <p:nvPicPr>
          <p:cNvPr id="8" name="Picture 7">
            <a:extLst>
              <a:ext uri="{FF2B5EF4-FFF2-40B4-BE49-F238E27FC236}">
                <a16:creationId xmlns:a16="http://schemas.microsoft.com/office/drawing/2014/main" id="{73DC7B53-5EC4-58F2-9016-E24BFB8750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2455" y="2171671"/>
            <a:ext cx="3011997" cy="3449638"/>
          </a:xfrm>
          <a:prstGeom prst="rect">
            <a:avLst/>
          </a:prstGeom>
        </p:spPr>
      </p:pic>
      <p:sp>
        <p:nvSpPr>
          <p:cNvPr id="6" name="Subtitle 7">
            <a:extLst>
              <a:ext uri="{FF2B5EF4-FFF2-40B4-BE49-F238E27FC236}">
                <a16:creationId xmlns:a16="http://schemas.microsoft.com/office/drawing/2014/main" id="{F8D657EF-BD2E-4F0B-971C-809E230094C5}"/>
              </a:ext>
            </a:extLst>
          </p:cNvPr>
          <p:cNvSpPr txBox="1">
            <a:spLocks/>
          </p:cNvSpPr>
          <p:nvPr/>
        </p:nvSpPr>
        <p:spPr>
          <a:xfrm>
            <a:off x="1777464" y="768955"/>
            <a:ext cx="8637072" cy="843945"/>
          </a:xfrm>
          <a:prstGeom prst="rect">
            <a:avLst/>
          </a:prstGeom>
        </p:spPr>
        <p:txBody>
          <a:bodyPr vert="horz" lIns="91440" tIns="91440" rIns="91440" bIns="91440" rtlCol="0">
            <a:normAutofit/>
          </a:bodyPr>
          <a:lstStyle>
            <a:lvl1pPr indent="0" algn="ctr" defTabSz="914400">
              <a:lnSpc>
                <a:spcPct val="120000"/>
              </a:lnSpc>
              <a:spcBef>
                <a:spcPts val="1000"/>
              </a:spcBef>
              <a:buClr>
                <a:schemeClr val="accent1"/>
              </a:buClr>
              <a:buSzPct val="100000"/>
              <a:buFont typeface="Arial" panose="020B0604020202020204" pitchFamily="34" charset="0"/>
              <a:buNone/>
              <a:defRPr b="0" cap="all" baseline="0">
                <a:effectLst/>
              </a:defRPr>
            </a:lvl1pPr>
            <a:lvl2pPr indent="0" algn="ctr" defTabSz="914400">
              <a:lnSpc>
                <a:spcPct val="120000"/>
              </a:lnSpc>
              <a:spcBef>
                <a:spcPts val="500"/>
              </a:spcBef>
              <a:buClr>
                <a:schemeClr val="accent1"/>
              </a:buClr>
              <a:buSzPct val="100000"/>
              <a:buFont typeface="Arial" panose="020B0604020202020204" pitchFamily="34" charset="0"/>
              <a:buNone/>
              <a:defRPr cap="none" baseline="0">
                <a:effectLst/>
              </a:defRPr>
            </a:lvl2pPr>
            <a:lvl3pPr indent="0" algn="ctr" defTabSz="914400">
              <a:lnSpc>
                <a:spcPct val="120000"/>
              </a:lnSpc>
              <a:spcBef>
                <a:spcPts val="500"/>
              </a:spcBef>
              <a:buClr>
                <a:schemeClr val="accent1"/>
              </a:buClr>
              <a:buSzPct val="100000"/>
              <a:buFont typeface="Arial" panose="020B0604020202020204" pitchFamily="34" charset="0"/>
              <a:buNone/>
              <a:defRPr>
                <a:effectLst/>
              </a:defRPr>
            </a:lvl3pPr>
            <a:lvl4pPr indent="0" algn="ctr" defTabSz="914400">
              <a:lnSpc>
                <a:spcPct val="120000"/>
              </a:lnSpc>
              <a:spcBef>
                <a:spcPts val="500"/>
              </a:spcBef>
              <a:buClr>
                <a:schemeClr val="accent1"/>
              </a:buClr>
              <a:buSzPct val="100000"/>
              <a:buFont typeface="Arial" panose="020B0604020202020204" pitchFamily="34" charset="0"/>
              <a:buNone/>
              <a:defRPr sz="1600" cap="none" baseline="0">
                <a:effectLst/>
              </a:defRPr>
            </a:lvl4pPr>
            <a:lvl5pPr indent="0" algn="ctr" defTabSz="914400">
              <a:lnSpc>
                <a:spcPct val="120000"/>
              </a:lnSpc>
              <a:spcBef>
                <a:spcPts val="500"/>
              </a:spcBef>
              <a:buClr>
                <a:schemeClr val="accent1"/>
              </a:buClr>
              <a:buSzPct val="100000"/>
              <a:buFont typeface="Arial" panose="020B0604020202020204" pitchFamily="34" charset="0"/>
              <a:buNone/>
              <a:defRPr sz="1600">
                <a:effectLst/>
              </a:defRPr>
            </a:lvl5pPr>
            <a:lvl6pPr indent="0" algn="ctr" defTabSz="914400">
              <a:lnSpc>
                <a:spcPct val="120000"/>
              </a:lnSpc>
              <a:spcBef>
                <a:spcPts val="500"/>
              </a:spcBef>
              <a:buClr>
                <a:schemeClr val="accent1"/>
              </a:buClr>
              <a:buSzPct val="100000"/>
              <a:buFont typeface="Arial" panose="020B0604020202020204" pitchFamily="34" charset="0"/>
              <a:buNone/>
              <a:defRPr sz="1600">
                <a:effectLst/>
              </a:defRPr>
            </a:lvl6pPr>
            <a:lvl7pPr indent="0" algn="ctr" defTabSz="914400">
              <a:lnSpc>
                <a:spcPct val="120000"/>
              </a:lnSpc>
              <a:spcBef>
                <a:spcPts val="500"/>
              </a:spcBef>
              <a:buClr>
                <a:schemeClr val="accent1"/>
              </a:buClr>
              <a:buSzPct val="100000"/>
              <a:buFont typeface="Arial" panose="020B0604020202020204" pitchFamily="34" charset="0"/>
              <a:buNone/>
              <a:defRPr sz="1600">
                <a:effectLst/>
              </a:defRPr>
            </a:lvl7pPr>
            <a:lvl8pPr indent="0" algn="ctr" defTabSz="914400">
              <a:lnSpc>
                <a:spcPct val="120000"/>
              </a:lnSpc>
              <a:spcBef>
                <a:spcPts val="500"/>
              </a:spcBef>
              <a:buClr>
                <a:schemeClr val="accent1"/>
              </a:buClr>
              <a:buSzPct val="100000"/>
              <a:buFont typeface="Arial" panose="020B0604020202020204" pitchFamily="34" charset="0"/>
              <a:buNone/>
              <a:defRPr sz="1600" baseline="0">
                <a:effectLst/>
              </a:defRPr>
            </a:lvl8pPr>
            <a:lvl9pPr indent="0" algn="ctr" defTabSz="914400">
              <a:lnSpc>
                <a:spcPct val="120000"/>
              </a:lnSpc>
              <a:spcBef>
                <a:spcPts val="500"/>
              </a:spcBef>
              <a:buClr>
                <a:schemeClr val="accent1"/>
              </a:buClr>
              <a:buSzPct val="100000"/>
              <a:buFont typeface="Arial" panose="020B0604020202020204" pitchFamily="34" charset="0"/>
              <a:buNone/>
              <a:defRPr sz="1600" baseline="0">
                <a:effectLst/>
              </a:defRPr>
            </a:lvl9pPr>
          </a:lstStyle>
          <a:p>
            <a:r>
              <a:rPr lang="ce-Cyrl-RU" dirty="0"/>
              <a:t>Из ингушского фольклора</a:t>
            </a:r>
            <a:br>
              <a:rPr lang="ce-Cyrl-RU" dirty="0"/>
            </a:br>
            <a:r>
              <a:rPr lang="ce-Cyrl-RU" dirty="0"/>
              <a:t>И.А. Дахкильгов, 2000 г.</a:t>
            </a:r>
            <a:endParaRPr lang="nl-BE" dirty="0"/>
          </a:p>
          <a:p>
            <a:endParaRPr lang="nl-BE" dirty="0"/>
          </a:p>
        </p:txBody>
      </p:sp>
    </p:spTree>
    <p:extLst>
      <p:ext uri="{BB962C8B-B14F-4D97-AF65-F5344CB8AC3E}">
        <p14:creationId xmlns:p14="http://schemas.microsoft.com/office/powerpoint/2010/main" val="3511886794"/>
      </p:ext>
    </p:extLst>
  </p:cSld>
  <p:clrMapOvr>
    <a:masterClrMapping/>
  </p:clrMapOvr>
  <mc:AlternateContent xmlns:mc="http://schemas.openxmlformats.org/markup-compatibility/2006" xmlns:p14="http://schemas.microsoft.com/office/powerpoint/2010/main">
    <mc:Choice Requires="p14">
      <p:transition spd="med" p14:dur="700" advTm="2000">
        <p:fade/>
      </p:transition>
    </mc:Choice>
    <mc:Fallback xmlns="">
      <p:transition spd="med"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CC4DD-6064-8AF3-DEC8-492C1657613F}"/>
              </a:ext>
            </a:extLst>
          </p:cNvPr>
          <p:cNvSpPr>
            <a:spLocks noGrp="1"/>
          </p:cNvSpPr>
          <p:nvPr>
            <p:ph type="ctrTitle"/>
          </p:nvPr>
        </p:nvSpPr>
        <p:spPr>
          <a:xfrm>
            <a:off x="1777464" y="198765"/>
            <a:ext cx="8637073" cy="239101"/>
          </a:xfrm>
        </p:spPr>
        <p:txBody>
          <a:bodyPr>
            <a:normAutofit/>
          </a:bodyPr>
          <a:lstStyle/>
          <a:p>
            <a:pPr algn="ctr"/>
            <a:r>
              <a:rPr lang="ce-Cyrl-RU" sz="1400" dirty="0"/>
              <a:t>предисловие</a:t>
            </a:r>
            <a:endParaRPr lang="nl-BE" sz="1400" dirty="0"/>
          </a:p>
        </p:txBody>
      </p:sp>
    </p:spTree>
    <p:extLst>
      <p:ext uri="{BB962C8B-B14F-4D97-AF65-F5344CB8AC3E}">
        <p14:creationId xmlns:p14="http://schemas.microsoft.com/office/powerpoint/2010/main" val="253645785"/>
      </p:ext>
    </p:extLst>
  </p:cSld>
  <p:clrMapOvr>
    <a:masterClrMapping/>
  </p:clrMapOvr>
  <mc:AlternateContent xmlns:mc="http://schemas.openxmlformats.org/markup-compatibility/2006" xmlns:p14="http://schemas.microsoft.com/office/powerpoint/2010/main">
    <mc:Choice Requires="p14">
      <p:transition spd="med" p14:dur="700" advTm="176000">
        <p:fade/>
      </p:transition>
    </mc:Choice>
    <mc:Fallback xmlns="">
      <p:transition spd="med" advTm="176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CF6D9B2-7B50-314B-634A-73A548DB36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532" y="1244970"/>
            <a:ext cx="6117074" cy="3336586"/>
          </a:xfrm>
          <a:prstGeom prst="rect">
            <a:avLst/>
          </a:prstGeom>
        </p:spPr>
      </p:pic>
      <p:sp>
        <p:nvSpPr>
          <p:cNvPr id="8" name="Title 7">
            <a:extLst>
              <a:ext uri="{FF2B5EF4-FFF2-40B4-BE49-F238E27FC236}">
                <a16:creationId xmlns:a16="http://schemas.microsoft.com/office/drawing/2014/main" id="{1329C50E-74C0-7ABA-F08B-A63C7E035D85}"/>
              </a:ext>
            </a:extLst>
          </p:cNvPr>
          <p:cNvSpPr txBox="1">
            <a:spLocks noGrp="1"/>
          </p:cNvSpPr>
          <p:nvPr>
            <p:ph type="title" idx="4294967295"/>
          </p:nvPr>
        </p:nvSpPr>
        <p:spPr>
          <a:xfrm>
            <a:off x="6716226" y="1952171"/>
            <a:ext cx="4965970"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a:ln>
                  <a:noFill/>
                </a:ln>
                <a:solidFill>
                  <a:srgbClr val="CC6600"/>
                </a:solidFill>
                <a:effectLst/>
                <a:uLnTx/>
                <a:uFillTx/>
                <a:latin typeface="+mj-lt"/>
                <a:ea typeface="+mn-ea"/>
                <a:cs typeface="+mn-cs"/>
              </a:rPr>
              <a:t>Са дешал чIоагIагI да цун эздел</a:t>
            </a:r>
            <a:r>
              <a:rPr kumimoji="0" lang="ce-Cyrl-RU" sz="2400" b="1" i="0" u="none" strike="noStrike" kern="1200" cap="none" spc="0" normalizeH="0" baseline="0" noProof="0" dirty="0">
                <a:ln>
                  <a:noFill/>
                </a:ln>
                <a:solidFill>
                  <a:srgbClr val="CC6600"/>
                </a:solidFill>
                <a:effectLst/>
                <a:uLnTx/>
                <a:uFillTx/>
                <a:latin typeface="+mj-lt"/>
                <a:ea typeface="+mn-ea"/>
                <a:cs typeface="+mn-cs"/>
              </a:rPr>
              <a:t> </a:t>
            </a:r>
            <a:endParaRPr kumimoji="0" lang="nl-BE" sz="2400" b="1" i="0" u="none" strike="noStrike" kern="1200" cap="none" spc="0" normalizeH="0" baseline="0" noProof="0" dirty="0">
              <a:ln>
                <a:noFill/>
              </a:ln>
              <a:solidFill>
                <a:srgbClr val="CC6600"/>
              </a:solidFill>
              <a:effectLst/>
              <a:uLnTx/>
              <a:uFillTx/>
              <a:latin typeface="Gill Sans MT" panose="020B0502020104020203"/>
              <a:ea typeface="+mn-ea"/>
              <a:cs typeface="+mn-cs"/>
            </a:endParaRPr>
          </a:p>
        </p:txBody>
      </p:sp>
      <p:sp>
        <p:nvSpPr>
          <p:cNvPr id="10" name="TextBox 9">
            <a:extLst>
              <a:ext uri="{FF2B5EF4-FFF2-40B4-BE49-F238E27FC236}">
                <a16:creationId xmlns:a16="http://schemas.microsoft.com/office/drawing/2014/main" id="{6343BD79-EADF-39AF-26F8-D7E577B6C3C9}"/>
              </a:ext>
            </a:extLst>
          </p:cNvPr>
          <p:cNvSpPr txBox="1"/>
          <p:nvPr/>
        </p:nvSpPr>
        <p:spPr>
          <a:xfrm>
            <a:off x="7322585" y="1322794"/>
            <a:ext cx="3952671"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ce-Cyrl-RU" sz="3200" b="1" i="0" u="none" strike="noStrike" kern="1200" cap="none" spc="0" normalizeH="0" baseline="0" noProof="0" dirty="0">
                <a:ln>
                  <a:noFill/>
                </a:ln>
                <a:solidFill>
                  <a:srgbClr val="CC6600"/>
                </a:solidFill>
                <a:effectLst/>
                <a:uLnTx/>
                <a:uFillTx/>
                <a:latin typeface="Alasassy Caps"/>
                <a:ea typeface="+mn-ea"/>
                <a:cs typeface="+mn-cs"/>
              </a:rPr>
              <a:t>№ 1</a:t>
            </a:r>
            <a:endParaRPr kumimoji="0" lang="nl-BE" sz="3200" b="1" i="0" u="none" strike="noStrike" kern="1200" cap="none" spc="0" normalizeH="0" baseline="0" noProof="0" dirty="0">
              <a:ln>
                <a:noFill/>
              </a:ln>
              <a:solidFill>
                <a:srgbClr val="CC6600"/>
              </a:solidFill>
              <a:effectLst/>
              <a:uLnTx/>
              <a:uFillTx/>
              <a:latin typeface="Alasassy Caps"/>
              <a:ea typeface="+mn-ea"/>
              <a:cs typeface="+mn-cs"/>
            </a:endParaRPr>
          </a:p>
        </p:txBody>
      </p:sp>
      <p:sp>
        <p:nvSpPr>
          <p:cNvPr id="11" name="TextBox 10">
            <a:extLst>
              <a:ext uri="{FF2B5EF4-FFF2-40B4-BE49-F238E27FC236}">
                <a16:creationId xmlns:a16="http://schemas.microsoft.com/office/drawing/2014/main" id="{C2A48C73-175C-D8D8-25C7-9E0DDE77C77F}"/>
              </a:ext>
            </a:extLst>
          </p:cNvPr>
          <p:cNvSpPr txBox="1"/>
          <p:nvPr/>
        </p:nvSpPr>
        <p:spPr>
          <a:xfrm>
            <a:off x="6589766" y="3381439"/>
            <a:ext cx="5369668" cy="101566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2000" b="1" i="0" u="none" strike="noStrike" kern="1200" cap="none" spc="0" normalizeH="0" baseline="0" noProof="0" dirty="0">
                <a:ln>
                  <a:noFill/>
                </a:ln>
                <a:solidFill>
                  <a:srgbClr val="CC6600"/>
                </a:solidFill>
                <a:effectLst/>
                <a:uLnTx/>
                <a:uFillTx/>
                <a:ea typeface="+mn-ea"/>
                <a:cs typeface="+mn-cs"/>
              </a:rPr>
              <a:t>Его благородство сильнее моих слов</a:t>
            </a:r>
            <a:br>
              <a:rPr kumimoji="0" lang="ce-Cyrl-RU" sz="2000" b="1" i="0" u="none" strike="noStrike" kern="1200" cap="none" spc="0" normalizeH="0" baseline="0" noProof="0" dirty="0">
                <a:ln>
                  <a:noFill/>
                </a:ln>
                <a:solidFill>
                  <a:srgbClr val="CC6600"/>
                </a:solidFill>
                <a:effectLst/>
                <a:uLnTx/>
                <a:uFillTx/>
                <a:ea typeface="+mn-ea"/>
                <a:cs typeface="+mn-cs"/>
              </a:rPr>
            </a:br>
            <a:br>
              <a:rPr kumimoji="0" lang="ce-Cyrl-RU" sz="2000" b="1" i="0" u="none" strike="noStrike" kern="1200" cap="none" spc="0" normalizeH="0" baseline="0" noProof="0" dirty="0">
                <a:ln>
                  <a:noFill/>
                </a:ln>
                <a:solidFill>
                  <a:srgbClr val="CC6600"/>
                </a:solidFill>
                <a:effectLst/>
                <a:uLnTx/>
                <a:uFillTx/>
                <a:ea typeface="+mn-ea"/>
                <a:cs typeface="+mn-cs"/>
              </a:rPr>
            </a:br>
            <a:r>
              <a:rPr kumimoji="0" lang="en-US" sz="2000" b="1" i="0" u="none" strike="noStrike" kern="1200" cap="none" spc="0" normalizeH="0" baseline="0" noProof="0" dirty="0">
                <a:ln>
                  <a:noFill/>
                </a:ln>
                <a:solidFill>
                  <a:srgbClr val="CC6600"/>
                </a:solidFill>
                <a:effectLst/>
                <a:uLnTx/>
                <a:uFillTx/>
                <a:latin typeface="Gill Sans MT" panose="020B0502020104020203"/>
                <a:ea typeface="+mn-ea"/>
                <a:cs typeface="+mn-cs"/>
              </a:rPr>
              <a:t>His nobility speaks louder than my words</a:t>
            </a:r>
            <a:endParaRPr kumimoji="0" lang="nl-BE" sz="2000" b="0" i="0" u="none" strike="noStrike" kern="1200" cap="none" spc="0" normalizeH="0" baseline="0" noProof="0" dirty="0">
              <a:ln>
                <a:noFill/>
              </a:ln>
              <a:solidFill>
                <a:srgbClr val="CC6600"/>
              </a:solidFill>
              <a:effectLst/>
              <a:uLnTx/>
              <a:uFillTx/>
              <a:latin typeface="Gill Sans MT" panose="020B0502020104020203"/>
              <a:ea typeface="+mn-ea"/>
              <a:cs typeface="+mn-cs"/>
            </a:endParaRPr>
          </a:p>
        </p:txBody>
      </p:sp>
      <p:cxnSp>
        <p:nvCxnSpPr>
          <p:cNvPr id="13" name="Straight Connector 12">
            <a:extLst>
              <a:ext uri="{FF2B5EF4-FFF2-40B4-BE49-F238E27FC236}">
                <a16:creationId xmlns:a16="http://schemas.microsoft.com/office/drawing/2014/main" id="{1F44E224-A0A3-F28E-221F-EB5BC8440BAA}"/>
              </a:ext>
            </a:extLst>
          </p:cNvPr>
          <p:cNvCxnSpPr>
            <a:cxnSpLocks/>
          </p:cNvCxnSpPr>
          <p:nvPr/>
        </p:nvCxnSpPr>
        <p:spPr>
          <a:xfrm>
            <a:off x="8369925" y="1899972"/>
            <a:ext cx="1556425" cy="0"/>
          </a:xfrm>
          <a:prstGeom prst="line">
            <a:avLst/>
          </a:prstGeom>
          <a:ln>
            <a:solidFill>
              <a:srgbClr val="CC66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B7D954C-17E0-A338-D96F-6134F0C5115A}"/>
              </a:ext>
            </a:extLst>
          </p:cNvPr>
          <p:cNvCxnSpPr>
            <a:cxnSpLocks/>
          </p:cNvCxnSpPr>
          <p:nvPr/>
        </p:nvCxnSpPr>
        <p:spPr>
          <a:xfrm>
            <a:off x="8369925" y="2558211"/>
            <a:ext cx="1556425" cy="0"/>
          </a:xfrm>
          <a:prstGeom prst="line">
            <a:avLst/>
          </a:prstGeom>
          <a:ln>
            <a:solidFill>
              <a:srgbClr val="CC66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34AFEBD-0312-5DC2-8668-33F8363DE6B2}"/>
              </a:ext>
            </a:extLst>
          </p:cNvPr>
          <p:cNvCxnSpPr>
            <a:cxnSpLocks/>
          </p:cNvCxnSpPr>
          <p:nvPr/>
        </p:nvCxnSpPr>
        <p:spPr>
          <a:xfrm>
            <a:off x="8369925" y="3867825"/>
            <a:ext cx="1556425" cy="0"/>
          </a:xfrm>
          <a:prstGeom prst="line">
            <a:avLst/>
          </a:prstGeom>
          <a:ln>
            <a:solidFill>
              <a:srgbClr val="CC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1401332"/>
      </p:ext>
    </p:extLst>
  </p:cSld>
  <p:clrMapOvr>
    <a:masterClrMapping/>
  </p:clrMapOvr>
  <mc:AlternateContent xmlns:mc="http://schemas.openxmlformats.org/markup-compatibility/2006" xmlns:p14="http://schemas.microsoft.com/office/powerpoint/2010/main">
    <mc:Choice Requires="p14">
      <p:transition spd="med" p14:dur="700" advTm="2000">
        <p:fade/>
      </p:transition>
    </mc:Choice>
    <mc:Fallback xmlns="">
      <p:transition spd="med" advTm="2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_inh_001">
            <a:hlinkClick r:id="" action="ppaction://media"/>
            <a:extLst>
              <a:ext uri="{FF2B5EF4-FFF2-40B4-BE49-F238E27FC236}">
                <a16:creationId xmlns:a16="http://schemas.microsoft.com/office/drawing/2014/main" id="{905DB5AE-7B3F-AF54-4805-CF9550DA559B}"/>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470170" y="184826"/>
            <a:ext cx="398834" cy="398834"/>
          </a:xfrm>
          <a:prstGeom prst="rect">
            <a:avLst/>
          </a:prstGeom>
        </p:spPr>
      </p:pic>
      <p:sp>
        <p:nvSpPr>
          <p:cNvPr id="7" name="TextBox 6">
            <a:extLst>
              <a:ext uri="{FF2B5EF4-FFF2-40B4-BE49-F238E27FC236}">
                <a16:creationId xmlns:a16="http://schemas.microsoft.com/office/drawing/2014/main" id="{388FC515-7E5F-5531-8FDD-8728149AFB7C}"/>
              </a:ext>
            </a:extLst>
          </p:cNvPr>
          <p:cNvSpPr txBox="1"/>
          <p:nvPr/>
        </p:nvSpPr>
        <p:spPr>
          <a:xfrm>
            <a:off x="885217" y="1615629"/>
            <a:ext cx="10525328" cy="1938992"/>
          </a:xfrm>
          <a:prstGeom prst="rect">
            <a:avLst/>
          </a:prstGeom>
          <a:noFill/>
        </p:spPr>
        <p:txBody>
          <a:bodyPr wrap="square" rtlCol="0">
            <a:spAutoFit/>
          </a:bodyPr>
          <a:lstStyle/>
          <a:p>
            <a:r>
              <a:rPr lang="ru-RU" sz="2400" dirty="0"/>
              <a:t>Гулбенна нах багӀача цӀагӀа Мохьмад-пайхамар чуваьлча, берригаш гӀайттаб. Пайхамара Ӏоха а аьнна, уж Ӏохайшача, цхьа зӀамига саг латтийсав. Пайхамара шозлагӀа а а</a:t>
            </a:r>
            <a:r>
              <a:rPr lang="ce-Cyrl-RU" sz="2400" dirty="0"/>
              <a:t>ь</a:t>
            </a:r>
            <a:r>
              <a:rPr lang="ru-RU" sz="2400" dirty="0"/>
              <a:t>ннад цунга, Ӏоха. ТӀаккха а хайнавац. Пайхамара яхар хӀана дац Ӏа, Ӏоха ях хьога, оалаш, бехкаш даха нах болабелча, Мохьмад-пайхамара аьннад:</a:t>
            </a:r>
          </a:p>
          <a:p>
            <a:r>
              <a:rPr lang="ru-RU" sz="2400" dirty="0"/>
              <a:t>- Бехкаш ма даха цох. Са дешал чӀоагӀагӀа да цун сих доалла эздел.</a:t>
            </a:r>
            <a:endParaRPr lang="nl-BE" sz="2400" dirty="0"/>
          </a:p>
        </p:txBody>
      </p:sp>
      <p:sp>
        <p:nvSpPr>
          <p:cNvPr id="8" name="Title 7">
            <a:extLst>
              <a:ext uri="{FF2B5EF4-FFF2-40B4-BE49-F238E27FC236}">
                <a16:creationId xmlns:a16="http://schemas.microsoft.com/office/drawing/2014/main" id="{0443C54C-441A-C5BB-DBFD-00B50500ACB0}"/>
              </a:ext>
            </a:extLst>
          </p:cNvPr>
          <p:cNvSpPr txBox="1">
            <a:spLocks noGrp="1"/>
          </p:cNvSpPr>
          <p:nvPr>
            <p:ph type="title" idx="4294967295"/>
          </p:nvPr>
        </p:nvSpPr>
        <p:spPr>
          <a:xfrm>
            <a:off x="1797051" y="857983"/>
            <a:ext cx="6706870"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a:ln>
                  <a:noFill/>
                </a:ln>
                <a:solidFill>
                  <a:schemeClr val="tx1"/>
                </a:solidFill>
                <a:effectLst/>
                <a:uLnTx/>
                <a:uFillTx/>
                <a:latin typeface="+mn-lt"/>
                <a:ea typeface="+mn-ea"/>
                <a:cs typeface="+mn-cs"/>
              </a:rPr>
              <a:t>1</a:t>
            </a:r>
            <a:r>
              <a:rPr kumimoji="0" lang="en-US" sz="2400" b="1" i="0" u="none" strike="noStrike" kern="1200" cap="none" spc="0" normalizeH="0" baseline="0" noProof="0" dirty="0">
                <a:ln>
                  <a:noFill/>
                </a:ln>
                <a:solidFill>
                  <a:schemeClr val="tx1"/>
                </a:solidFill>
                <a:effectLst/>
                <a:uLnTx/>
                <a:uFillTx/>
                <a:latin typeface="+mn-lt"/>
                <a:ea typeface="+mn-ea"/>
                <a:cs typeface="+mn-cs"/>
              </a:rPr>
              <a:t>. </a:t>
            </a:r>
            <a:r>
              <a:rPr kumimoji="0" lang="ru-RU" sz="2400" b="1" i="0" u="none" strike="noStrike" kern="1200" cap="none" spc="0" normalizeH="0" baseline="0" noProof="0" dirty="0">
                <a:ln>
                  <a:noFill/>
                </a:ln>
                <a:solidFill>
                  <a:schemeClr val="tx1"/>
                </a:solidFill>
                <a:effectLst/>
                <a:uLnTx/>
                <a:uFillTx/>
                <a:latin typeface="+mn-lt"/>
                <a:ea typeface="+mn-ea"/>
                <a:cs typeface="+mn-cs"/>
              </a:rPr>
              <a:t>Са дешал ч1оаг</a:t>
            </a:r>
            <a:r>
              <a:rPr kumimoji="0" lang="nl-BE" sz="2400" b="1" i="0" u="none" strike="noStrike" kern="1200" cap="none" spc="0" normalizeH="0" baseline="0" noProof="0" dirty="0">
                <a:ln>
                  <a:noFill/>
                </a:ln>
                <a:solidFill>
                  <a:schemeClr val="tx1"/>
                </a:solidFill>
                <a:effectLst/>
                <a:uLnTx/>
                <a:uFillTx/>
                <a:latin typeface="+mn-lt"/>
                <a:ea typeface="+mn-ea"/>
                <a:cs typeface="+mn-cs"/>
              </a:rPr>
              <a:t>I</a:t>
            </a:r>
            <a:r>
              <a:rPr kumimoji="0" lang="ru-RU" sz="2400" b="1" i="0" u="none" strike="noStrike" kern="1200" cap="none" spc="0" normalizeH="0" baseline="0" noProof="0" dirty="0">
                <a:ln>
                  <a:noFill/>
                </a:ln>
                <a:solidFill>
                  <a:schemeClr val="tx1"/>
                </a:solidFill>
                <a:effectLst/>
                <a:uLnTx/>
                <a:uFillTx/>
                <a:latin typeface="+mn-lt"/>
                <a:ea typeface="+mn-ea"/>
                <a:cs typeface="+mn-cs"/>
              </a:rPr>
              <a:t>аг</a:t>
            </a:r>
            <a:r>
              <a:rPr kumimoji="0" lang="nl-BE" sz="2400" b="1" i="0" u="none" strike="noStrike" kern="1200" cap="none" spc="0" normalizeH="0" baseline="0" noProof="0" dirty="0">
                <a:ln>
                  <a:noFill/>
                </a:ln>
                <a:solidFill>
                  <a:schemeClr val="tx1"/>
                </a:solidFill>
                <a:effectLst/>
                <a:uLnTx/>
                <a:uFillTx/>
                <a:latin typeface="+mn-lt"/>
                <a:ea typeface="+mn-ea"/>
                <a:cs typeface="+mn-cs"/>
              </a:rPr>
              <a:t>I </a:t>
            </a:r>
            <a:r>
              <a:rPr kumimoji="0" lang="ru-RU" sz="2400" b="1" i="0" u="none" strike="noStrike" kern="1200" cap="none" spc="0" normalizeH="0" baseline="0" noProof="0" dirty="0">
                <a:ln>
                  <a:noFill/>
                </a:ln>
                <a:solidFill>
                  <a:schemeClr val="tx1"/>
                </a:solidFill>
                <a:effectLst/>
                <a:uLnTx/>
                <a:uFillTx/>
                <a:latin typeface="+mn-lt"/>
                <a:ea typeface="+mn-ea"/>
                <a:cs typeface="+mn-cs"/>
              </a:rPr>
              <a:t>да цун эздел</a:t>
            </a:r>
            <a:endParaRPr kumimoji="0" lang="nl-BE" sz="24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2352826899"/>
      </p:ext>
    </p:extLst>
  </p:cSld>
  <p:clrMapOvr>
    <a:masterClrMapping/>
  </p:clrMapOvr>
  <mc:AlternateContent xmlns:mc="http://schemas.openxmlformats.org/markup-compatibility/2006" xmlns:p14="http://schemas.microsoft.com/office/powerpoint/2010/main">
    <mc:Choice Requires="p14">
      <p:transition spd="med" p14:dur="700" advTm="41000">
        <p:fade/>
      </p:transition>
    </mc:Choice>
    <mc:Fallback xmlns="">
      <p:transition spd="med" advTm="41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128"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DF90C-729C-3B9C-4997-1D0EDCAB43B2}"/>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1F4E762B-BE22-34F4-37FC-54D7F596ABD9}"/>
              </a:ext>
            </a:extLst>
          </p:cNvPr>
          <p:cNvSpPr txBox="1">
            <a:spLocks/>
          </p:cNvSpPr>
          <p:nvPr/>
        </p:nvSpPr>
        <p:spPr>
          <a:xfrm>
            <a:off x="869004" y="1275810"/>
            <a:ext cx="10379413" cy="378565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mn-lt"/>
                <a:ea typeface="+mn-ea"/>
                <a:cs typeface="+mn-cs"/>
              </a:rPr>
              <a:t>1. </a:t>
            </a:r>
            <a:r>
              <a:rPr kumimoji="0" lang="ru-RU" sz="2400" b="1" i="0" u="none" strike="noStrike" kern="1200" cap="none" spc="0" normalizeH="0" baseline="0" noProof="0" dirty="0">
                <a:ln>
                  <a:noFill/>
                </a:ln>
                <a:solidFill>
                  <a:prstClr val="black"/>
                </a:solidFill>
                <a:effectLst/>
                <a:uLnTx/>
                <a:uFillTx/>
                <a:latin typeface="+mn-lt"/>
                <a:ea typeface="+mn-ea"/>
                <a:cs typeface="+mn-cs"/>
              </a:rPr>
              <a:t>Его благородство сильнее моих слов</a:t>
            </a:r>
            <a:br>
              <a:rPr kumimoji="0" lang="ce-Cyrl-RU" sz="2400" b="1" i="0" u="none" strike="noStrike" kern="1200" cap="none" spc="0" normalizeH="0" baseline="0" noProof="0" dirty="0">
                <a:ln>
                  <a:noFill/>
                </a:ln>
                <a:solidFill>
                  <a:prstClr val="black"/>
                </a:solidFill>
                <a:effectLst/>
                <a:uLnTx/>
                <a:uFillTx/>
                <a:latin typeface="+mn-lt"/>
                <a:ea typeface="+mn-ea"/>
                <a:cs typeface="+mn-cs"/>
              </a:rPr>
            </a:br>
            <a:endParaRPr kumimoji="0" lang="ru-RU" sz="2400" b="1"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dirty="0">
                <a:ln>
                  <a:noFill/>
                </a:ln>
                <a:solidFill>
                  <a:prstClr val="black"/>
                </a:solidFill>
                <a:effectLst/>
                <a:uLnTx/>
                <a:uFillTx/>
                <a:latin typeface="+mn-lt"/>
                <a:ea typeface="+mn-ea"/>
                <a:cs typeface="+mn-cs"/>
              </a:rPr>
              <a:t>В одном доме собрались люди. Они сидели и беседовали. В это время вошел пророк Мухаммед. Все встали, приветствуя его. Пророк попросил их сесть, и тогда все сели. Один юноша продолжал стоять. Пророк повторно предложил ему сесть. Юноша продолжал стоять. На него зашикали: </a:t>
            </a:r>
            <a:r>
              <a:rPr kumimoji="0" lang="en-US" sz="2400" b="0" i="0" u="none" strike="noStrike" kern="1200" cap="none" spc="0" normalizeH="0" baseline="0" noProof="0" dirty="0">
                <a:ln>
                  <a:noFill/>
                </a:ln>
                <a:solidFill>
                  <a:prstClr val="black"/>
                </a:solidFill>
                <a:effectLst/>
                <a:uLnTx/>
                <a:uFillTx/>
                <a:latin typeface="Gill Sans MT" panose="020B0502020104020203"/>
                <a:ea typeface="+mn-ea"/>
                <a:cs typeface="+mn-cs"/>
              </a:rPr>
              <a:t> </a:t>
            </a:r>
            <a:r>
              <a:rPr kumimoji="0" lang="ru-RU" sz="2400" b="0" i="0" u="none" strike="noStrike" kern="1200" cap="none" spc="0" normalizeH="0" baseline="0" noProof="0" dirty="0">
                <a:ln>
                  <a:noFill/>
                </a:ln>
                <a:solidFill>
                  <a:prstClr val="black"/>
                </a:solidFill>
                <a:effectLst/>
                <a:uLnTx/>
                <a:uFillTx/>
                <a:latin typeface="+mn-lt"/>
                <a:ea typeface="+mn-ea"/>
                <a:cs typeface="+mn-cs"/>
              </a:rPr>
              <a:t>“Садись, тебе говорят. Для тебя слово пророка ничто не значит?”. Тогда Мухаммед-пророк сказал:</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dirty="0">
                <a:ln>
                  <a:noFill/>
                </a:ln>
                <a:solidFill>
                  <a:prstClr val="black"/>
                </a:solidFill>
                <a:effectLst/>
                <a:uLnTx/>
                <a:uFillTx/>
                <a:latin typeface="+mn-lt"/>
                <a:ea typeface="+mn-ea"/>
                <a:cs typeface="+mn-cs"/>
              </a:rPr>
              <a:t>“Не обижайте юношу. Благородство, впитавшееся в его душу, сильнее моих слов”.</a:t>
            </a:r>
            <a:r>
              <a:rPr kumimoji="0" lang="ce-Cyrl-RU" sz="2400" b="0" i="0" u="none" strike="noStrike" kern="1200" cap="none" spc="0" normalizeH="0" baseline="0" noProof="0" dirty="0">
                <a:ln>
                  <a:noFill/>
                </a:ln>
                <a:solidFill>
                  <a:prstClr val="black"/>
                </a:solidFill>
                <a:effectLst/>
                <a:uLnTx/>
                <a:uFillTx/>
                <a:latin typeface="+mn-lt"/>
                <a:ea typeface="+mn-ea"/>
                <a:cs typeface="+mn-cs"/>
              </a:rPr>
              <a:t> </a:t>
            </a:r>
            <a:endParaRPr kumimoji="0" lang="nl-BE" sz="2400" b="0" i="0" u="none" strike="noStrike" kern="1200" cap="none" spc="0" normalizeH="0" baseline="0" noProof="0" dirty="0">
              <a:ln>
                <a:noFill/>
              </a:ln>
              <a:solidFill>
                <a:prstClr val="black"/>
              </a:solidFill>
              <a:effectLst/>
              <a:uLnTx/>
              <a:uFillTx/>
              <a:latin typeface="Gill Sans MT" panose="020B0502020104020203"/>
              <a:ea typeface="+mn-ea"/>
              <a:cs typeface="+mn-cs"/>
            </a:endParaRPr>
          </a:p>
        </p:txBody>
      </p:sp>
      <p:sp>
        <p:nvSpPr>
          <p:cNvPr id="2" name="TextBox 1">
            <a:extLst>
              <a:ext uri="{FF2B5EF4-FFF2-40B4-BE49-F238E27FC236}">
                <a16:creationId xmlns:a16="http://schemas.microsoft.com/office/drawing/2014/main" id="{DD79485C-8E5D-861C-BF82-F93A3D3B61D5}"/>
              </a:ext>
            </a:extLst>
          </p:cNvPr>
          <p:cNvSpPr txBox="1"/>
          <p:nvPr/>
        </p:nvSpPr>
        <p:spPr>
          <a:xfrm>
            <a:off x="5108642" y="583660"/>
            <a:ext cx="1974716" cy="338554"/>
          </a:xfrm>
          <a:prstGeom prst="rect">
            <a:avLst/>
          </a:prstGeom>
          <a:solidFill>
            <a:srgbClr val="00B050"/>
          </a:solidFill>
        </p:spPr>
        <p:txBody>
          <a:bodyPr wrap="square" rtlCol="0">
            <a:spAutoFit/>
          </a:bodyPr>
          <a:lstStyle/>
          <a:p>
            <a:pPr algn="ctr"/>
            <a:r>
              <a:rPr lang="ce-Cyrl-RU" sz="1600" b="1" dirty="0"/>
              <a:t>РУССКИЙ</a:t>
            </a:r>
            <a:endParaRPr lang="nl-BE" sz="1600" dirty="0"/>
          </a:p>
        </p:txBody>
      </p:sp>
    </p:spTree>
    <p:extLst>
      <p:ext uri="{BB962C8B-B14F-4D97-AF65-F5344CB8AC3E}">
        <p14:creationId xmlns:p14="http://schemas.microsoft.com/office/powerpoint/2010/main" val="1265090629"/>
      </p:ext>
    </p:extLst>
  </p:cSld>
  <p:clrMapOvr>
    <a:masterClrMapping/>
  </p:clrMapOvr>
  <mc:AlternateContent xmlns:mc="http://schemas.openxmlformats.org/markup-compatibility/2006" xmlns:p14="http://schemas.microsoft.com/office/powerpoint/2010/main">
    <mc:Choice Requires="p14">
      <p:transition spd="med" p14:dur="700" advTm="2000">
        <p:fade/>
      </p:transition>
    </mc:Choice>
    <mc:Fallback xmlns="">
      <p:transition spd="med" advTm="2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3E228-0DFB-EEF1-2338-3AD6B9EA92A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3BEDB9C-78AC-CAD6-9DEC-DD7DD284558F}"/>
              </a:ext>
            </a:extLst>
          </p:cNvPr>
          <p:cNvSpPr txBox="1"/>
          <p:nvPr/>
        </p:nvSpPr>
        <p:spPr>
          <a:xfrm>
            <a:off x="5108642" y="583660"/>
            <a:ext cx="1974716" cy="338554"/>
          </a:xfrm>
          <a:prstGeom prst="rect">
            <a:avLst/>
          </a:prstGeom>
          <a:solidFill>
            <a:srgbClr val="00B050"/>
          </a:solidFill>
        </p:spPr>
        <p:txBody>
          <a:bodyPr wrap="square" rtlCol="0">
            <a:spAutoFit/>
          </a:bodyPr>
          <a:lstStyle/>
          <a:p>
            <a:pPr algn="ctr"/>
            <a:r>
              <a:rPr lang="en-US" sz="1600" b="1" dirty="0"/>
              <a:t>ENGLISH</a:t>
            </a:r>
            <a:endParaRPr lang="nl-BE" sz="1600" dirty="0"/>
          </a:p>
        </p:txBody>
      </p:sp>
      <p:sp>
        <p:nvSpPr>
          <p:cNvPr id="9" name="TextBox 8">
            <a:extLst>
              <a:ext uri="{FF2B5EF4-FFF2-40B4-BE49-F238E27FC236}">
                <a16:creationId xmlns:a16="http://schemas.microsoft.com/office/drawing/2014/main" id="{896AE75D-6FB0-0CE2-7060-2DE8ECBECE3C}"/>
              </a:ext>
            </a:extLst>
          </p:cNvPr>
          <p:cNvSpPr txBox="1"/>
          <p:nvPr/>
        </p:nvSpPr>
        <p:spPr>
          <a:xfrm>
            <a:off x="906294" y="2035371"/>
            <a:ext cx="10379413" cy="3046988"/>
          </a:xfrm>
          <a:prstGeom prst="rect">
            <a:avLst/>
          </a:prstGeom>
          <a:noFill/>
        </p:spPr>
        <p:txBody>
          <a:bodyPr wrap="square" rtlCol="0">
            <a:spAutoFit/>
          </a:bodyPr>
          <a:lstStyle/>
          <a:p>
            <a:r>
              <a:rPr lang="en-US" sz="2400" dirty="0"/>
              <a:t>A group of people had gathered in a house. They were sitting and chatting. At that moment, the Prophet Muhammad entered. Everyone stood up to greet him. The Prophet asked them to sit down, and they all sat down. One young man remained standing. The Prophet asked him again to sit down. The young man remained standing. They hissed at him: “Sit down, we’re telling you. Does the Prophet’s word mean nothing to you?” Then the Prophet Muhammad said:</a:t>
            </a:r>
          </a:p>
          <a:p>
            <a:r>
              <a:rPr lang="en-US" sz="2400" dirty="0"/>
              <a:t>- Do not offend the young man. The nobility ingrained in his soul is stronger than my words.</a:t>
            </a:r>
            <a:endParaRPr lang="nl-BE" sz="2400" dirty="0"/>
          </a:p>
        </p:txBody>
      </p:sp>
      <p:sp>
        <p:nvSpPr>
          <p:cNvPr id="2" name="Title 1">
            <a:extLst>
              <a:ext uri="{FF2B5EF4-FFF2-40B4-BE49-F238E27FC236}">
                <a16:creationId xmlns:a16="http://schemas.microsoft.com/office/drawing/2014/main" id="{FC9D6F66-8A53-46AC-84C3-415E9E7A949F}"/>
              </a:ext>
            </a:extLst>
          </p:cNvPr>
          <p:cNvSpPr txBox="1">
            <a:spLocks noGrp="1"/>
          </p:cNvSpPr>
          <p:nvPr>
            <p:ph type="title" idx="4294967295"/>
          </p:nvPr>
        </p:nvSpPr>
        <p:spPr>
          <a:xfrm>
            <a:off x="1894114" y="1332415"/>
            <a:ext cx="7968343"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ru-RU" sz="2400" b="1" i="0" u="none" strike="noStrike" kern="1200" cap="none" spc="0" normalizeH="0" baseline="0" noProof="0" dirty="0">
                <a:ln>
                  <a:noFill/>
                </a:ln>
                <a:solidFill>
                  <a:schemeClr val="tx1"/>
                </a:solidFill>
                <a:effectLst/>
                <a:uLnTx/>
                <a:uFillTx/>
                <a:latin typeface="+mn-lt"/>
                <a:ea typeface="+mn-ea"/>
                <a:cs typeface="+mn-cs"/>
              </a:rPr>
              <a:t>1</a:t>
            </a:r>
            <a:r>
              <a:rPr kumimoji="0" lang="en-US" sz="2400" b="1" i="0" u="none" strike="noStrike" kern="1200" cap="none" spc="0" normalizeH="0" baseline="0" noProof="0" dirty="0">
                <a:ln>
                  <a:noFill/>
                </a:ln>
                <a:solidFill>
                  <a:schemeClr val="tx1"/>
                </a:solidFill>
                <a:effectLst/>
                <a:uLnTx/>
                <a:uFillTx/>
                <a:latin typeface="+mn-lt"/>
                <a:ea typeface="+mn-ea"/>
                <a:cs typeface="+mn-cs"/>
              </a:rPr>
              <a:t>. His nobility speaks louder than my words</a:t>
            </a:r>
            <a:endParaRPr kumimoji="0" lang="nl-BE" sz="24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912258381"/>
      </p:ext>
    </p:extLst>
  </p:cSld>
  <p:clrMapOvr>
    <a:masterClrMapping/>
  </p:clrMapOvr>
  <mc:AlternateContent xmlns:mc="http://schemas.openxmlformats.org/markup-compatibility/2006" xmlns:p14="http://schemas.microsoft.com/office/powerpoint/2010/main">
    <mc:Choice Requires="p14">
      <p:transition spd="med" p14:dur="700" advTm="2000">
        <p:fade/>
      </p:transition>
    </mc:Choice>
    <mc:Fallback xmlns="">
      <p:transition spd="med" advTm="2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D386A-E652-F092-4302-9A5564B64EE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3E2E525-A17F-4826-347D-F47A09EB0F54}"/>
              </a:ext>
            </a:extLst>
          </p:cNvPr>
          <p:cNvSpPr txBox="1"/>
          <p:nvPr/>
        </p:nvSpPr>
        <p:spPr>
          <a:xfrm>
            <a:off x="906294" y="2090006"/>
            <a:ext cx="10379413" cy="3323987"/>
          </a:xfrm>
          <a:prstGeom prst="rect">
            <a:avLst/>
          </a:prstGeom>
          <a:noFill/>
        </p:spPr>
        <p:txBody>
          <a:bodyPr wrap="square" rtlCol="0">
            <a:spAutoFit/>
          </a:bodyPr>
          <a:lstStyle/>
          <a:p>
            <a:r>
              <a:rPr lang="ru-RU" sz="2400" dirty="0"/>
              <a:t>Гулбелла нах бохкучу цӀен</a:t>
            </a:r>
            <a:r>
              <a:rPr lang="ce-Cyrl-RU" sz="2400"/>
              <a:t>на</a:t>
            </a:r>
            <a:r>
              <a:rPr lang="ru-RU" sz="2400"/>
              <a:t> </a:t>
            </a:r>
            <a:r>
              <a:rPr lang="ru-RU" sz="2400" dirty="0"/>
              <a:t>чохь Мохьмад-пайхмар (Делера салам-маршал хуьлда цунна) чуваьлча, </a:t>
            </a:r>
            <a:r>
              <a:rPr lang="ce-Cyrl-RU" sz="2400" dirty="0"/>
              <a:t>берриш</a:t>
            </a:r>
            <a:r>
              <a:rPr lang="ru-RU" sz="2400" dirty="0"/>
              <a:t> гӀеттина. Пайхамаро охьаховша а аьлла, уьш охьахевшича, цхьа жима стаг лаьтташ висна. Пайхамаро шозлагӀа а аьлла цуьнга, охьахаа. ТӀаккха а хиъна вац. Пайхамаро бохург хӀунда дац ахьа, охьахаа боху хьоьга, олуш, бехкаш даха нах болабелча, Мохьмад-пайхамаро (Делера салам-маршал хуьлда цунна) аьлла:</a:t>
            </a:r>
          </a:p>
          <a:p>
            <a:endParaRPr lang="ru-RU" sz="2400" dirty="0"/>
          </a:p>
          <a:p>
            <a:r>
              <a:rPr lang="ru-RU" sz="2400" dirty="0"/>
              <a:t>“Бехкаш ма даха цунах. Сан дашал чӀогӀах йу цуьнан сих йоллу оьздангалла”.</a:t>
            </a:r>
          </a:p>
          <a:p>
            <a:pPr algn="ctr"/>
            <a:endParaRPr lang="ru-RU" b="1" dirty="0"/>
          </a:p>
        </p:txBody>
      </p:sp>
      <p:sp>
        <p:nvSpPr>
          <p:cNvPr id="5" name="TextBox 4">
            <a:extLst>
              <a:ext uri="{FF2B5EF4-FFF2-40B4-BE49-F238E27FC236}">
                <a16:creationId xmlns:a16="http://schemas.microsoft.com/office/drawing/2014/main" id="{B62501EA-A4E5-78D0-3E04-F3E2BF5DAC77}"/>
              </a:ext>
            </a:extLst>
          </p:cNvPr>
          <p:cNvSpPr txBox="1"/>
          <p:nvPr/>
        </p:nvSpPr>
        <p:spPr>
          <a:xfrm>
            <a:off x="5108642" y="583660"/>
            <a:ext cx="1974716" cy="369332"/>
          </a:xfrm>
          <a:prstGeom prst="rect">
            <a:avLst/>
          </a:prstGeom>
          <a:solidFill>
            <a:srgbClr val="00B050"/>
          </a:solidFill>
        </p:spPr>
        <p:txBody>
          <a:bodyPr wrap="square" rtlCol="0">
            <a:spAutoFit/>
          </a:bodyPr>
          <a:lstStyle/>
          <a:p>
            <a:pPr algn="ctr"/>
            <a:r>
              <a:rPr lang="ce-Cyrl-RU" b="1" dirty="0"/>
              <a:t>НОХЧИЙН</a:t>
            </a:r>
            <a:endParaRPr lang="nl-BE" dirty="0"/>
          </a:p>
        </p:txBody>
      </p:sp>
      <p:sp>
        <p:nvSpPr>
          <p:cNvPr id="2" name="Title 1">
            <a:extLst>
              <a:ext uri="{FF2B5EF4-FFF2-40B4-BE49-F238E27FC236}">
                <a16:creationId xmlns:a16="http://schemas.microsoft.com/office/drawing/2014/main" id="{FA938F8D-88FC-1422-D03E-F577C0401877}"/>
              </a:ext>
            </a:extLst>
          </p:cNvPr>
          <p:cNvSpPr txBox="1">
            <a:spLocks noGrp="1"/>
          </p:cNvSpPr>
          <p:nvPr>
            <p:ph type="title" idx="4294967295"/>
          </p:nvPr>
        </p:nvSpPr>
        <p:spPr>
          <a:xfrm>
            <a:off x="2817223" y="1306286"/>
            <a:ext cx="6557554"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tx1"/>
                </a:solidFill>
                <a:effectLst/>
                <a:uLnTx/>
                <a:uFillTx/>
                <a:latin typeface="+mn-lt"/>
                <a:ea typeface="+mn-ea"/>
                <a:cs typeface="+mn-cs"/>
              </a:rPr>
              <a:t>1. </a:t>
            </a:r>
            <a:r>
              <a:rPr kumimoji="0" lang="ru-RU" sz="2400" b="1" i="0" u="none" strike="noStrike" kern="1200" cap="none" spc="0" normalizeH="0" baseline="0" noProof="0" dirty="0">
                <a:ln>
                  <a:noFill/>
                </a:ln>
                <a:solidFill>
                  <a:schemeClr val="tx1"/>
                </a:solidFill>
                <a:effectLst/>
                <a:uLnTx/>
                <a:uFillTx/>
                <a:latin typeface="+mn-lt"/>
                <a:ea typeface="+mn-ea"/>
                <a:cs typeface="+mn-cs"/>
              </a:rPr>
              <a:t>Сан дашал ч</a:t>
            </a:r>
            <a:r>
              <a:rPr kumimoji="0" lang="en-US" sz="2400" b="1" i="0" u="none" strike="noStrike" kern="1200" cap="none" spc="0" normalizeH="0" baseline="0" noProof="0" dirty="0">
                <a:ln>
                  <a:noFill/>
                </a:ln>
                <a:solidFill>
                  <a:schemeClr val="tx1"/>
                </a:solidFill>
                <a:effectLst/>
                <a:uLnTx/>
                <a:uFillTx/>
                <a:latin typeface="+mn-lt"/>
                <a:ea typeface="+mn-ea"/>
                <a:cs typeface="+mn-cs"/>
              </a:rPr>
              <a:t>I</a:t>
            </a:r>
            <a:r>
              <a:rPr kumimoji="0" lang="ru-RU" sz="2400" b="1" i="0" u="none" strike="noStrike" kern="1200" cap="none" spc="0" normalizeH="0" baseline="0" noProof="0" dirty="0">
                <a:ln>
                  <a:noFill/>
                </a:ln>
                <a:solidFill>
                  <a:schemeClr val="tx1"/>
                </a:solidFill>
                <a:effectLst/>
                <a:uLnTx/>
                <a:uFillTx/>
                <a:latin typeface="+mn-lt"/>
                <a:ea typeface="+mn-ea"/>
                <a:cs typeface="+mn-cs"/>
              </a:rPr>
              <a:t>ог</a:t>
            </a:r>
            <a:r>
              <a:rPr kumimoji="0" lang="en-US" sz="2400" b="1" i="0" u="none" strike="noStrike" kern="1200" cap="none" spc="0" normalizeH="0" baseline="0" noProof="0" dirty="0">
                <a:ln>
                  <a:noFill/>
                </a:ln>
                <a:solidFill>
                  <a:schemeClr val="tx1"/>
                </a:solidFill>
                <a:effectLst/>
                <a:uLnTx/>
                <a:uFillTx/>
                <a:latin typeface="+mn-lt"/>
                <a:ea typeface="+mn-ea"/>
                <a:cs typeface="+mn-cs"/>
              </a:rPr>
              <a:t>I</a:t>
            </a:r>
            <a:r>
              <a:rPr kumimoji="0" lang="ru-RU" sz="2400" b="1" i="0" u="none" strike="noStrike" kern="1200" cap="none" spc="0" normalizeH="0" baseline="0" noProof="0" dirty="0">
                <a:ln>
                  <a:noFill/>
                </a:ln>
                <a:solidFill>
                  <a:schemeClr val="tx1"/>
                </a:solidFill>
                <a:effectLst/>
                <a:uLnTx/>
                <a:uFillTx/>
                <a:latin typeface="+mn-lt"/>
                <a:ea typeface="+mn-ea"/>
                <a:cs typeface="+mn-cs"/>
              </a:rPr>
              <a:t>ах йу цуьнан оьздангалла</a:t>
            </a:r>
            <a:endParaRPr kumimoji="0" lang="nl-BE" sz="24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4293172063"/>
      </p:ext>
    </p:extLst>
  </p:cSld>
  <p:clrMapOvr>
    <a:masterClrMapping/>
  </p:clrMapOvr>
  <mc:AlternateContent xmlns:mc="http://schemas.openxmlformats.org/markup-compatibility/2006" xmlns:p14="http://schemas.microsoft.com/office/powerpoint/2010/main">
    <mc:Choice Requires="p14">
      <p:transition spd="med" p14:dur="700" advTm="2000">
        <p:fade/>
      </p:transition>
    </mc:Choice>
    <mc:Fallback xmlns="">
      <p:transition spd="med" advTm="2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D79A5-B4FF-B41C-F4E9-DF9BF7B6EE8E}"/>
              </a:ext>
            </a:extLst>
          </p:cNvPr>
          <p:cNvSpPr>
            <a:spLocks noGrp="1"/>
          </p:cNvSpPr>
          <p:nvPr>
            <p:ph type="title"/>
          </p:nvPr>
        </p:nvSpPr>
        <p:spPr>
          <a:xfrm>
            <a:off x="5085353" y="564374"/>
            <a:ext cx="2021294" cy="580936"/>
          </a:xfrm>
        </p:spPr>
        <p:txBody>
          <a:bodyPr>
            <a:normAutofit/>
          </a:bodyPr>
          <a:lstStyle/>
          <a:p>
            <a:r>
              <a:rPr lang="ce-Cyrl-RU" dirty="0"/>
              <a:t>Лексика</a:t>
            </a:r>
            <a:endParaRPr lang="nl-BE" dirty="0"/>
          </a:p>
        </p:txBody>
      </p:sp>
      <p:sp>
        <p:nvSpPr>
          <p:cNvPr id="3" name="TextBox 2">
            <a:extLst>
              <a:ext uri="{FF2B5EF4-FFF2-40B4-BE49-F238E27FC236}">
                <a16:creationId xmlns:a16="http://schemas.microsoft.com/office/drawing/2014/main" id="{CA79155C-CF26-7137-7DDB-1E5F0CAF8B18}"/>
              </a:ext>
            </a:extLst>
          </p:cNvPr>
          <p:cNvSpPr txBox="1"/>
          <p:nvPr/>
        </p:nvSpPr>
        <p:spPr>
          <a:xfrm>
            <a:off x="450477" y="1951979"/>
            <a:ext cx="7953936" cy="378565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dirty="0">
                <a:ln>
                  <a:noFill/>
                </a:ln>
                <a:solidFill>
                  <a:prstClr val="black"/>
                </a:solidFill>
                <a:effectLst/>
                <a:uLnTx/>
                <a:uFillTx/>
                <a:ea typeface="+mn-ea"/>
                <a:cs typeface="+mn-cs"/>
              </a:rPr>
              <a:t>Гулбенна нах багӀача цӀагӀа Мохьмад-пайхамар чуваьлча, берригаш гӀайттаб. </a:t>
            </a:r>
            <a:endParaRPr kumimoji="0" lang="ce-Cyrl-RU" sz="2400" b="0" i="0" u="none" strike="noStrike" kern="1200" cap="none" spc="0" normalizeH="0" baseline="0" noProof="0" dirty="0">
              <a:ln>
                <a:noFill/>
              </a:ln>
              <a:solidFill>
                <a:prstClr val="black"/>
              </a:solidFill>
              <a:effectLst/>
              <a:uLnTx/>
              <a:uFillTx/>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dirty="0">
                <a:ln>
                  <a:noFill/>
                </a:ln>
                <a:solidFill>
                  <a:prstClr val="black"/>
                </a:solidFill>
                <a:effectLst/>
                <a:uLnTx/>
                <a:uFillTx/>
                <a:ea typeface="+mn-ea"/>
                <a:cs typeface="+mn-cs"/>
              </a:rPr>
              <a:t>Пайхамара Ӏоха а аьнна, уж Ӏохайшача, цхьа зӀамига саг </a:t>
            </a:r>
            <a:r>
              <a:rPr kumimoji="0" lang="ru-RU" sz="2400" b="0" i="1" u="none" strike="noStrike" kern="1200" cap="none" spc="0" normalizeH="0" baseline="0" noProof="0" dirty="0">
                <a:ln>
                  <a:noFill/>
                </a:ln>
                <a:solidFill>
                  <a:prstClr val="black"/>
                </a:solidFill>
                <a:effectLst/>
                <a:uLnTx/>
                <a:uFillTx/>
                <a:ea typeface="+mn-ea"/>
                <a:cs typeface="+mn-cs"/>
              </a:rPr>
              <a:t>латт</a:t>
            </a:r>
            <a:r>
              <a:rPr kumimoji="0" lang="ce-Cyrl-RU" sz="2400" b="0" i="1" u="none" strike="noStrike" kern="1200" cap="none" spc="0" normalizeH="0" baseline="0" noProof="0" dirty="0">
                <a:ln>
                  <a:noFill/>
                </a:ln>
                <a:solidFill>
                  <a:prstClr val="black"/>
                </a:solidFill>
                <a:effectLst/>
                <a:uLnTx/>
                <a:uFillTx/>
                <a:ea typeface="+mn-ea"/>
                <a:cs typeface="+mn-cs"/>
              </a:rPr>
              <a:t>а в</a:t>
            </a:r>
            <a:r>
              <a:rPr kumimoji="0" lang="ru-RU" sz="2400" b="0" i="1" u="none" strike="noStrike" kern="1200" cap="none" spc="0" normalizeH="0" baseline="0" noProof="0" dirty="0">
                <a:ln>
                  <a:noFill/>
                </a:ln>
                <a:solidFill>
                  <a:prstClr val="black"/>
                </a:solidFill>
                <a:effectLst/>
                <a:uLnTx/>
                <a:uFillTx/>
                <a:ea typeface="+mn-ea"/>
                <a:cs typeface="+mn-cs"/>
              </a:rPr>
              <a:t>исав</a:t>
            </a:r>
            <a:r>
              <a:rPr kumimoji="0" lang="ru-RU" sz="2400" b="0" i="0" u="none" strike="noStrike" kern="1200" cap="none" spc="0" normalizeH="0" baseline="0" noProof="0" dirty="0">
                <a:ln>
                  <a:noFill/>
                </a:ln>
                <a:solidFill>
                  <a:prstClr val="black"/>
                </a:solidFill>
                <a:effectLst/>
                <a:uLnTx/>
                <a:uFillTx/>
                <a:ea typeface="+mn-ea"/>
                <a:cs typeface="+mn-cs"/>
              </a:rPr>
              <a:t>. </a:t>
            </a:r>
            <a:endParaRPr kumimoji="0" lang="ce-Cyrl-RU" sz="2400" b="0" i="0" u="none" strike="noStrike" kern="1200" cap="none" spc="0" normalizeH="0" baseline="0" noProof="0" dirty="0">
              <a:ln>
                <a:noFill/>
              </a:ln>
              <a:solidFill>
                <a:prstClr val="black"/>
              </a:solidFill>
              <a:effectLst/>
              <a:uLnTx/>
              <a:uFillTx/>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dirty="0">
                <a:ln>
                  <a:noFill/>
                </a:ln>
                <a:solidFill>
                  <a:prstClr val="black"/>
                </a:solidFill>
                <a:effectLst/>
                <a:uLnTx/>
                <a:uFillTx/>
                <a:ea typeface="+mn-ea"/>
                <a:cs typeface="+mn-cs"/>
              </a:rPr>
              <a:t>Пайхамара шозлагӀа а а</a:t>
            </a:r>
            <a:r>
              <a:rPr kumimoji="0" lang="ce-Cyrl-RU" sz="2400" b="0" i="0" u="none" strike="noStrike" kern="1200" cap="none" spc="0" normalizeH="0" baseline="0" noProof="0" dirty="0">
                <a:ln>
                  <a:noFill/>
                </a:ln>
                <a:solidFill>
                  <a:prstClr val="black"/>
                </a:solidFill>
                <a:effectLst/>
                <a:uLnTx/>
                <a:uFillTx/>
                <a:ea typeface="+mn-ea"/>
                <a:cs typeface="+mn-cs"/>
              </a:rPr>
              <a:t>ь</a:t>
            </a:r>
            <a:r>
              <a:rPr kumimoji="0" lang="ru-RU" sz="2400" b="0" i="0" u="none" strike="noStrike" kern="1200" cap="none" spc="0" normalizeH="0" baseline="0" noProof="0" dirty="0">
                <a:ln>
                  <a:noFill/>
                </a:ln>
                <a:solidFill>
                  <a:prstClr val="black"/>
                </a:solidFill>
                <a:effectLst/>
                <a:uLnTx/>
                <a:uFillTx/>
                <a:ea typeface="+mn-ea"/>
                <a:cs typeface="+mn-cs"/>
              </a:rPr>
              <a:t>ннад цунга, Ӏоха. </a:t>
            </a:r>
            <a:endParaRPr kumimoji="0" lang="ce-Cyrl-RU" sz="2400" b="0" i="0" u="none" strike="noStrike" kern="1200" cap="none" spc="0" normalizeH="0" baseline="0" noProof="0" dirty="0">
              <a:ln>
                <a:noFill/>
              </a:ln>
              <a:solidFill>
                <a:prstClr val="black"/>
              </a:solidFill>
              <a:effectLst/>
              <a:uLnTx/>
              <a:uFillTx/>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dirty="0">
                <a:ln>
                  <a:noFill/>
                </a:ln>
                <a:solidFill>
                  <a:prstClr val="black"/>
                </a:solidFill>
                <a:effectLst/>
                <a:uLnTx/>
                <a:uFillTx/>
                <a:ea typeface="+mn-ea"/>
                <a:cs typeface="+mn-cs"/>
              </a:rPr>
              <a:t>ТӀаккха а хайнавац. </a:t>
            </a:r>
            <a:endParaRPr kumimoji="0" lang="ce-Cyrl-RU" sz="2400" b="0" i="0" u="none" strike="noStrike" kern="1200" cap="none" spc="0" normalizeH="0" baseline="0" noProof="0" dirty="0">
              <a:ln>
                <a:noFill/>
              </a:ln>
              <a:solidFill>
                <a:prstClr val="black"/>
              </a:solidFill>
              <a:effectLst/>
              <a:uLnTx/>
              <a:uFillTx/>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dirty="0">
                <a:ln>
                  <a:noFill/>
                </a:ln>
                <a:solidFill>
                  <a:prstClr val="black"/>
                </a:solidFill>
                <a:effectLst/>
                <a:uLnTx/>
                <a:uFillTx/>
                <a:ea typeface="+mn-ea"/>
                <a:cs typeface="+mn-cs"/>
              </a:rPr>
              <a:t>Пайхамара яхар хӀана дац Ӏа, Ӏоха ях хьога, оалаш, бехкаш даха нах болабелча, Мохьмад-пайхамара аьннад:</a:t>
            </a:r>
            <a:endParaRPr lang="ce-Cyrl-RU" sz="2400" dirty="0">
              <a:solidFill>
                <a:prstClr val="black"/>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dirty="0">
                <a:ln>
                  <a:noFill/>
                </a:ln>
                <a:solidFill>
                  <a:prstClr val="black"/>
                </a:solidFill>
                <a:effectLst/>
                <a:uLnTx/>
                <a:uFillTx/>
                <a:ea typeface="+mn-ea"/>
                <a:cs typeface="+mn-cs"/>
              </a:rPr>
              <a:t>- Бехкаш ма даха цох. Са дешал чӀоагӀагӀа да цун сих доалла эздел.</a:t>
            </a:r>
            <a:endParaRPr kumimoji="0" lang="nl-BE" sz="2400" b="0" i="0" u="none" strike="noStrike" kern="1200" cap="none" spc="0" normalizeH="0" baseline="0" noProof="0" dirty="0">
              <a:ln>
                <a:noFill/>
              </a:ln>
              <a:solidFill>
                <a:prstClr val="black"/>
              </a:solidFill>
              <a:effectLst/>
              <a:uLnTx/>
              <a:uFillTx/>
              <a:latin typeface="Gill Sans MT" panose="020B0502020104020203"/>
              <a:ea typeface="+mn-ea"/>
              <a:cs typeface="+mn-cs"/>
            </a:endParaRPr>
          </a:p>
        </p:txBody>
      </p:sp>
      <p:sp>
        <p:nvSpPr>
          <p:cNvPr id="4" name="TextBox 3">
            <a:extLst>
              <a:ext uri="{FF2B5EF4-FFF2-40B4-BE49-F238E27FC236}">
                <a16:creationId xmlns:a16="http://schemas.microsoft.com/office/drawing/2014/main" id="{7F77DCDC-5205-92F6-7AED-35748EF0811E}"/>
              </a:ext>
            </a:extLst>
          </p:cNvPr>
          <p:cNvSpPr txBox="1"/>
          <p:nvPr/>
        </p:nvSpPr>
        <p:spPr>
          <a:xfrm>
            <a:off x="3722034" y="1317812"/>
            <a:ext cx="4747932" cy="461665"/>
          </a:xfrm>
          <a:prstGeom prst="rect">
            <a:avLst/>
          </a:prstGeom>
          <a:noFill/>
        </p:spPr>
        <p:txBody>
          <a:bodyPr wrap="square" rtlCol="0">
            <a:spAutoFit/>
          </a:bodyPr>
          <a:lstStyle/>
          <a:p>
            <a:pPr algn="ctr"/>
            <a:r>
              <a:rPr lang="ce-Cyrl-RU" sz="2400" b="1" dirty="0"/>
              <a:t>Са дешал ч1ог1аг1 да цун эздел</a:t>
            </a:r>
            <a:endParaRPr lang="nl-BE" sz="2400" b="1" dirty="0"/>
          </a:p>
        </p:txBody>
      </p:sp>
    </p:spTree>
    <p:custDataLst>
      <p:tags r:id="rId1"/>
    </p:custDataLst>
    <p:extLst>
      <p:ext uri="{BB962C8B-B14F-4D97-AF65-F5344CB8AC3E}">
        <p14:creationId xmlns:p14="http://schemas.microsoft.com/office/powerpoint/2010/main" val="2874198289"/>
      </p:ext>
    </p:extLst>
  </p:cSld>
  <p:clrMapOvr>
    <a:masterClrMapping/>
  </p:clrMapOvr>
  <mc:AlternateContent xmlns:mc="http://schemas.openxmlformats.org/markup-compatibility/2006" xmlns:p14="http://schemas.microsoft.com/office/powerpoint/2010/main">
    <mc:Choice Requires="p14">
      <p:transition spd="med" p14:dur="700" advTm="373661">
        <p:fade/>
      </p:transition>
    </mc:Choice>
    <mc:Fallback xmlns="">
      <p:transition spd="med" advTm="37366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grpId="0" nodeType="clickEffect">
                                  <p:stCondLst>
                                    <p:cond delay="0"/>
                                  </p:stCondLst>
                                  <p:endCondLst>
                                    <p:cond evt="onNext" delay="0">
                                      <p:tgtEl>
                                        <p:sldTgt/>
                                      </p:tgtEl>
                                    </p:cond>
                                  </p:endCondLst>
                                  <p:childTnLst>
                                    <p:set>
                                      <p:cBhvr override="childStyle">
                                        <p:cTn id="6" dur="indefinite"/>
                                        <p:tgtEl>
                                          <p:spTgt spid="3">
                                            <p:txEl>
                                              <p:pRg st="0" end="0"/>
                                            </p:txEl>
                                          </p:spTgt>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5" presetClass="emph" presetSubtype="0" grpId="0" nodeType="clickEffect">
                                  <p:stCondLst>
                                    <p:cond delay="0"/>
                                  </p:stCondLst>
                                  <p:endCondLst>
                                    <p:cond evt="onNext" delay="0">
                                      <p:tgtEl>
                                        <p:sldTgt/>
                                      </p:tgtEl>
                                    </p:cond>
                                  </p:endCondLst>
                                  <p:childTnLst>
                                    <p:set>
                                      <p:cBhvr override="childStyle">
                                        <p:cTn id="10" dur="indefinite"/>
                                        <p:tgtEl>
                                          <p:spTgt spid="3">
                                            <p:txEl>
                                              <p:pRg st="1" end="1"/>
                                            </p:txEl>
                                          </p:spTgt>
                                        </p:tgtEl>
                                        <p:attrNameLst>
                                          <p:attrName>style.fontWeight</p:attrName>
                                        </p:attrNameLst>
                                      </p:cBhvr>
                                      <p:to>
                                        <p:strVal val="bold"/>
                                      </p:to>
                                    </p:set>
                                  </p:childTnLst>
                                </p:cTn>
                              </p:par>
                            </p:childTnLst>
                          </p:cTn>
                        </p:par>
                      </p:childTnLst>
                    </p:cTn>
                  </p:par>
                  <p:par>
                    <p:cTn id="11" fill="hold">
                      <p:stCondLst>
                        <p:cond delay="indefinite"/>
                      </p:stCondLst>
                      <p:childTnLst>
                        <p:par>
                          <p:cTn id="12" fill="hold">
                            <p:stCondLst>
                              <p:cond delay="0"/>
                            </p:stCondLst>
                            <p:childTnLst>
                              <p:par>
                                <p:cTn id="13" presetID="15" presetClass="emph" presetSubtype="0" grpId="0" nodeType="clickEffect">
                                  <p:stCondLst>
                                    <p:cond delay="0"/>
                                  </p:stCondLst>
                                  <p:endCondLst>
                                    <p:cond evt="onNext" delay="0">
                                      <p:tgtEl>
                                        <p:sldTgt/>
                                      </p:tgtEl>
                                    </p:cond>
                                  </p:endCondLst>
                                  <p:childTnLst>
                                    <p:set>
                                      <p:cBhvr override="childStyle">
                                        <p:cTn id="14" dur="indefinite"/>
                                        <p:tgtEl>
                                          <p:spTgt spid="3">
                                            <p:txEl>
                                              <p:pRg st="2" end="2"/>
                                            </p:txEl>
                                          </p:spTgt>
                                        </p:tgtEl>
                                        <p:attrNameLst>
                                          <p:attrName>style.fontWeight</p:attrName>
                                        </p:attrNameLst>
                                      </p:cBhvr>
                                      <p:to>
                                        <p:strVal val="bold"/>
                                      </p:to>
                                    </p:set>
                                  </p:childTnLst>
                                </p:cTn>
                              </p:par>
                            </p:childTnLst>
                          </p:cTn>
                        </p:par>
                      </p:childTnLst>
                    </p:cTn>
                  </p:par>
                  <p:par>
                    <p:cTn id="15" fill="hold">
                      <p:stCondLst>
                        <p:cond delay="indefinite"/>
                      </p:stCondLst>
                      <p:childTnLst>
                        <p:par>
                          <p:cTn id="16" fill="hold">
                            <p:stCondLst>
                              <p:cond delay="0"/>
                            </p:stCondLst>
                            <p:childTnLst>
                              <p:par>
                                <p:cTn id="17" presetID="15" presetClass="emph" presetSubtype="0" grpId="0" nodeType="clickEffect">
                                  <p:stCondLst>
                                    <p:cond delay="0"/>
                                  </p:stCondLst>
                                  <p:endCondLst>
                                    <p:cond evt="onNext" delay="0">
                                      <p:tgtEl>
                                        <p:sldTgt/>
                                      </p:tgtEl>
                                    </p:cond>
                                  </p:endCondLst>
                                  <p:childTnLst>
                                    <p:set>
                                      <p:cBhvr override="childStyle">
                                        <p:cTn id="18" dur="indefinite"/>
                                        <p:tgtEl>
                                          <p:spTgt spid="3">
                                            <p:txEl>
                                              <p:pRg st="3" end="3"/>
                                            </p:txEl>
                                          </p:spTgt>
                                        </p:tgtEl>
                                        <p:attrNameLst>
                                          <p:attrName>style.fontWeight</p:attrName>
                                        </p:attrNameLst>
                                      </p:cBhvr>
                                      <p:to>
                                        <p:strVal val="bold"/>
                                      </p:to>
                                    </p:set>
                                  </p:childTnLst>
                                </p:cTn>
                              </p:par>
                            </p:childTnLst>
                          </p:cTn>
                        </p:par>
                      </p:childTnLst>
                    </p:cTn>
                  </p:par>
                  <p:par>
                    <p:cTn id="19" fill="hold">
                      <p:stCondLst>
                        <p:cond delay="indefinite"/>
                      </p:stCondLst>
                      <p:childTnLst>
                        <p:par>
                          <p:cTn id="20" fill="hold">
                            <p:stCondLst>
                              <p:cond delay="0"/>
                            </p:stCondLst>
                            <p:childTnLst>
                              <p:par>
                                <p:cTn id="21" presetID="15" presetClass="emph" presetSubtype="0" grpId="0" nodeType="clickEffect">
                                  <p:stCondLst>
                                    <p:cond delay="0"/>
                                  </p:stCondLst>
                                  <p:endCondLst>
                                    <p:cond evt="onNext" delay="0">
                                      <p:tgtEl>
                                        <p:sldTgt/>
                                      </p:tgtEl>
                                    </p:cond>
                                  </p:endCondLst>
                                  <p:childTnLst>
                                    <p:set>
                                      <p:cBhvr override="childStyle">
                                        <p:cTn id="22" dur="indefinite"/>
                                        <p:tgtEl>
                                          <p:spTgt spid="3">
                                            <p:txEl>
                                              <p:pRg st="4" end="4"/>
                                            </p:txEl>
                                          </p:spTgt>
                                        </p:tgtEl>
                                        <p:attrNameLst>
                                          <p:attrName>style.fontWeight</p:attrName>
                                        </p:attrNameLst>
                                      </p:cBhvr>
                                      <p:to>
                                        <p:strVal val="bold"/>
                                      </p:to>
                                    </p:set>
                                  </p:childTnLst>
                                </p:cTn>
                              </p:par>
                            </p:childTnLst>
                          </p:cTn>
                        </p:par>
                      </p:childTnLst>
                    </p:cTn>
                  </p:par>
                  <p:par>
                    <p:cTn id="23" fill="hold">
                      <p:stCondLst>
                        <p:cond delay="indefinite"/>
                      </p:stCondLst>
                      <p:childTnLst>
                        <p:par>
                          <p:cTn id="24" fill="hold">
                            <p:stCondLst>
                              <p:cond delay="0"/>
                            </p:stCondLst>
                            <p:childTnLst>
                              <p:par>
                                <p:cTn id="25" presetID="15" presetClass="emph" presetSubtype="0" grpId="0" nodeType="clickEffect">
                                  <p:stCondLst>
                                    <p:cond delay="0"/>
                                  </p:stCondLst>
                                  <p:endCondLst>
                                    <p:cond evt="onNext" delay="0">
                                      <p:tgtEl>
                                        <p:sldTgt/>
                                      </p:tgtEl>
                                    </p:cond>
                                  </p:endCondLst>
                                  <p:childTnLst>
                                    <p:set>
                                      <p:cBhvr override="childStyle">
                                        <p:cTn id="26" dur="indefinite"/>
                                        <p:tgtEl>
                                          <p:spTgt spid="3">
                                            <p:txEl>
                                              <p:pRg st="5" end="5"/>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1C3D7-8F43-C664-6847-4DA52E5AA5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987B4-C964-B0CD-00E2-2CCAC2768F8D}"/>
              </a:ext>
            </a:extLst>
          </p:cNvPr>
          <p:cNvSpPr>
            <a:spLocks noGrp="1"/>
          </p:cNvSpPr>
          <p:nvPr>
            <p:ph type="title"/>
          </p:nvPr>
        </p:nvSpPr>
        <p:spPr>
          <a:xfrm>
            <a:off x="2438400" y="221474"/>
            <a:ext cx="5043185" cy="489726"/>
          </a:xfrm>
        </p:spPr>
        <p:txBody>
          <a:bodyPr>
            <a:normAutofit fontScale="90000"/>
          </a:bodyPr>
          <a:lstStyle/>
          <a:p>
            <a:r>
              <a:rPr lang="ru-RU" dirty="0"/>
              <a:t>Г</a:t>
            </a:r>
            <a:r>
              <a:rPr lang="ce-Cyrl-RU" dirty="0"/>
              <a:t>рамматика : АЛФАВИТ</a:t>
            </a:r>
            <a:endParaRPr lang="nl-BE" dirty="0"/>
          </a:p>
        </p:txBody>
      </p:sp>
      <p:sp>
        <p:nvSpPr>
          <p:cNvPr id="9" name="TextBox 8">
            <a:extLst>
              <a:ext uri="{FF2B5EF4-FFF2-40B4-BE49-F238E27FC236}">
                <a16:creationId xmlns:a16="http://schemas.microsoft.com/office/drawing/2014/main" id="{1923BAD7-7A9D-C3E8-1310-252346763A0D}"/>
              </a:ext>
            </a:extLst>
          </p:cNvPr>
          <p:cNvSpPr txBox="1"/>
          <p:nvPr/>
        </p:nvSpPr>
        <p:spPr>
          <a:xfrm>
            <a:off x="323851" y="895350"/>
            <a:ext cx="8928100" cy="5355312"/>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e-Cyrl-RU" sz="1800" b="0" i="0" u="none" strike="noStrike" kern="1200" cap="none" spc="0" normalizeH="0" baseline="0" noProof="0" dirty="0">
                <a:ln>
                  <a:noFill/>
                </a:ln>
                <a:solidFill>
                  <a:prstClr val="black"/>
                </a:solidFill>
                <a:effectLst/>
                <a:uLnTx/>
                <a:uFillTx/>
                <a:ea typeface="+mn-ea"/>
                <a:cs typeface="+mn-cs"/>
              </a:rPr>
              <a:t>Буквы, которых нет в русском :  </a:t>
            </a:r>
            <a:r>
              <a:rPr kumimoji="0" lang="ce-Cyrl-RU" sz="1800" b="0" i="1" u="none" strike="noStrike" kern="1200" cap="none" spc="0" normalizeH="0" baseline="0" noProof="0" dirty="0">
                <a:ln>
                  <a:noFill/>
                </a:ln>
                <a:solidFill>
                  <a:prstClr val="black"/>
                </a:solidFill>
                <a:effectLst/>
                <a:uLnTx/>
                <a:uFillTx/>
                <a:ea typeface="+mn-ea"/>
                <a:cs typeface="+mn-cs"/>
              </a:rPr>
              <a:t>аь,  яь,</a:t>
            </a:r>
            <a:r>
              <a:rPr kumimoji="0" lang="ce-Cyrl-RU" sz="1800" b="0" i="0" u="none" strike="noStrike" kern="1200" cap="none" spc="0" normalizeH="0" baseline="0" noProof="0" dirty="0">
                <a:ln>
                  <a:noFill/>
                </a:ln>
                <a:solidFill>
                  <a:prstClr val="black"/>
                </a:solidFill>
                <a:effectLst/>
                <a:uLnTx/>
                <a:uFillTx/>
                <a:ea typeface="+mn-ea"/>
                <a:cs typeface="+mn-cs"/>
              </a:rPr>
              <a:t>  </a:t>
            </a:r>
            <a:r>
              <a:rPr kumimoji="0" lang="ce-Cyrl-RU" sz="1800" b="0" i="1" u="none" strike="noStrike" kern="1200" cap="none" spc="0" normalizeH="0" baseline="0" noProof="0" dirty="0">
                <a:ln>
                  <a:noFill/>
                </a:ln>
                <a:solidFill>
                  <a:prstClr val="black"/>
                </a:solidFill>
                <a:effectLst/>
                <a:uLnTx/>
                <a:uFillTx/>
                <a:ea typeface="+mn-ea"/>
                <a:cs typeface="+mn-cs"/>
              </a:rPr>
              <a:t>г1, кх, къ, к1, п1, т1, хь, х1, ц1,  ч1, 1</a:t>
            </a:r>
            <a:endParaRPr kumimoji="0" lang="en-US" sz="1800" b="0" i="1"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e-Cyrl-RU" sz="1800" b="0" i="0" u="none" strike="noStrike" kern="1200" cap="none" spc="0" normalizeH="0" baseline="0" noProof="0" dirty="0">
                <a:ln>
                  <a:noFill/>
                </a:ln>
                <a:solidFill>
                  <a:prstClr val="black"/>
                </a:solidFill>
                <a:effectLst/>
                <a:uLnTx/>
                <a:uFillTx/>
                <a:ea typeface="+mn-ea"/>
                <a:cs typeface="+mn-cs"/>
              </a:rPr>
              <a:t>Отсутствуют гласные </a:t>
            </a:r>
            <a:r>
              <a:rPr kumimoji="0" lang="ce-Cyrl-RU" sz="1800" b="0" i="1" u="none" strike="noStrike" kern="1200" cap="none" spc="0" normalizeH="0" baseline="0" noProof="0" dirty="0">
                <a:ln>
                  <a:noFill/>
                </a:ln>
                <a:solidFill>
                  <a:prstClr val="black"/>
                </a:solidFill>
                <a:effectLst/>
                <a:uLnTx/>
                <a:uFillTx/>
                <a:ea typeface="+mn-ea"/>
                <a:cs typeface="+mn-cs"/>
              </a:rPr>
              <a:t>оь, уь, юь, </a:t>
            </a:r>
            <a:r>
              <a:rPr kumimoji="0" lang="ce-Cyrl-RU" sz="1800" b="0" i="0" u="none" strike="noStrike" kern="1200" cap="none" spc="0" normalizeH="0" baseline="0" noProof="0" dirty="0">
                <a:ln>
                  <a:noFill/>
                </a:ln>
                <a:solidFill>
                  <a:prstClr val="black"/>
                </a:solidFill>
                <a:effectLst/>
                <a:uLnTx/>
                <a:uFillTx/>
                <a:ea typeface="+mn-ea"/>
                <a:cs typeface="+mn-cs"/>
              </a:rPr>
              <a:t>которые есть в чеченском;</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e-Cyrl-RU" sz="1800" b="0" i="0" u="none" strike="noStrike" kern="1200" cap="none" spc="0" normalizeH="0" baseline="0" noProof="0" dirty="0">
                <a:ln>
                  <a:noFill/>
                </a:ln>
                <a:solidFill>
                  <a:prstClr val="black"/>
                </a:solidFill>
                <a:effectLst/>
                <a:uLnTx/>
                <a:uFillTx/>
                <a:ea typeface="+mn-ea"/>
                <a:cs typeface="+mn-cs"/>
              </a:rPr>
              <a:t>Присутствует дифтонг </a:t>
            </a:r>
            <a:r>
              <a:rPr kumimoji="0" lang="ce-Cyrl-RU" sz="1800" b="0" i="1" u="none" strike="noStrike" kern="1200" cap="none" spc="0" normalizeH="0" baseline="0" noProof="0" dirty="0">
                <a:ln>
                  <a:noFill/>
                </a:ln>
                <a:solidFill>
                  <a:prstClr val="black"/>
                </a:solidFill>
                <a:effectLst/>
                <a:uLnTx/>
                <a:uFillTx/>
                <a:ea typeface="+mn-ea"/>
                <a:cs typeface="+mn-cs"/>
              </a:rPr>
              <a:t>оа</a:t>
            </a:r>
            <a:r>
              <a:rPr kumimoji="0" lang="ce-Cyrl-RU" sz="1800" b="0" i="0" u="none" strike="noStrike" kern="1200" cap="none" spc="0" normalizeH="0" baseline="0" noProof="0" dirty="0">
                <a:ln>
                  <a:noFill/>
                </a:ln>
                <a:solidFill>
                  <a:prstClr val="black"/>
                </a:solidFill>
                <a:effectLst/>
                <a:uLnTx/>
                <a:uFillTx/>
                <a:ea typeface="+mn-ea"/>
                <a:cs typeface="+mn-cs"/>
              </a:rPr>
              <a:t>, которого нет в чеченском: к1оаг – к1аг, лоам – лам.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e-Cyrl-RU" sz="1800" b="0" i="0" u="none" strike="noStrike" kern="1200" cap="none" spc="0" normalizeH="0" baseline="0" noProof="0" dirty="0">
                <a:ln>
                  <a:noFill/>
                </a:ln>
                <a:solidFill>
                  <a:prstClr val="black"/>
                </a:solidFill>
                <a:effectLst/>
                <a:uLnTx/>
                <a:uFillTx/>
                <a:ea typeface="+mn-ea"/>
                <a:cs typeface="+mn-cs"/>
              </a:rPr>
              <a:t>Буква </a:t>
            </a:r>
            <a:r>
              <a:rPr kumimoji="0" lang="ru-RU" sz="1800" b="1" i="0" u="none" strike="noStrike" kern="1200" cap="none" spc="0" normalizeH="0" baseline="0" noProof="0" dirty="0">
                <a:ln>
                  <a:noFill/>
                </a:ln>
                <a:solidFill>
                  <a:prstClr val="black"/>
                </a:solidFill>
                <a:effectLst/>
                <a:uLnTx/>
                <a:uFillTx/>
                <a:ea typeface="+mn-ea"/>
                <a:cs typeface="+mn-cs"/>
              </a:rPr>
              <a:t>Ӏ</a:t>
            </a:r>
            <a:r>
              <a:rPr kumimoji="0" lang="ce-Cyrl-RU" sz="1800" b="0" i="0" u="none" strike="noStrike" kern="1200" cap="none" spc="0" normalizeH="0" baseline="0" noProof="0" dirty="0">
                <a:ln>
                  <a:noFill/>
                </a:ln>
                <a:solidFill>
                  <a:prstClr val="black"/>
                </a:solidFill>
                <a:effectLst/>
                <a:uLnTx/>
                <a:uFillTx/>
                <a:ea typeface="+mn-ea"/>
                <a:cs typeface="+mn-cs"/>
              </a:rPr>
              <a:t> (кирилл. палочка), на практике ее заменяют латинской </a:t>
            </a:r>
            <a:r>
              <a:rPr kumimoji="0" lang="en-US" sz="1800" b="0" i="0" u="none" strike="noStrike" kern="1200" cap="none" spc="0" normalizeH="0" baseline="0" noProof="0" dirty="0">
                <a:ln>
                  <a:noFill/>
                </a:ln>
                <a:solidFill>
                  <a:prstClr val="black"/>
                </a:solidFill>
                <a:effectLst/>
                <a:uLnTx/>
                <a:uFillTx/>
                <a:latin typeface="Gill Sans MT" panose="020B0502020104020203"/>
                <a:ea typeface="+mn-ea"/>
                <a:cs typeface="+mn-cs"/>
              </a:rPr>
              <a:t>I </a:t>
            </a:r>
            <a:r>
              <a:rPr kumimoji="0" lang="ce-Cyrl-RU" sz="1800" b="0" i="0" u="none" strike="noStrike" kern="1200" cap="none" spc="0" normalizeH="0" baseline="0" noProof="0" dirty="0">
                <a:ln>
                  <a:noFill/>
                </a:ln>
                <a:solidFill>
                  <a:prstClr val="black"/>
                </a:solidFill>
                <a:effectLst/>
                <a:uLnTx/>
                <a:uFillTx/>
                <a:ea typeface="+mn-ea"/>
                <a:cs typeface="+mn-cs"/>
              </a:rPr>
              <a:t>или цифрой </a:t>
            </a:r>
            <a:r>
              <a:rPr kumimoji="0" lang="ce-Cyrl-RU"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1</a:t>
            </a:r>
            <a:r>
              <a:rPr kumimoji="0" lang="ce-Cyrl-RU" sz="1800" b="0" i="0" u="none" strike="noStrike" kern="1200" cap="none" spc="0" normalizeH="0" baseline="0" noProof="0" dirty="0">
                <a:ln>
                  <a:noFill/>
                </a:ln>
                <a:solidFill>
                  <a:prstClr val="black"/>
                </a:solidFill>
                <a:effectLst/>
                <a:uLnTx/>
                <a:uFillTx/>
                <a:ea typeface="+mn-ea"/>
                <a:cs typeface="+mn-cs"/>
              </a:rPr>
              <a:t>.</a:t>
            </a:r>
          </a:p>
          <a:p>
            <a:pPr marL="285750" lvl="0" indent="-285750">
              <a:buFont typeface="Arial" panose="020B0604020202020204" pitchFamily="34" charset="0"/>
              <a:buChar char="•"/>
              <a:defRPr/>
            </a:pPr>
            <a:r>
              <a:rPr lang="ru-RU" dirty="0">
                <a:solidFill>
                  <a:prstClr val="black"/>
                </a:solidFill>
              </a:rPr>
              <a:t>Если встречаются подряд две двойные буквы, то первая в письме сокращается</a:t>
            </a:r>
            <a:r>
              <a:rPr lang="ce-Cyrl-RU" dirty="0">
                <a:solidFill>
                  <a:prstClr val="black"/>
                </a:solidFill>
              </a:rPr>
              <a:t>: </a:t>
            </a:r>
            <a:br>
              <a:rPr lang="ce-Cyrl-RU" dirty="0">
                <a:solidFill>
                  <a:prstClr val="black"/>
                </a:solidFill>
              </a:rPr>
            </a:br>
            <a:r>
              <a:rPr lang="ru-RU" dirty="0">
                <a:solidFill>
                  <a:prstClr val="black"/>
                </a:solidFill>
              </a:rPr>
              <a:t>докхкха - доккха, ц</a:t>
            </a:r>
            <a:r>
              <a:rPr lang="nl-BE" dirty="0">
                <a:solidFill>
                  <a:prstClr val="black"/>
                </a:solidFill>
              </a:rPr>
              <a:t>I</a:t>
            </a:r>
            <a:r>
              <a:rPr lang="ru-RU" dirty="0">
                <a:solidFill>
                  <a:prstClr val="black"/>
                </a:solidFill>
              </a:rPr>
              <a:t>къа - цкъа, т</a:t>
            </a:r>
            <a:r>
              <a:rPr lang="nl-BE" dirty="0">
                <a:solidFill>
                  <a:prstClr val="black"/>
                </a:solidFill>
              </a:rPr>
              <a:t>I</a:t>
            </a:r>
            <a:r>
              <a:rPr lang="ru-RU" dirty="0">
                <a:solidFill>
                  <a:prstClr val="black"/>
                </a:solidFill>
              </a:rPr>
              <a:t>къа - ткъа</a:t>
            </a:r>
            <a:endParaRPr kumimoji="0" lang="ce-Cyrl-RU" sz="1800" b="0" i="0" u="none" strike="noStrike" kern="1200" cap="none" spc="0" normalizeH="0" baseline="0" noProof="0" dirty="0">
              <a:ln>
                <a:noFill/>
              </a:ln>
              <a:solidFill>
                <a:prstClr val="black"/>
              </a:solidFill>
              <a:effectLst/>
              <a:uLnTx/>
              <a:uFillTx/>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e-Cyrl-RU" sz="1800" b="0" i="0" u="none" strike="noStrike" kern="1200" cap="none" spc="0" normalizeH="0" baseline="0" noProof="0" dirty="0">
                <a:ln>
                  <a:noFill/>
                </a:ln>
                <a:solidFill>
                  <a:prstClr val="black"/>
                </a:solidFill>
                <a:effectLst/>
                <a:uLnTx/>
                <a:uFillTx/>
                <a:ea typeface="+mn-ea"/>
                <a:cs typeface="+mn-cs"/>
              </a:rPr>
              <a:t>Буква Ф – присутствует в исконно ингушских словах: </a:t>
            </a:r>
            <a:br>
              <a:rPr kumimoji="0" lang="ce-Cyrl-RU" sz="1800" b="0" i="0" u="none" strike="noStrike" kern="1200" cap="none" spc="0" normalizeH="0" baseline="0" noProof="0" dirty="0">
                <a:ln>
                  <a:noFill/>
                </a:ln>
                <a:solidFill>
                  <a:prstClr val="black"/>
                </a:solidFill>
                <a:effectLst/>
                <a:uLnTx/>
                <a:uFillTx/>
                <a:ea typeface="+mn-ea"/>
                <a:cs typeface="+mn-cs"/>
              </a:rPr>
            </a:br>
            <a:r>
              <a:rPr kumimoji="0" lang="ce-Cyrl-RU" sz="1800" b="0" i="0" u="none" strike="noStrike" kern="1200" cap="none" spc="0" normalizeH="0" baseline="0" noProof="0" dirty="0">
                <a:ln>
                  <a:noFill/>
                </a:ln>
                <a:solidFill>
                  <a:prstClr val="black"/>
                </a:solidFill>
                <a:effectLst/>
                <a:uLnTx/>
                <a:uFillTx/>
                <a:ea typeface="+mn-ea"/>
                <a:cs typeface="+mn-cs"/>
              </a:rPr>
              <a:t>фу (что), фусам (жилье), фийг (зернышко), фоарт (затылок)</a:t>
            </a:r>
            <a:endParaRPr kumimoji="0" lang="en-US"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285750" lvl="0" indent="-285750">
              <a:buFont typeface="Arial" panose="020B0604020202020204" pitchFamily="34" charset="0"/>
              <a:buChar char="•"/>
              <a:defRPr/>
            </a:pPr>
            <a:r>
              <a:rPr kumimoji="0" lang="ce-Cyrl-RU" sz="1800" b="0" i="0" u="none" strike="noStrike" kern="1200" cap="none" spc="0" normalizeH="0" baseline="0" noProof="0" dirty="0">
                <a:ln>
                  <a:noFill/>
                </a:ln>
                <a:solidFill>
                  <a:prstClr val="black"/>
                </a:solidFill>
                <a:effectLst/>
                <a:uLnTx/>
                <a:uFillTx/>
                <a:ea typeface="+mn-ea"/>
                <a:cs typeface="+mn-cs"/>
              </a:rPr>
              <a:t>Буква Х1 встречается реже, чем в чеченском : </a:t>
            </a:r>
            <a:r>
              <a:rPr lang="ce-Cyrl-RU" dirty="0">
                <a:solidFill>
                  <a:prstClr val="black"/>
                </a:solidFill>
              </a:rPr>
              <a:t>уотта</a:t>
            </a:r>
            <a:r>
              <a:rPr kumimoji="0" lang="ce-Cyrl-RU" sz="1800" b="0" i="0" u="none" strike="noStrike" kern="1200" cap="none" spc="0" normalizeH="0" baseline="0" noProof="0" dirty="0">
                <a:ln>
                  <a:noFill/>
                </a:ln>
                <a:solidFill>
                  <a:prstClr val="black"/>
                </a:solidFill>
                <a:effectLst/>
                <a:uLnTx/>
                <a:uFillTx/>
                <a:ea typeface="+mn-ea"/>
                <a:cs typeface="+mn-cs"/>
              </a:rPr>
              <a:t> – </a:t>
            </a:r>
            <a:r>
              <a:rPr lang="ce-Cyrl-RU" dirty="0">
                <a:solidFill>
                  <a:prstClr val="black"/>
                </a:solidFill>
              </a:rPr>
              <a:t>х1отта</a:t>
            </a:r>
            <a:r>
              <a:rPr kumimoji="0" lang="ce-Cyrl-RU" sz="1800" b="0" i="0" u="none" strike="noStrike" kern="1200" cap="none" spc="0" normalizeH="0" baseline="0" noProof="0" dirty="0">
                <a:ln>
                  <a:noFill/>
                </a:ln>
                <a:solidFill>
                  <a:prstClr val="black"/>
                </a:solidFill>
                <a:effectLst/>
                <a:uLnTx/>
                <a:uFillTx/>
                <a:ea typeface="+mn-ea"/>
                <a:cs typeface="+mn-cs"/>
              </a:rPr>
              <a:t>, </a:t>
            </a:r>
            <a:r>
              <a:rPr lang="ce-Cyrl-RU" dirty="0">
                <a:solidFill>
                  <a:prstClr val="black"/>
                </a:solidFill>
              </a:rPr>
              <a:t>йара</a:t>
            </a:r>
            <a:r>
              <a:rPr kumimoji="0" lang="ce-Cyrl-RU" sz="1800" b="0" i="0" u="none" strike="noStrike" kern="1200" cap="none" spc="0" normalizeH="0" baseline="0" noProof="0" dirty="0">
                <a:ln>
                  <a:noFill/>
                </a:ln>
                <a:solidFill>
                  <a:prstClr val="black"/>
                </a:solidFill>
                <a:effectLst/>
                <a:uLnTx/>
                <a:uFillTx/>
                <a:ea typeface="+mn-ea"/>
                <a:cs typeface="+mn-cs"/>
              </a:rPr>
              <a:t> – </a:t>
            </a:r>
            <a:r>
              <a:rPr lang="ce-Cyrl-RU" dirty="0">
                <a:solidFill>
                  <a:prstClr val="black"/>
                </a:solidFill>
              </a:rPr>
              <a:t>х1ара</a:t>
            </a:r>
            <a:r>
              <a:rPr kumimoji="0" lang="ce-Cyrl-RU" sz="1800" b="0" i="0" u="none" strike="noStrike" kern="1200" cap="none" spc="0" normalizeH="0" baseline="0" noProof="0" dirty="0">
                <a:ln>
                  <a:noFill/>
                </a:ln>
                <a:solidFill>
                  <a:prstClr val="black"/>
                </a:solidFill>
                <a:effectLst/>
                <a:uLnTx/>
                <a:uFillTx/>
                <a:ea typeface="+mn-ea"/>
                <a:cs typeface="+mn-cs"/>
              </a:rPr>
              <a:t>, </a:t>
            </a:r>
            <a:r>
              <a:rPr lang="ce-Cyrl-RU" dirty="0">
                <a:solidFill>
                  <a:prstClr val="black"/>
                </a:solidFill>
              </a:rPr>
              <a:t>фуъ – </a:t>
            </a:r>
            <a:r>
              <a:rPr kumimoji="0" lang="ce-Cyrl-RU" sz="1800" b="0" i="0" u="none" strike="noStrike" kern="1200" cap="none" spc="0" normalizeH="0" baseline="0" noProof="0" dirty="0">
                <a:ln>
                  <a:noFill/>
                </a:ln>
                <a:solidFill>
                  <a:prstClr val="black"/>
                </a:solidFill>
                <a:effectLst/>
                <a:uLnTx/>
                <a:uFillTx/>
                <a:ea typeface="+mn-ea"/>
                <a:cs typeface="+mn-cs"/>
              </a:rPr>
              <a:t>х1оа</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e-Cyrl-RU" sz="1800" b="0" i="0" u="none" strike="noStrike" kern="1200" cap="none" spc="0" normalizeH="0" baseline="0" noProof="0" dirty="0">
                <a:ln>
                  <a:noFill/>
                </a:ln>
                <a:solidFill>
                  <a:prstClr val="black"/>
                </a:solidFill>
                <a:effectLst/>
                <a:uLnTx/>
                <a:uFillTx/>
                <a:ea typeface="+mn-ea"/>
                <a:cs typeface="+mn-cs"/>
              </a:rPr>
              <a:t>Буква И часто произносится как Ы : из – “ыз”, ц1илеторг – “ц1ылеторг”</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e-Cyrl-RU" sz="1800" b="0" i="0" u="none" strike="noStrike" kern="1200" cap="none" spc="0" normalizeH="0" baseline="0" noProof="0" dirty="0">
                <a:ln>
                  <a:noFill/>
                </a:ln>
                <a:solidFill>
                  <a:prstClr val="black"/>
                </a:solidFill>
                <a:effectLst/>
                <a:uLnTx/>
                <a:uFillTx/>
                <a:ea typeface="+mn-ea"/>
                <a:cs typeface="+mn-cs"/>
              </a:rPr>
              <a:t>Буква Е практически</a:t>
            </a:r>
            <a:r>
              <a:rPr kumimoji="0" lang="ce-Cyrl-RU" sz="1800" b="0" i="0" u="none" strike="noStrike" kern="1200" cap="none" spc="0" normalizeH="0" noProof="0" dirty="0">
                <a:ln>
                  <a:noFill/>
                </a:ln>
                <a:solidFill>
                  <a:prstClr val="black"/>
                </a:solidFill>
                <a:effectLst/>
                <a:uLnTx/>
                <a:uFillTx/>
                <a:ea typeface="+mn-ea"/>
                <a:cs typeface="+mn-cs"/>
              </a:rPr>
              <a:t> отсутствует, </a:t>
            </a:r>
            <a:r>
              <a:rPr kumimoji="0" lang="ce-Cyrl-RU" sz="1800" b="0" i="0" u="none" strike="noStrike" kern="1200" cap="none" spc="0" normalizeH="0" baseline="0" noProof="0" dirty="0">
                <a:ln>
                  <a:noFill/>
                </a:ln>
                <a:solidFill>
                  <a:prstClr val="black"/>
                </a:solidFill>
                <a:effectLst/>
                <a:uLnTx/>
                <a:uFillTx/>
                <a:ea typeface="+mn-ea"/>
                <a:cs typeface="+mn-cs"/>
              </a:rPr>
              <a:t>произносится : </a:t>
            </a:r>
            <a:br>
              <a:rPr kumimoji="0" lang="ce-Cyrl-RU" sz="1800" b="0" i="0" u="none" strike="noStrike" kern="1200" cap="none" spc="0" normalizeH="0" baseline="0" noProof="0" dirty="0">
                <a:ln>
                  <a:noFill/>
                </a:ln>
                <a:solidFill>
                  <a:prstClr val="black"/>
                </a:solidFill>
                <a:effectLst/>
                <a:uLnTx/>
                <a:uFillTx/>
                <a:ea typeface="+mn-ea"/>
                <a:cs typeface="+mn-cs"/>
              </a:rPr>
            </a:br>
            <a:r>
              <a:rPr kumimoji="0" lang="ce-Cyrl-RU" sz="1800" b="0" i="0" u="none" strike="noStrike" kern="1200" cap="none" spc="0" normalizeH="0" baseline="0" noProof="0" dirty="0">
                <a:ln>
                  <a:noFill/>
                </a:ln>
                <a:solidFill>
                  <a:prstClr val="black"/>
                </a:solidFill>
                <a:effectLst/>
                <a:uLnTx/>
                <a:uFillTx/>
                <a:ea typeface="+mn-ea"/>
                <a:cs typeface="+mn-cs"/>
              </a:rPr>
              <a:t>или как краткое э – эзар, дей (легкий);</a:t>
            </a:r>
            <a:r>
              <a:rPr kumimoji="0" lang="ce-Cyrl-RU" sz="1800" b="0" i="0" u="none" strike="noStrike" kern="1200" cap="none" spc="0" normalizeH="0" noProof="0" dirty="0">
                <a:ln>
                  <a:noFill/>
                </a:ln>
                <a:solidFill>
                  <a:prstClr val="black"/>
                </a:solidFill>
                <a:effectLst/>
                <a:uLnTx/>
                <a:uFillTx/>
                <a:ea typeface="+mn-ea"/>
                <a:cs typeface="+mn-cs"/>
              </a:rPr>
              <a:t> </a:t>
            </a:r>
            <a:br>
              <a:rPr kumimoji="0" lang="ce-Cyrl-RU" sz="1800" b="0" i="0" u="none" strike="noStrike" kern="1200" cap="none" spc="0" normalizeH="0" noProof="0" dirty="0">
                <a:ln>
                  <a:noFill/>
                </a:ln>
                <a:solidFill>
                  <a:prstClr val="black"/>
                </a:solidFill>
                <a:effectLst/>
                <a:uLnTx/>
                <a:uFillTx/>
                <a:ea typeface="+mn-ea"/>
                <a:cs typeface="+mn-cs"/>
              </a:rPr>
            </a:br>
            <a:r>
              <a:rPr kumimoji="0" lang="ce-Cyrl-RU" sz="1800" b="0" i="0" u="none" strike="noStrike" kern="1200" cap="none" spc="0" normalizeH="0" baseline="0" noProof="0" dirty="0">
                <a:ln>
                  <a:noFill/>
                </a:ln>
                <a:solidFill>
                  <a:prstClr val="black"/>
                </a:solidFill>
                <a:effectLst/>
                <a:uLnTx/>
                <a:uFillTx/>
                <a:ea typeface="+mn-ea"/>
                <a:cs typeface="+mn-cs"/>
              </a:rPr>
              <a:t>или как дифтонг </a:t>
            </a:r>
            <a:r>
              <a:rPr kumimoji="0" lang="ce-Cyrl-RU" sz="1800" b="0" i="1" u="none" strike="noStrike" kern="1200" cap="none" spc="0" normalizeH="0" baseline="0" noProof="0" dirty="0">
                <a:ln>
                  <a:noFill/>
                </a:ln>
                <a:solidFill>
                  <a:prstClr val="black"/>
                </a:solidFill>
                <a:effectLst/>
                <a:uLnTx/>
                <a:uFillTx/>
                <a:ea typeface="+mn-ea"/>
                <a:cs typeface="+mn-cs"/>
              </a:rPr>
              <a:t>иэ</a:t>
            </a:r>
            <a:r>
              <a:rPr kumimoji="0" lang="ce-Cyrl-RU" sz="1800" b="0" i="0" u="none" strike="noStrike" kern="1200" cap="none" spc="0" normalizeH="0" baseline="0" noProof="0" dirty="0">
                <a:ln>
                  <a:noFill/>
                </a:ln>
                <a:solidFill>
                  <a:prstClr val="black"/>
                </a:solidFill>
                <a:effectLst/>
                <a:uLnTx/>
                <a:uFillTx/>
                <a:ea typeface="+mn-ea"/>
                <a:cs typeface="+mn-cs"/>
              </a:rPr>
              <a:t> – безам, </a:t>
            </a:r>
            <a:r>
              <a:rPr kumimoji="0" lang="ce-Cyrl-RU" sz="1800" b="0" i="1" u="none" strike="noStrike" kern="1200" cap="none" spc="0" normalizeH="0" baseline="0" noProof="0" dirty="0">
                <a:ln>
                  <a:noFill/>
                </a:ln>
                <a:solidFill>
                  <a:prstClr val="black"/>
                </a:solidFill>
                <a:effectLst/>
                <a:uLnTx/>
                <a:uFillTx/>
                <a:ea typeface="+mn-ea"/>
                <a:cs typeface="+mn-cs"/>
              </a:rPr>
              <a:t>де</a:t>
            </a:r>
            <a:r>
              <a:rPr kumimoji="0" lang="ce-Cyrl-RU" sz="1800" b="0" i="0" u="none" strike="noStrike" kern="1200" cap="none" spc="0" normalizeH="0" baseline="0" noProof="0" dirty="0">
                <a:ln>
                  <a:noFill/>
                </a:ln>
                <a:solidFill>
                  <a:prstClr val="black"/>
                </a:solidFill>
                <a:effectLst/>
                <a:uLnTx/>
                <a:uFillTx/>
                <a:ea typeface="+mn-ea"/>
                <a:cs typeface="+mn-cs"/>
              </a:rPr>
              <a:t> (делай), </a:t>
            </a:r>
            <a:r>
              <a:rPr kumimoji="0" lang="ce-Cyrl-RU" sz="1800" b="0" i="1" u="none" strike="noStrike" kern="1200" cap="none" spc="0" normalizeH="0" baseline="0" noProof="0" dirty="0">
                <a:ln>
                  <a:noFill/>
                </a:ln>
                <a:solidFill>
                  <a:prstClr val="black"/>
                </a:solidFill>
                <a:effectLst/>
                <a:uLnTx/>
                <a:uFillTx/>
                <a:ea typeface="+mn-ea"/>
                <a:cs typeface="+mn-cs"/>
              </a:rPr>
              <a:t>берх1а</a:t>
            </a:r>
            <a:r>
              <a:rPr kumimoji="0" lang="ce-Cyrl-RU" sz="1800" b="0" i="0" u="none" strike="noStrike" kern="1200" cap="none" spc="0" normalizeH="0" baseline="0" noProof="0" dirty="0">
                <a:ln>
                  <a:noFill/>
                </a:ln>
                <a:solidFill>
                  <a:prstClr val="black"/>
                </a:solidFill>
                <a:effectLst/>
                <a:uLnTx/>
                <a:uFillTx/>
                <a:ea typeface="+mn-ea"/>
                <a:cs typeface="+mn-cs"/>
              </a:rPr>
              <a:t> (соус). (как “е” в слове </a:t>
            </a:r>
            <a:r>
              <a:rPr kumimoji="0" lang="ce-Cyrl-RU" sz="1800" b="0" i="1" u="none" strike="noStrike" kern="1200" cap="none" spc="0" normalizeH="0" baseline="0" noProof="0" dirty="0">
                <a:ln>
                  <a:noFill/>
                </a:ln>
                <a:solidFill>
                  <a:prstClr val="black"/>
                </a:solidFill>
                <a:effectLst/>
                <a:uLnTx/>
                <a:uFillTx/>
                <a:ea typeface="+mn-ea"/>
                <a:cs typeface="+mn-cs"/>
              </a:rPr>
              <a:t>белый)</a:t>
            </a:r>
            <a:r>
              <a:rPr kumimoji="0" lang="ce-Cyrl-RU" sz="1800" b="0" i="0" u="none" strike="noStrike" kern="1200" cap="none" spc="0" normalizeH="0" baseline="0" noProof="0" dirty="0">
                <a:ln>
                  <a:noFill/>
                </a:ln>
                <a:solidFill>
                  <a:prstClr val="black"/>
                </a:solidFill>
                <a:effectLst/>
                <a:uLnTx/>
                <a:uFillTx/>
                <a:ea typeface="+mn-ea"/>
                <a:cs typeface="+mn-cs"/>
              </a:rPr>
              <a:t>. </a:t>
            </a:r>
            <a:br>
              <a:rPr kumimoji="0" lang="ce-Cyrl-RU" sz="1800" b="0" i="0" u="none" strike="noStrike" kern="1200" cap="none" spc="0" normalizeH="0" baseline="0" noProof="0" dirty="0">
                <a:ln>
                  <a:noFill/>
                </a:ln>
                <a:solidFill>
                  <a:prstClr val="black"/>
                </a:solidFill>
                <a:effectLst/>
                <a:uLnTx/>
                <a:uFillTx/>
                <a:ea typeface="+mn-ea"/>
                <a:cs typeface="+mn-cs"/>
              </a:rPr>
            </a:br>
            <a:r>
              <a:rPr kumimoji="0" lang="ce-Cyrl-RU" sz="1800" b="0" i="0" u="none" strike="noStrike" kern="1200" cap="none" spc="0" normalizeH="0" baseline="0" noProof="0" dirty="0">
                <a:ln>
                  <a:noFill/>
                </a:ln>
                <a:solidFill>
                  <a:prstClr val="black"/>
                </a:solidFill>
                <a:effectLst/>
                <a:uLnTx/>
                <a:uFillTx/>
                <a:ea typeface="+mn-ea"/>
                <a:cs typeface="+mn-cs"/>
              </a:rPr>
              <a:t>Ср. чеч.</a:t>
            </a:r>
            <a:r>
              <a:rPr kumimoji="0" lang="ce-Cyrl-RU" sz="1800" b="0" i="0" u="none" strike="noStrike" kern="1200" cap="none" spc="0" normalizeH="0" noProof="0" dirty="0">
                <a:ln>
                  <a:noFill/>
                </a:ln>
                <a:solidFill>
                  <a:prstClr val="black"/>
                </a:solidFill>
                <a:effectLst/>
                <a:uLnTx/>
                <a:uFillTx/>
                <a:ea typeface="+mn-ea"/>
                <a:cs typeface="+mn-cs"/>
              </a:rPr>
              <a:t> “Дела реза хуьлда” и инг. “Даьла раьза хилда”.</a:t>
            </a:r>
            <a:endParaRPr kumimoji="0" lang="ce-Cyrl-RU" sz="1800" b="0" i="0" u="none" strike="noStrike" kern="1200" cap="none" spc="0" normalizeH="0" baseline="0" noProof="0" dirty="0">
              <a:ln>
                <a:noFill/>
              </a:ln>
              <a:solidFill>
                <a:prstClr val="black"/>
              </a:solidFill>
              <a:effectLst/>
              <a:uLnTx/>
              <a:uFillTx/>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e-Cyrl-RU" sz="1800" b="0" i="0" u="none" strike="noStrike" kern="1200" cap="none" spc="0" normalizeH="0" baseline="0" noProof="0" dirty="0">
                <a:ln>
                  <a:noFill/>
                </a:ln>
                <a:solidFill>
                  <a:prstClr val="black"/>
                </a:solidFill>
                <a:effectLst/>
                <a:uLnTx/>
                <a:uFillTx/>
                <a:ea typeface="+mn-ea"/>
                <a:cs typeface="+mn-cs"/>
              </a:rPr>
              <a:t>Назальных звуков меньше, чем в чеченском, в письме они никак не отображаются.</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e-Cyrl-RU" sz="1800" b="0" i="1" u="none" strike="noStrike" kern="1200" cap="none" spc="0" normalizeH="0" baseline="0" noProof="0" dirty="0">
                <a:ln>
                  <a:noFill/>
                </a:ln>
                <a:solidFill>
                  <a:prstClr val="black"/>
                </a:solidFill>
                <a:effectLst/>
                <a:uLnTx/>
                <a:uFillTx/>
                <a:ea typeface="+mn-ea"/>
                <a:cs typeface="+mn-cs"/>
              </a:rPr>
              <a:t>Лг, рг, шк, кк, г, к </a:t>
            </a:r>
            <a:r>
              <a:rPr kumimoji="0" lang="ce-Cyrl-RU" sz="1800" b="0" i="0" u="none" strike="noStrike" kern="1200" cap="none" spc="0" normalizeH="0" baseline="0" noProof="0" dirty="0">
                <a:ln>
                  <a:noFill/>
                </a:ln>
                <a:solidFill>
                  <a:prstClr val="black"/>
                </a:solidFill>
                <a:effectLst/>
                <a:uLnTx/>
                <a:uFillTx/>
                <a:ea typeface="+mn-ea"/>
                <a:cs typeface="+mn-cs"/>
              </a:rPr>
              <a:t>на конце слов произносятся мягко, как </a:t>
            </a:r>
            <a:r>
              <a:rPr kumimoji="0" lang="ce-Cyrl-RU" sz="1800" b="0" i="1" u="none" strike="noStrike" kern="1200" cap="none" spc="0" normalizeH="0" baseline="0" noProof="0" dirty="0">
                <a:ln>
                  <a:noFill/>
                </a:ln>
                <a:solidFill>
                  <a:prstClr val="black"/>
                </a:solidFill>
                <a:effectLst/>
                <a:uLnTx/>
                <a:uFillTx/>
                <a:ea typeface="+mn-ea"/>
                <a:cs typeface="+mn-cs"/>
              </a:rPr>
              <a:t>льгь, рьгь, шькь, ськь, ккь</a:t>
            </a:r>
            <a:br>
              <a:rPr kumimoji="0" lang="ce-Cyrl-RU" sz="1800" b="0" i="1" u="none" strike="noStrike" kern="1200" cap="none" spc="0" normalizeH="0" baseline="0" noProof="0" dirty="0">
                <a:ln>
                  <a:noFill/>
                </a:ln>
                <a:solidFill>
                  <a:prstClr val="black"/>
                </a:solidFill>
                <a:effectLst/>
                <a:uLnTx/>
                <a:uFillTx/>
                <a:ea typeface="+mn-ea"/>
                <a:cs typeface="+mn-cs"/>
              </a:rPr>
            </a:br>
            <a:r>
              <a:rPr kumimoji="0" lang="ce-Cyrl-RU" sz="1800" b="0" i="1" u="none" strike="noStrike" kern="1200" cap="none" spc="0" normalizeH="0" baseline="0" noProof="0" dirty="0">
                <a:ln>
                  <a:noFill/>
                </a:ln>
                <a:solidFill>
                  <a:prstClr val="black"/>
                </a:solidFill>
                <a:effectLst/>
                <a:uLnTx/>
                <a:uFillTx/>
                <a:ea typeface="+mn-ea"/>
                <a:cs typeface="+mn-cs"/>
              </a:rPr>
              <a:t>(кулг, лерг, пешк, циск, икк, гииг)</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e-Cyrl-RU" sz="1800" b="0" i="0" u="none" strike="noStrike" kern="1200" cap="none" spc="0" normalizeH="0" baseline="0" noProof="0" dirty="0">
                <a:ln>
                  <a:noFill/>
                </a:ln>
                <a:solidFill>
                  <a:prstClr val="black"/>
                </a:solidFill>
                <a:effectLst/>
                <a:uLnTx/>
                <a:uFillTx/>
                <a:ea typeface="+mn-ea"/>
                <a:cs typeface="+mn-cs"/>
              </a:rPr>
              <a:t>Буквы “ж” и “з” обычно произносятся как “дж” и “дз” – модж, хьадж, модз, гердз.</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e-Cyrl-RU" sz="1800" b="0" i="0" u="none" strike="noStrike" kern="1200" cap="none" spc="0" normalizeH="0" baseline="0" noProof="0" dirty="0">
                <a:ln>
                  <a:noFill/>
                </a:ln>
                <a:solidFill>
                  <a:prstClr val="black"/>
                </a:solidFill>
                <a:effectLst/>
                <a:uLnTx/>
                <a:uFillTx/>
                <a:ea typeface="+mn-ea"/>
                <a:cs typeface="+mn-cs"/>
              </a:rPr>
              <a:t>Буква “ш” на конце обычно произносится звонко, как “ж” (ср. чеч. “уьш” – инг. “уж”)</a:t>
            </a:r>
            <a:endParaRPr kumimoji="0" lang="nl-BE"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p:txBody>
      </p:sp>
    </p:spTree>
    <p:custDataLst>
      <p:tags r:id="rId1"/>
    </p:custDataLst>
    <p:extLst>
      <p:ext uri="{BB962C8B-B14F-4D97-AF65-F5344CB8AC3E}">
        <p14:creationId xmlns:p14="http://schemas.microsoft.com/office/powerpoint/2010/main" val="1643179694"/>
      </p:ext>
    </p:extLst>
  </p:cSld>
  <p:clrMapOvr>
    <a:masterClrMapping/>
  </p:clrMapOvr>
  <mc:AlternateContent xmlns:mc="http://schemas.openxmlformats.org/markup-compatibility/2006" xmlns:p14="http://schemas.microsoft.com/office/powerpoint/2010/main">
    <mc:Choice Requires="p14">
      <p:transition spd="med" p14:dur="700" advTm="373661">
        <p:fade/>
      </p:transition>
    </mc:Choice>
    <mc:Fallback xmlns="">
      <p:transition spd="med" advTm="37366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91.3|0.5|0.5|1.5|0.5|0.9|176|0.5|0.3|0.5"/>
</p:tagLst>
</file>

<file path=ppt/tags/tag2.xml><?xml version="1.0" encoding="utf-8"?>
<p:tagLst xmlns:a="http://schemas.openxmlformats.org/drawingml/2006/main" xmlns:r="http://schemas.openxmlformats.org/officeDocument/2006/relationships" xmlns:p="http://schemas.openxmlformats.org/presentationml/2006/main">
  <p:tag name="TIMING" val="|191.3|0.5|0.5|1.5|0.5|0.9|176|0.5|0.3|0.5"/>
</p:tagLst>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0</TotalTime>
  <Words>897</Words>
  <Application>Microsoft Office PowerPoint</Application>
  <PresentationFormat>Widescreen</PresentationFormat>
  <Paragraphs>46</Paragraphs>
  <Slides>10</Slides>
  <Notes>0</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Alasassy Caps</vt:lpstr>
      <vt:lpstr>Arial</vt:lpstr>
      <vt:lpstr>Gill Sans MT</vt:lpstr>
      <vt:lpstr>Times New Roman</vt:lpstr>
      <vt:lpstr>Gallery</vt:lpstr>
      <vt:lpstr>Опыт изучения ингушского языка</vt:lpstr>
      <vt:lpstr>Мудрые наставления наших предков</vt:lpstr>
      <vt:lpstr>предисловие</vt:lpstr>
      <vt:lpstr>Са дешал чIоагIагI да цун эздел </vt:lpstr>
      <vt:lpstr>1. Са дешал ч1оагIагI да цун эздел</vt:lpstr>
      <vt:lpstr>PowerPoint Presentation</vt:lpstr>
      <vt:lpstr>1. His nobility speaks louder than my words</vt:lpstr>
      <vt:lpstr>1. Сан дашал чIогIах йу цуьнан оьздангалла</vt:lpstr>
      <vt:lpstr>Лексика</vt:lpstr>
      <vt:lpstr>Грамматика : АЛФАВИТ</vt:lpstr>
    </vt:vector>
  </TitlesOfParts>
  <Company>FPS Public Health Belgium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Abdulvakhid Shoudouev (FOD VVVL - SPF SPSCAE)</dc:creator>
  <cp:lastModifiedBy>Abdulvakhid Shoudouev (FOD VVVL - SPF SPSCAE)</cp:lastModifiedBy>
  <cp:revision>98</cp:revision>
  <dcterms:created xsi:type="dcterms:W3CDTF">2026-06-01T18:53:02Z</dcterms:created>
  <dcterms:modified xsi:type="dcterms:W3CDTF">2026-06-13T22:17:12Z</dcterms:modified>
</cp:coreProperties>
</file>