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40472" autoAdjust="0"/>
  </p:normalViewPr>
  <p:slideViewPr>
    <p:cSldViewPr snapToGrid="0">
      <p:cViewPr varScale="1">
        <p:scale>
          <a:sx n="64" d="100"/>
          <a:sy n="64" d="100"/>
        </p:scale>
        <p:origin x="3948" y="66"/>
      </p:cViewPr>
      <p:guideLst/>
    </p:cSldViewPr>
  </p:slideViewPr>
  <p:outlineViewPr>
    <p:cViewPr>
      <p:scale>
        <a:sx n="33" d="100"/>
        <a:sy n="33" d="100"/>
      </p:scale>
      <p:origin x="0" y="0"/>
    </p:cViewPr>
  </p:outlin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27/06/2026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a:t>
            </a:r>
            <a:br>
              <a:rPr lang="ce-Cyrl-RU" dirty="0"/>
            </a:br>
            <a:r>
              <a:rPr lang="ce-Cyrl-RU" dirty="0"/>
              <a:t>Я видел столько всего хорошего и красивого со стороны ингушей, что мне хочется отблагодарить их хотя бы тем, что я попытаюсь выучить их язык. </a:t>
            </a:r>
            <a:br>
              <a:rPr lang="ce-Cyrl-RU" dirty="0"/>
            </a:br>
            <a:r>
              <a:rPr lang="ce-Cyrl-RU" dirty="0"/>
              <a:t>Первый раз такая идея возникла у меня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a:t>
            </a:r>
            <a:br>
              <a:rPr lang="ce-Cyrl-RU" dirty="0"/>
            </a:br>
            <a:r>
              <a:rPr lang="ce-Cyrl-RU" dirty="0"/>
              <a:t>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лексику собираюсь иллюстрировать поговорками. Возможно, в дальнейшем, Дала аьннад Далахь, сделаю отдельный видео-ряд для пословиц. Всего в книге 171 притча, я планирую записать одно видео на притчу. Длительность видео – около 15 минут. Каждое видео будет состоять из короткого вступления, затем слайд с ингушским текстом и с озвучкой (спасибо ингушам, которые помогают с озвучкой), далее планируется три коротких слайда на несколько секунд -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a:t>
            </a:r>
            <a:br>
              <a:rPr lang="ce-Cyrl-RU" dirty="0"/>
            </a:br>
            <a:r>
              <a:rPr lang="ce-Cyrl-RU" dirty="0"/>
              <a:t>Я буду излагать свой опыт изучения языка. При этом я, скорее всего, буду увлекаться, делать ошибки, могу сказать что-нибудь, что кому-то не понравится, - в свое оправдание могу сказать, что я начинаю эту работу из хороших побуждений. </a:t>
            </a:r>
            <a:br>
              <a:rPr lang="ce-Cyrl-RU" dirty="0"/>
            </a:br>
            <a:r>
              <a:rPr lang="ce-Cyrl-RU" dirty="0"/>
              <a:t>Возможно, я буду слишком увлекаться сравнением с чеченским, - это потому, что чеченский является для меня родным, и, естественно, при изучении нового языка я сравниваю его со своим родным. Также прошу прощения за мое корявое произношение ингушских слов, я работаю над этим. </a:t>
            </a:r>
            <a:br>
              <a:rPr lang="ce-Cyrl-RU" dirty="0"/>
            </a:br>
            <a:r>
              <a:rPr lang="ce-Cyrl-RU" dirty="0"/>
              <a:t>Мы постараемся двигаться от простого к сложному – сначала алфавит, разъяснение грамматических терминов, затем сложная грамматика с временами глаголов и падежами существительных, ближе к концу – иллюстрации грамматических правил на примере текстов из притч.</a:t>
            </a:r>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a:t>видео.</a:t>
            </a:r>
          </a:p>
          <a:p>
            <a:r>
              <a:rPr lang="ce-Cyrl-RU"/>
              <a:t>При </a:t>
            </a:r>
            <a:r>
              <a:rPr lang="ce-Cyrl-RU" dirty="0"/>
              <a:t>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 1967</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ru-RU" dirty="0"/>
              <a:t>Оздоева Э</a:t>
            </a:r>
            <a:r>
              <a:rPr lang="ce-Cyrl-RU" dirty="0"/>
              <a:t>.</a:t>
            </a:r>
            <a:r>
              <a:rPr lang="ru-RU" dirty="0"/>
              <a:t>Г</a:t>
            </a:r>
            <a:r>
              <a:rPr lang="ce-Cyrl-RU" dirty="0"/>
              <a:t>., Алиева П.М., Дудургова П.М. “Временные формы в ингушском языке”, 2018</a:t>
            </a:r>
            <a:br>
              <a:rPr lang="ce-Cyrl-RU" dirty="0"/>
            </a:br>
            <a:r>
              <a:rPr lang="ce-Cyrl-RU" dirty="0"/>
              <a:t>Аушева Э.А. “Типы склонения в ингушском языке”, 2019</a:t>
            </a:r>
            <a:br>
              <a:rPr lang="ce-Cyrl-RU" dirty="0"/>
            </a:br>
            <a:br>
              <a:rPr lang="ce-Cyrl-RU" dirty="0"/>
            </a:br>
            <a:r>
              <a:rPr lang="ce-Cyrl-RU" dirty="0"/>
              <a:t>Ссылки на словари и полные названия книг даны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Притча 1 имеет типичный размер. Хоть она и небольшая, но содержит интересную лексику и грамматические формы. Здесь мы поговорим о лексике из данной притче, позже, на следующем слайде мы поговорим об ингушском алфавите и особенностях произношения. </a:t>
            </a:r>
          </a:p>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Слово “эздел” (благородство) ключевое слово в ингушском этикете, не случайно первая притча посвящена этому слову.</a:t>
            </a:r>
            <a:br>
              <a:rPr lang="ce-Cyrl-RU" dirty="0"/>
            </a:br>
            <a:r>
              <a:rPr lang="ce-Cyrl-RU" dirty="0"/>
              <a:t>Поговорки из этой же книги:</a:t>
            </a:r>
            <a:br>
              <a:rPr lang="ce-Cyrl-RU" dirty="0"/>
            </a:br>
            <a:r>
              <a:rPr lang="ce-Cyrl-RU" dirty="0"/>
              <a:t>“Эзде вар-воацар белгалла хул” – Благородного от неблагородного легко отличить.</a:t>
            </a:r>
            <a:br>
              <a:rPr lang="ce-Cyrl-RU" dirty="0"/>
            </a:br>
            <a:r>
              <a:rPr lang="ce-Cyrl-RU" dirty="0"/>
              <a:t>“Эздел леладечунца мара дац” – Благородство лишь у того, кто ведет себя благородно”.</a:t>
            </a:r>
          </a:p>
          <a:p>
            <a:r>
              <a:rPr lang="ce-Cyrl-RU" dirty="0"/>
              <a:t>Дешал – сравнительный падеж от “дош” - слово. Тоже важное понятие в этикете. </a:t>
            </a:r>
          </a:p>
          <a:p>
            <a:r>
              <a:rPr lang="ce-Cyrl-RU" dirty="0"/>
              <a:t>“Дош дала сих ма ле, сихле из кхоачашд</a:t>
            </a:r>
            <a:r>
              <a:rPr lang="en-US" dirty="0"/>
              <a:t>é</a:t>
            </a:r>
            <a:r>
              <a:rPr lang="ce-Cyrl-RU" dirty="0"/>
              <a:t>”. – Не спеши давать слово, спеши его сдержать.</a:t>
            </a:r>
            <a:br>
              <a:rPr lang="ce-Cyrl-RU" dirty="0"/>
            </a:br>
            <a:r>
              <a:rPr lang="ce-Cyrl-RU" dirty="0"/>
              <a:t>Ч1ог1аг1 – сильнее, “ч1ог1ах” на чеч. Если в чеч. здесь конечная глухая “х”, то в инг. это произносится твердо, как “г1”. Аналогично, дикаг1 – диках (лучше), хозаг1 – хазах (красивее).</a:t>
            </a:r>
          </a:p>
          <a:p>
            <a:br>
              <a:rPr lang="ce-Cyrl-RU" dirty="0"/>
            </a:br>
            <a:r>
              <a:rPr lang="ce-Cyrl-RU"/>
              <a:t>Ц1аг1а (пайхмар чуваьлча</a:t>
            </a:r>
            <a:r>
              <a:rPr lang="ce-Cyrl-RU" dirty="0"/>
              <a:t>) – вошел в дом, местный падеж. Прямая аналогия для “ц1аг1а” в чеченском – это форма местного падежа “ц1ахь” (дома), но чеченский не использует эту форму в таком контексте. В данном случае я бы перевел это на чеченский как “пайхмар ц1а чу ваьлча” (имен. падеж) или “ц1енна пайхмар чуваьлча” – со словом “ц1а” в дательном падеже.</a:t>
            </a:r>
            <a:r>
              <a:rPr lang="ru-RU" dirty="0"/>
              <a:t> </a:t>
            </a:r>
            <a:r>
              <a:rPr lang="ce-Cyrl-RU" dirty="0"/>
              <a:t>Ингушский часто использует местные падежи, они выражают все нюансы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тоже интересное слово, означает “все люди”, по-чеченски “берриш”. </a:t>
            </a:r>
            <a:br>
              <a:rPr lang="ce-Cyrl-RU" dirty="0"/>
            </a:br>
            <a:r>
              <a:rPr lang="ce-Cyrl-RU" dirty="0"/>
              <a:t>Веррига – весь человек, берригаш – все люди. </a:t>
            </a:r>
          </a:p>
          <a:p>
            <a:endParaRPr lang="ce-Cyrl-RU" dirty="0"/>
          </a:p>
          <a:p>
            <a:r>
              <a:rPr lang="ce-Cyrl-RU" sz="1200" dirty="0"/>
              <a:t>1оха – садись. На мой взгляд, при первом употреблении, когда пророк обращается к группе людей, лучше подошло бы слово “1оховша”, во мн. числе. С другой стороны, тогда бы эффект повтора не был бы так явно выражен. </a:t>
            </a:r>
            <a:r>
              <a:rPr lang="ru-RU" sz="1200" dirty="0"/>
              <a:t>П</a:t>
            </a:r>
            <a:r>
              <a:rPr lang="ce-Cyrl-RU" sz="1200" dirty="0"/>
              <a:t>ространственная приставка “1о” (по-чеченски “охьа”) означает “вниз”. Мы планируем рассмотреть пространственные приставки в отдельном видео, ингушский язык очень богат на пространственные приставки, например, маг1а, эг1а, которых нет в чеченском.</a:t>
            </a:r>
            <a:br>
              <a:rPr lang="ce-Cyrl-RU" sz="1200" dirty="0"/>
            </a:br>
            <a:r>
              <a:rPr lang="ru-RU" sz="1200" dirty="0"/>
              <a:t>Латтийсав</a:t>
            </a:r>
            <a:r>
              <a:rPr lang="ce-Cyrl-RU" sz="1200" dirty="0"/>
              <a:t> – опечатка, должно быть “латта висав”, остался стоять.</a:t>
            </a:r>
          </a:p>
          <a:p>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Чеченская орфография считает, что это два разных слова. Про отрицательные формы глаголов мы тоже будем говорить отдельно.</a:t>
            </a:r>
          </a:p>
          <a:p>
            <a:br>
              <a:rPr lang="ce-Cyrl-RU" sz="1200" dirty="0"/>
            </a:br>
            <a:r>
              <a:rPr lang="ru-RU" sz="1200" dirty="0"/>
              <a:t>Б</a:t>
            </a:r>
            <a:r>
              <a:rPr lang="ce-Cyrl-RU" sz="1200" dirty="0"/>
              <a:t>ехк баккха, бехкаш даха во мн. числе. </a:t>
            </a:r>
            <a:r>
              <a:rPr lang="ru-RU" sz="1200" dirty="0"/>
              <a:t>Б</a:t>
            </a:r>
            <a:r>
              <a:rPr lang="ce-Cyrl-RU" sz="1200" dirty="0"/>
              <a:t>ехк баккха – буквально “извлечь вину”, также говорят “чкъаьрий даха” – рыбачить. </a:t>
            </a:r>
          </a:p>
          <a:p>
            <a:r>
              <a:rPr lang="ce-Cyrl-RU" sz="1200" dirty="0"/>
              <a:t>Сих - вещественный падеж от са (душа). В ингушском очень много слов, производных от слова “душа” – грустить, веселиться, переживать, и т.д. Таким словам мы планируем посвятить отдельный урок в Притче 159 “</a:t>
            </a:r>
            <a:r>
              <a:rPr lang="ru-RU" sz="1200" dirty="0"/>
              <a:t>Эхь-эзделахи сабар-сатемахи</a:t>
            </a:r>
            <a:r>
              <a:rPr lang="ce-Cyrl-RU" sz="1200" dirty="0"/>
              <a:t>”. </a:t>
            </a:r>
            <a:br>
              <a:rPr lang="ce-Cyrl-RU" sz="1200" dirty="0"/>
            </a:br>
            <a:r>
              <a:rPr lang="ce-Cyrl-RU" sz="1200" dirty="0"/>
              <a:t>Поговорка со словом “са”:</a:t>
            </a:r>
            <a:br>
              <a:rPr lang="ce-Cyrl-RU" sz="1200" dirty="0"/>
            </a:br>
            <a:r>
              <a:rPr lang="ce-Cyrl-RU" sz="1200" dirty="0"/>
              <a:t>“</a:t>
            </a:r>
            <a:r>
              <a:rPr lang="ru-RU" sz="1200" dirty="0"/>
              <a:t>Са дуача в1оахалал сатийна къел тол.</a:t>
            </a:r>
            <a:r>
              <a:rPr lang="ce-Cyrl-RU" sz="1200" dirty="0"/>
              <a:t>” - </a:t>
            </a:r>
            <a:r>
              <a:rPr lang="nl-BE" sz="1200" b="0" i="0" kern="1200" dirty="0" err="1">
                <a:solidFill>
                  <a:schemeClr val="tx1"/>
                </a:solidFill>
                <a:effectLst/>
                <a:latin typeface="+mn-lt"/>
                <a:ea typeface="+mn-ea"/>
                <a:cs typeface="+mn-cs"/>
              </a:rPr>
              <a:t>Лучше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спокойная</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бедность</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чем</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гложущее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душу</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богатство</a:t>
            </a:r>
            <a:r>
              <a:rPr lang="nl-BE" sz="1200" b="0" i="0" kern="1200" dirty="0">
                <a:solidFill>
                  <a:schemeClr val="tx1"/>
                </a:solidFill>
                <a:effectLst/>
                <a:latin typeface="+mn-lt"/>
                <a:ea typeface="+mn-ea"/>
                <a:cs typeface="+mn-cs"/>
              </a:rPr>
              <a:t>.</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Вариант – если есть возможность, использовать </a:t>
            </a:r>
            <a:r>
              <a:rPr lang="nl-BE" dirty="0" err="1"/>
              <a:t>Gill</a:t>
            </a:r>
            <a:r>
              <a:rPr lang="nl-BE" dirty="0"/>
              <a:t> Sans</a:t>
            </a:r>
            <a:r>
              <a:rPr lang="ce-Cyrl-RU" dirty="0"/>
              <a:t>, на данных слайдах я использую этот шрифт. Еще один вариант – взять текст с единичками и внести его в раздел “Проверка правописания” на сайте “ДикДошам”, программа автоматически заменит единички на кириллические палочки.</a:t>
            </a:r>
          </a:p>
          <a:p>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p>
          <a:p>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p>
          <a:p>
            <a:br>
              <a:rPr lang="ce-Cyrl-RU" dirty="0"/>
            </a:br>
            <a:r>
              <a:rPr lang="ce-Cyrl-RU" dirty="0"/>
              <a:t>Ф: языки без звука “ф” в исконных словах – русский, персидский, практически все кавказские; языки без звука “п” – арабский. Интересно турецкое слово “фес” (феска, тюбетейка). В чеч. оно трансформировалось в “пес”, в инг. звук “ф” сохранился : “фазиг”.</a:t>
            </a:r>
          </a:p>
          <a:p>
            <a:br>
              <a:rPr lang="ce-Cyrl-RU" dirty="0"/>
            </a:br>
            <a:r>
              <a:rPr lang="ce-Cyrl-RU" dirty="0"/>
              <a:t>Е: г1айттаб – г1еттина; 1охайшача – охьахевшича;</a:t>
            </a:r>
          </a:p>
          <a:p>
            <a:br>
              <a:rPr lang="ce-Cyrl-RU" dirty="0"/>
            </a:br>
            <a:r>
              <a:rPr lang="ce-Cyrl-RU" dirty="0"/>
              <a:t>Ж, З: аналогичная ситуация, например, с английским – Джек, Джон, Дзорро. В заимствованных из русского словах произносится как “ж” и “з”.</a:t>
            </a:r>
            <a:br>
              <a:rPr lang="en-US" dirty="0"/>
            </a:br>
            <a:r>
              <a:rPr lang="ce-Cyrl-RU"/>
              <a:t>Мы вернемся к </a:t>
            </a:r>
            <a:r>
              <a:rPr lang="ce-Cyrl-RU" dirty="0"/>
              <a:t>этим </a:t>
            </a:r>
            <a:r>
              <a:rPr lang="ce-Cyrl-RU"/>
              <a:t>буквам в отдельном </a:t>
            </a:r>
            <a:r>
              <a:rPr lang="ce-Cyrl-RU" dirty="0"/>
              <a:t>видео, Притча 144</a:t>
            </a:r>
          </a:p>
          <a:p>
            <a:endParaRPr lang="ce-Cyrl-RU" dirty="0">
              <a:latin typeface="Gill Sans MT" panose="020B0502020104020203" pitchFamily="34" charset="0"/>
            </a:endParaRPr>
          </a:p>
          <a:p>
            <a:r>
              <a:rPr lang="ce-Cyrl-RU" dirty="0">
                <a:latin typeface="Gill Sans MT" panose="020B0502020104020203" pitchFamily="34" charset="0"/>
              </a:rPr>
              <a:t>С, Ш, Х в аффиксальных окончаниях : нанас - наназ, берригаш – берригаж, бехкаш - бехкаж, ях – яг1, цох – цог1, сих – сиг1.</a:t>
            </a:r>
          </a:p>
          <a:p>
            <a:r>
              <a:rPr lang="ce-Cyrl-RU" dirty="0">
                <a:latin typeface="Gill Sans MT" panose="020B0502020104020203" pitchFamily="34" charset="0"/>
              </a:rPr>
              <a:t>При этом, например, “х” в слове “нах” является частью корня, поэтому произносится как “х”.</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27/06/2026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27/06/2026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27/06/2026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27/06/2026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27/06/2026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27/06/2026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27/06/2026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27/06/2026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27/06/2026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27/06/2026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27/06/2026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27/06/2026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a:t>
            </a:r>
            <a:r>
              <a:rPr lang="ce-Cyrl-RU" dirty="0">
                <a:solidFill>
                  <a:prstClr val="black"/>
                </a:solidFill>
              </a:rPr>
              <a:t>“с”,</a:t>
            </a:r>
            <a:r>
              <a:rPr kumimoji="0" lang="ce-Cyrl-RU" sz="1800" b="0" i="0" u="none" strike="noStrike" kern="1200" cap="none" spc="0" normalizeH="0" baseline="0" noProof="0" dirty="0">
                <a:ln>
                  <a:noFill/>
                </a:ln>
                <a:solidFill>
                  <a:prstClr val="black"/>
                </a:solidFill>
                <a:effectLst/>
                <a:uLnTx/>
                <a:uFillTx/>
                <a:ea typeface="+mn-ea"/>
                <a:cs typeface="+mn-cs"/>
              </a:rPr>
              <a:t>“ш”,”х” в приставках</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0" u="none" strike="noStrike" kern="1200" cap="none" spc="0" normalizeH="0" baseline="0" noProof="0" dirty="0">
                <a:ln>
                  <a:noFill/>
                </a:ln>
                <a:solidFill>
                  <a:prstClr val="black"/>
                </a:solidFill>
                <a:effectLst/>
                <a:uLnTx/>
                <a:uFillTx/>
                <a:ea typeface="+mn-ea"/>
                <a:cs typeface="+mn-cs"/>
              </a:rPr>
              <a:t>на конце обычно произносится звонко, как “з”,“ж”,”г1”</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2823</Words>
  <Application>Microsoft Office PowerPoint</Application>
  <PresentationFormat>Widescreen</PresentationFormat>
  <Paragraphs>77</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143</cp:revision>
  <dcterms:created xsi:type="dcterms:W3CDTF">2026-06-01T18:53:02Z</dcterms:created>
  <dcterms:modified xsi:type="dcterms:W3CDTF">2026-06-27T11:10:41Z</dcterms:modified>
</cp:coreProperties>
</file>