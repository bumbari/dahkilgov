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2"/>
  </p:notesMasterIdLst>
  <p:sldIdLst>
    <p:sldId id="256" r:id="rId2"/>
    <p:sldId id="257" r:id="rId3"/>
    <p:sldId id="262" r:id="rId4"/>
    <p:sldId id="258" r:id="rId5"/>
    <p:sldId id="259" r:id="rId6"/>
    <p:sldId id="267" r:id="rId7"/>
    <p:sldId id="260" r:id="rId8"/>
    <p:sldId id="261" r:id="rId9"/>
    <p:sldId id="263"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ru" id="{EC7CF159-B613-4BB0-A71F-6A447E7D2288}">
          <p14:sldIdLst>
            <p14:sldId id="267"/>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63842" autoAdjust="0"/>
  </p:normalViewPr>
  <p:slideViewPr>
    <p:cSldViewPr snapToGrid="0">
      <p:cViewPr varScale="1">
        <p:scale>
          <a:sx n="61" d="100"/>
          <a:sy n="61" d="100"/>
        </p:scale>
        <p:origin x="1474" y="43"/>
      </p:cViewPr>
      <p:guideLst/>
    </p:cSldViewPr>
  </p:slideViewPr>
  <p:outlineViewPr>
    <p:cViewPr>
      <p:scale>
        <a:sx n="33" d="100"/>
        <a:sy n="33" d="100"/>
      </p:scale>
      <p:origin x="0" y="0"/>
    </p:cViewPr>
  </p:outlineViewPr>
  <p:notesTextViewPr>
    <p:cViewPr>
      <p:scale>
        <a:sx n="3" d="2"/>
        <a:sy n="3" d="2"/>
      </p:scale>
      <p:origin x="0" y="-288"/>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0EF0D-C0AE-4057-9FB9-5976587F9AED}" type="datetimeFigureOut">
              <a:rPr lang="nl-BE" smtClean="0"/>
              <a:t>15/06/2026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988EC9-9D06-45FD-A085-36D14FED115C}" type="slidenum">
              <a:rPr lang="nl-BE" smtClean="0"/>
              <a:t>‹#›</a:t>
            </a:fld>
            <a:endParaRPr lang="nl-BE"/>
          </a:p>
        </p:txBody>
      </p:sp>
    </p:spTree>
    <p:extLst>
      <p:ext uri="{BB962C8B-B14F-4D97-AF65-F5344CB8AC3E}">
        <p14:creationId xmlns:p14="http://schemas.microsoft.com/office/powerpoint/2010/main" val="1553455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e-Cyrl-RU" dirty="0"/>
              <a:t>Эздел – ключевое слово, не случайно первая притча об этом.</a:t>
            </a:r>
            <a:br>
              <a:rPr lang="ce-Cyrl-RU" dirty="0"/>
            </a:br>
            <a:r>
              <a:rPr lang="ce-Cyrl-RU" dirty="0"/>
              <a:t>Ч1ог1аг1 – сильнее, “ч1ог1ах” на чеч. Если в чеч. здесь конечная глухая “х”, то в инг. это произносится твердо, как “г1”. </a:t>
            </a:r>
            <a:br>
              <a:rPr lang="ce-Cyrl-RU" dirty="0"/>
            </a:br>
            <a:r>
              <a:rPr lang="ce-Cyrl-RU" dirty="0"/>
              <a:t>Ц1аг1а – “в доме”. У меня, как у чеченца, возникли сложности с этим словом. Если перевести буквально на чеченский, то получается “ц1ахь”, но тогда это переводится как “у себя дома”. Я бы перевел это как “ц1енна чохь” – “в </a:t>
            </a:r>
            <a:r>
              <a:rPr lang="ce-Cyrl-RU"/>
              <a:t>доме” (“ц1енна чухь” на ингушском), </a:t>
            </a:r>
            <a:r>
              <a:rPr lang="ce-Cyrl-RU" dirty="0"/>
              <a:t>со словом “ц1а” в дательном падеже.</a:t>
            </a:r>
            <a:r>
              <a:rPr lang="ru-RU" dirty="0"/>
              <a:t> </a:t>
            </a:r>
            <a:r>
              <a:rPr lang="ce-Cyrl-RU" dirty="0"/>
              <a:t>Но, п</a:t>
            </a:r>
            <a:r>
              <a:rPr lang="ru-RU" dirty="0"/>
              <a:t>охоже, здесь слово ц1а в местном падеже</a:t>
            </a:r>
            <a:r>
              <a:rPr lang="ce-Cyrl-RU" dirty="0"/>
              <a:t>, показывает, что пророк шел по направлению к этому дому.</a:t>
            </a:r>
            <a:r>
              <a:rPr lang="ru-RU" dirty="0"/>
              <a:t> </a:t>
            </a:r>
            <a:r>
              <a:rPr lang="ce-Cyrl-RU" dirty="0"/>
              <a:t>В ингушском, по сравнению с чеченским, гораздо чаще используются различные формы местных падежей, для выражения всех нюансов пространственных отношений. Слово “ц1аг1а” нам еще будет встречаться в других притчах, я надеюсь, что в дальнейшем для меня самого употребление этого слова будет понятнее.</a:t>
            </a: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9</a:t>
            </a:fld>
            <a:endParaRPr lang="nl-BE"/>
          </a:p>
        </p:txBody>
      </p:sp>
    </p:spTree>
    <p:extLst>
      <p:ext uri="{BB962C8B-B14F-4D97-AF65-F5344CB8AC3E}">
        <p14:creationId xmlns:p14="http://schemas.microsoft.com/office/powerpoint/2010/main" val="40455455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 </a:t>
            </a:r>
            <a:r>
              <a:rPr lang="ce-Cyrl-RU" dirty="0"/>
              <a:t>источник технических проблем для всех северокавказских языков с кириллическим алфавитом. Строго говоря, надо использовать знак “кириллическая палочка” (</a:t>
            </a:r>
            <a:r>
              <a:rPr lang="nl-BE" dirty="0"/>
              <a:t>U+04C0 – </a:t>
            </a:r>
            <a:r>
              <a:rPr lang="ce-Cyrl-RU" dirty="0"/>
              <a:t>код заглавной буквы, </a:t>
            </a:r>
            <a:r>
              <a:rPr lang="nl-BE" dirty="0"/>
              <a:t>U+04CF </a:t>
            </a:r>
            <a:r>
              <a:rPr lang="en-US" dirty="0"/>
              <a:t>- </a:t>
            </a:r>
            <a:r>
              <a:rPr lang="ce-Cyrl-RU" dirty="0"/>
              <a:t>код строчной буквы), но его нет ни в русской раскладке клавиатуры, ни в английской. </a:t>
            </a:r>
            <a:br>
              <a:rPr lang="ce-Cyrl-RU" dirty="0"/>
            </a:br>
            <a:r>
              <a:rPr lang="ce-Cyrl-RU" dirty="0"/>
              <a:t>Клавиши “Вертикальная палочка” и заглавная английская буква “</a:t>
            </a:r>
            <a:r>
              <a:rPr lang="en-US" dirty="0"/>
              <a:t>I</a:t>
            </a:r>
            <a:r>
              <a:rPr lang="ce-Cyrl-RU" dirty="0"/>
              <a:t>”</a:t>
            </a:r>
            <a:r>
              <a:rPr lang="en-US" dirty="0"/>
              <a:t> </a:t>
            </a:r>
            <a:r>
              <a:rPr lang="ce-Cyrl-RU" dirty="0"/>
              <a:t>имеют другой код.</a:t>
            </a:r>
            <a:br>
              <a:rPr lang="ce-Cyrl-RU" dirty="0"/>
            </a:br>
            <a:r>
              <a:rPr lang="ce-Cyrl-RU" dirty="0"/>
              <a:t>Раньше на печатных машинках цифра “1” и английская “</a:t>
            </a:r>
            <a:r>
              <a:rPr lang="en-US" dirty="0"/>
              <a:t>I” </a:t>
            </a:r>
            <a:r>
              <a:rPr lang="ce-Cyrl-RU" dirty="0"/>
              <a:t>выглядели одинаково, поэтому раньше такой проблемы не было. На практике люди часто используют цифру “1”. Латинская буква </a:t>
            </a:r>
            <a:r>
              <a:rPr lang="en-US" dirty="0"/>
              <a:t>“I” </a:t>
            </a:r>
            <a:r>
              <a:rPr lang="ce-Cyrl-RU" dirty="0"/>
              <a:t>больше похожа на кириллическую палочку, но для этого надо специально </a:t>
            </a:r>
            <a:r>
              <a:rPr lang="ce-Cyrl-RU"/>
              <a:t>для этой буквы временно переключаться на английскую раскладку.</a:t>
            </a:r>
            <a:br>
              <a:rPr lang="en-US" dirty="0"/>
            </a:br>
            <a:r>
              <a:rPr lang="ce-Cyrl-RU" dirty="0"/>
              <a:t>ОЬ: хьога – хьоьга;</a:t>
            </a:r>
            <a:br>
              <a:rPr lang="ce-Cyrl-RU" dirty="0"/>
            </a:br>
            <a:r>
              <a:rPr lang="ce-Cyrl-RU" dirty="0"/>
              <a:t>УЬ: цун, цунга – цуьнан, цуьнга; уж – уьш: </a:t>
            </a:r>
            <a:br>
              <a:rPr lang="ce-Cyrl-RU" dirty="0"/>
            </a:br>
            <a:r>
              <a:rPr lang="ce-Cyrl-RU" dirty="0"/>
              <a:t>ОА: оалаш – олуш; ч1</a:t>
            </a:r>
            <a:r>
              <a:rPr lang="ce-Cyrl-RU" b="1" dirty="0"/>
              <a:t>оа</a:t>
            </a:r>
            <a:r>
              <a:rPr lang="ce-Cyrl-RU" dirty="0"/>
              <a:t>г1аг1 – ч1</a:t>
            </a:r>
            <a:r>
              <a:rPr lang="ce-Cyrl-RU" b="1" dirty="0"/>
              <a:t>о</a:t>
            </a:r>
            <a:r>
              <a:rPr lang="ce-Cyrl-RU" dirty="0"/>
              <a:t>г1ах; доалла – долла</a:t>
            </a:r>
            <a:br>
              <a:rPr lang="ce-Cyrl-RU" dirty="0"/>
            </a:br>
            <a:r>
              <a:rPr lang="ce-Cyrl-RU" dirty="0"/>
              <a:t>Ф: языки без звука “ф” в исконных словах – русский, персидский, грузинский, чеченский; языки без звука “п” – арабский. Похоже, что в исконно ингушских словах есть оба этих звука. Интересно турецкое слово “фес” (феска, тюбетейка). В чеч. оно трансформировалось в “пес”, в инг. звук “ф” сохранился : “фазиг”.</a:t>
            </a:r>
            <a:br>
              <a:rPr lang="ce-Cyrl-RU" dirty="0"/>
            </a:br>
            <a:r>
              <a:rPr lang="ce-Cyrl-RU" dirty="0"/>
              <a:t>Е: г1айттаб – г1еттина; 1охайшача – охьахевшича;</a:t>
            </a:r>
            <a:br>
              <a:rPr lang="ce-Cyrl-RU" dirty="0"/>
            </a:br>
            <a:r>
              <a:rPr lang="ce-Cyrl-RU" dirty="0"/>
              <a:t>Назальные звуки: в чеч. назальный звук “н” пишется в некоторых односложных словах : дин, ан, г1ан, и в родительном падеже : сан, стаган, ... </a:t>
            </a:r>
            <a:br>
              <a:rPr lang="ce-Cyrl-RU" dirty="0"/>
            </a:br>
            <a:r>
              <a:rPr lang="ce-Cyrl-RU" dirty="0"/>
              <a:t>Назальный звук в ингушском выявляется при образовании мн. числа, там он теряет назальность:</a:t>
            </a:r>
            <a:br>
              <a:rPr lang="ce-Cyrl-RU" dirty="0"/>
            </a:br>
            <a:r>
              <a:rPr lang="ce-Cyrl-RU" dirty="0"/>
              <a:t>ди – динаш, а – анаш, г1а – г1анаш</a:t>
            </a:r>
            <a:br>
              <a:rPr lang="ce-Cyrl-RU" dirty="0"/>
            </a:br>
            <a:r>
              <a:rPr lang="ce-Cyrl-RU" dirty="0"/>
              <a:t>Ж, З: аналогичная ситуация, например, с английским – Джек, Джон, Дзорро.</a:t>
            </a: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10</a:t>
            </a:fld>
            <a:endParaRPr lang="nl-BE"/>
          </a:p>
        </p:txBody>
      </p:sp>
    </p:spTree>
    <p:extLst>
      <p:ext uri="{BB962C8B-B14F-4D97-AF65-F5344CB8AC3E}">
        <p14:creationId xmlns:p14="http://schemas.microsoft.com/office/powerpoint/2010/main" val="33604087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15/06/2026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15/06/2026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15/06/2026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15/06/2026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15/06/2026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15/06/2026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15/06/2026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15/06/2026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15/06/2026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15/06/2026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15/06/2026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15/06/2026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4"/>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1938992"/>
          </a:xfrm>
          <a:prstGeom prst="rect">
            <a:avLst/>
          </a:prstGeom>
          <a:noFill/>
        </p:spPr>
        <p:txBody>
          <a:bodyPr wrap="square" rtlCol="0">
            <a:spAutoFit/>
          </a:bodyPr>
          <a:lstStyle/>
          <a:p>
            <a:r>
              <a:rPr lang="ru-RU" sz="2400" dirty="0"/>
              <a:t>Гулбенна нах багӀача цӀагӀа Мохьмад-пайхамар чуваьлча, берригаш гӀайттаб. Пайхамара Ӏоха а аьнна, уж Ӏохайшача, цхьа зӀамига саг латтийсав. Пайхамара шозлагӀа а а</a:t>
            </a:r>
            <a:r>
              <a:rPr lang="ce-Cyrl-RU" sz="2400" dirty="0"/>
              <a:t>ь</a:t>
            </a:r>
            <a:r>
              <a:rPr lang="ru-RU" sz="2400"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sz="2400" dirty="0"/>
              <a:t>- Бехкаш ма даха цох. Са дешал чӀоагӀагӀа да цун сих доалла эздел.</a:t>
            </a:r>
            <a:endParaRPr lang="nl-BE" sz="2400" dirty="0"/>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1797051" y="857983"/>
            <a:ext cx="67068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DF90C-729C-3B9C-4997-1D0EDCAB43B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1F4E762B-BE22-34F4-37FC-54D7F596ABD9}"/>
              </a:ext>
            </a:extLst>
          </p:cNvPr>
          <p:cNvSpPr txBox="1">
            <a:spLocks/>
          </p:cNvSpPr>
          <p:nvPr/>
        </p:nvSpPr>
        <p:spPr>
          <a:xfrm>
            <a:off x="869004" y="1275810"/>
            <a:ext cx="10379413" cy="378565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mn-lt"/>
                <a:ea typeface="+mn-ea"/>
                <a:cs typeface="+mn-cs"/>
              </a:rPr>
              <a:t>1. </a:t>
            </a:r>
            <a:r>
              <a:rPr kumimoji="0" lang="ru-RU" sz="2400" b="1" i="0" u="none" strike="noStrike" kern="1200" cap="none" spc="0" normalizeH="0" baseline="0" noProof="0" dirty="0">
                <a:ln>
                  <a:noFill/>
                </a:ln>
                <a:solidFill>
                  <a:prstClr val="black"/>
                </a:solidFill>
                <a:effectLst/>
                <a:uLnTx/>
                <a:uFillTx/>
                <a:latin typeface="+mn-lt"/>
                <a:ea typeface="+mn-ea"/>
                <a:cs typeface="+mn-cs"/>
              </a:rPr>
              <a:t>Его благородство сильнее моих слов</a:t>
            </a:r>
            <a:br>
              <a:rPr kumimoji="0" lang="ce-Cyrl-RU" sz="2400" b="1" i="0" u="none" strike="noStrike" kern="1200" cap="none" spc="0" normalizeH="0" baseline="0" noProof="0" dirty="0">
                <a:ln>
                  <a:noFill/>
                </a:ln>
                <a:solidFill>
                  <a:prstClr val="black"/>
                </a:solidFill>
                <a:effectLst/>
                <a:uLnTx/>
                <a:uFillTx/>
                <a:latin typeface="+mn-lt"/>
                <a:ea typeface="+mn-ea"/>
                <a:cs typeface="+mn-cs"/>
              </a:rPr>
            </a:br>
            <a:endParaRPr kumimoji="0" lang="ru-RU" sz="24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2400" b="0" i="0" u="none" strike="noStrike" kern="1200" cap="none" spc="0" normalizeH="0" baseline="0" noProof="0" dirty="0">
                <a:ln>
                  <a:noFill/>
                </a:ln>
                <a:solidFill>
                  <a:prstClr val="black"/>
                </a:solidFill>
                <a:effectLst/>
                <a:uLnTx/>
                <a:uFillTx/>
                <a:latin typeface="Gill Sans MT" panose="020B0502020104020203"/>
                <a:ea typeface="+mn-ea"/>
                <a:cs typeface="+mn-cs"/>
              </a:rPr>
              <a:t> </a:t>
            </a:r>
            <a:r>
              <a:rPr kumimoji="0" lang="ru-RU" sz="2400" b="0" i="0" u="none" strike="noStrike" kern="1200" cap="none" spc="0" normalizeH="0" baseline="0" noProof="0" dirty="0">
                <a:ln>
                  <a:noFill/>
                </a:ln>
                <a:solidFill>
                  <a:prstClr val="black"/>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“Не обижайте юношу. Благородство, впитавшееся в его душу, сильнее моих слов”.</a:t>
            </a:r>
            <a:r>
              <a:rPr kumimoji="0" lang="ce-Cyrl-RU" sz="2400" b="0" i="0" u="none" strike="noStrike" kern="1200" cap="none" spc="0" normalizeH="0" baseline="0" noProof="0" dirty="0">
                <a:ln>
                  <a:noFill/>
                </a:ln>
                <a:solidFill>
                  <a:prstClr val="black"/>
                </a:solidFill>
                <a:effectLst/>
                <a:uLnTx/>
                <a:uFillTx/>
                <a:latin typeface="+mn-lt"/>
                <a:ea typeface="+mn-ea"/>
                <a:cs typeface="+mn-cs"/>
              </a:rPr>
              <a:t> </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2" name="TextBox 1">
            <a:extLst>
              <a:ext uri="{FF2B5EF4-FFF2-40B4-BE49-F238E27FC236}">
                <a16:creationId xmlns:a16="http://schemas.microsoft.com/office/drawing/2014/main" id="{DD79485C-8E5D-861C-BF82-F93A3D3B61D5}"/>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ce-Cyrl-RU" sz="1600" b="1" dirty="0"/>
              <a:t>РУССКИЙ</a:t>
            </a:r>
            <a:endParaRPr lang="nl-BE" sz="1600" dirty="0"/>
          </a:p>
        </p:txBody>
      </p:sp>
    </p:spTree>
    <p:extLst>
      <p:ext uri="{BB962C8B-B14F-4D97-AF65-F5344CB8AC3E}">
        <p14:creationId xmlns:p14="http://schemas.microsoft.com/office/powerpoint/2010/main" val="1265090629"/>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a:t>
            </a:r>
            <a:r>
              <a:rPr lang="ce-Cyrl-RU" sz="2400"/>
              <a:t>на</a:t>
            </a:r>
            <a:r>
              <a:rPr lang="ru-RU" sz="2400"/>
              <a:t> </a:t>
            </a:r>
            <a:r>
              <a:rPr lang="ru-RU" sz="2400" dirty="0"/>
              <a:t>чохь Мохьмад-пайхмар (Делера салам-маршал хуьлда цунна) чуваьлча, </a:t>
            </a:r>
            <a:r>
              <a:rPr lang="ce-Cyrl-RU" sz="2400" dirty="0"/>
              <a:t>берриш</a:t>
            </a:r>
            <a:r>
              <a:rPr lang="ru-RU" sz="2400" dirty="0"/>
              <a:t>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3722034" y="1317812"/>
            <a:ext cx="4747932" cy="461665"/>
          </a:xfrm>
          <a:prstGeom prst="rect">
            <a:avLst/>
          </a:prstGeom>
          <a:noFill/>
        </p:spPr>
        <p:txBody>
          <a:bodyPr wrap="square" rtlCol="0">
            <a:spAutoFit/>
          </a:bodyPr>
          <a:lstStyle/>
          <a:p>
            <a:pPr algn="ctr"/>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2438400" y="221474"/>
            <a:ext cx="5043185" cy="489726"/>
          </a:xfrm>
        </p:spPr>
        <p:txBody>
          <a:bodyPr>
            <a:normAutofit fontScale="90000"/>
          </a:bodyPr>
          <a:lstStyle/>
          <a:p>
            <a:r>
              <a:rPr lang="ru-RU" dirty="0"/>
              <a:t>Г</a:t>
            </a:r>
            <a:r>
              <a:rPr lang="ce-Cyrl-RU" dirty="0"/>
              <a:t>рамматика : АЛФАВИТ</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23851" y="895350"/>
            <a:ext cx="8928100" cy="5355312"/>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Всего 46 букв. Буквы, которых нет в русском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гласные</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согласные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p>
          <a:p>
            <a:pPr marL="285750" indent="-285750">
              <a:buFont typeface="Arial" panose="020B0604020202020204" pitchFamily="34" charset="0"/>
              <a:buChar char="•"/>
              <a:defRPr/>
            </a:pPr>
            <a:r>
              <a:rPr lang="ce-Cyrl-RU" dirty="0">
                <a:solidFill>
                  <a:prstClr val="black"/>
                </a:solidFill>
              </a:rPr>
              <a:t>Буква </a:t>
            </a:r>
            <a:r>
              <a:rPr lang="ru-RU" b="1" dirty="0">
                <a:solidFill>
                  <a:prstClr val="black"/>
                </a:solidFill>
              </a:rPr>
              <a:t>Ӏ</a:t>
            </a:r>
            <a:r>
              <a:rPr lang="ce-Cyrl-RU" dirty="0">
                <a:solidFill>
                  <a:prstClr val="black"/>
                </a:solidFill>
              </a:rPr>
              <a:t> (кирилл. палочка) - на практике ее заменяют латинской </a:t>
            </a:r>
            <a:r>
              <a:rPr lang="en-US" dirty="0">
                <a:solidFill>
                  <a:prstClr val="black"/>
                </a:solidFill>
              </a:rPr>
              <a:t>I </a:t>
            </a:r>
            <a:r>
              <a:rPr lang="ce-Cyrl-RU" dirty="0">
                <a:solidFill>
                  <a:prstClr val="black"/>
                </a:solidFill>
              </a:rPr>
              <a:t>или цифрой </a:t>
            </a:r>
            <a:r>
              <a:rPr lang="ce-Cyrl-RU" dirty="0">
                <a:solidFill>
                  <a:prstClr val="black"/>
                </a:solidFill>
                <a:latin typeface="Times New Roman" panose="02020603050405020304" pitchFamily="18" charset="0"/>
              </a:rPr>
              <a:t>1</a:t>
            </a:r>
            <a:r>
              <a:rPr lang="ce-Cyrl-RU" dirty="0">
                <a:solidFill>
                  <a:prstClr val="black"/>
                </a:solidFill>
              </a:rPr>
              <a:t>.</a:t>
            </a:r>
            <a:endParaRPr kumimoji="0" lang="en-US" sz="1800" b="0" i="1"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Часто встречается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встречается чаще, чем в чеченском: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lang="ce-Cyrl-RU" dirty="0">
                <a:solidFill>
                  <a:prstClr val="black"/>
                </a:solidFill>
              </a:rPr>
              <a:t>там, где она есть, она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чеч.</a:t>
            </a:r>
            <a:r>
              <a:rPr kumimoji="0" lang="ce-Cyrl-RU" sz="1800" b="0" i="0" u="none" strike="noStrike" kern="1200" cap="none" spc="0" normalizeH="0" noProof="0" dirty="0">
                <a:ln>
                  <a:noFill/>
                </a:ln>
                <a:solidFill>
                  <a:prstClr val="black"/>
                </a:solidFill>
                <a:effectLst/>
                <a:uLnTx/>
                <a:uFillTx/>
                <a:ea typeface="+mn-ea"/>
                <a:cs typeface="+mn-cs"/>
              </a:rPr>
              <a:t> “Дела реза хуьлда” и инг. “Даьла раьза хилда”.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Назальных звуков меньше, чем в чеченском, в письме они никак не отображаются.</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“ш” на конце обычно произносится звонко, как “ж” (ср. чеч. “уьш” – инг. “уж”)</a:t>
            </a: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0</TotalTime>
  <Words>1409</Words>
  <Application>Microsoft Office PowerPoint</Application>
  <PresentationFormat>Widescreen</PresentationFormat>
  <Paragraphs>49</Paragraphs>
  <Slides>10</Slides>
  <Notes>2</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Alasassy Caps</vt:lpstr>
      <vt:lpstr>Aptos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PowerPoint Presentation</vt:lpstr>
      <vt:lpstr>1. His nobility speaks louder than my words</vt:lpstr>
      <vt:lpstr>1. Сан дашал чIогIах йу цуьнан оьздангалла</vt:lpstr>
      <vt:lpstr>Лексика</vt:lpstr>
      <vt:lpstr>Грамматика : АЛФАВИТ</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110</cp:revision>
  <dcterms:created xsi:type="dcterms:W3CDTF">2026-06-01T18:53:02Z</dcterms:created>
  <dcterms:modified xsi:type="dcterms:W3CDTF">2026-06-15T12:19:40Z</dcterms:modified>
</cp:coreProperties>
</file>