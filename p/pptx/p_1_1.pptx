
<file path=[Content_Types].xml><?xml version="1.0" encoding="utf-8"?>
<Types xmlns="http://schemas.openxmlformats.org/package/2006/content-types">
  <Default Extension="jpeg" ContentType="image/jpeg"/>
  <Default Extension="jpg" ContentType="image/jpe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tags/tag1.xml" ContentType="application/vnd.openxmlformats-officedocument.presentationml.tags+xml"/>
  <Override PartName="/ppt/notesSlides/notesSlide3.xml" ContentType="application/vnd.openxmlformats-officedocument.presentationml.notesSlide+xml"/>
  <Override PartName="/ppt/tags/tag2.xml" ContentType="application/vnd.openxmlformats-officedocument.presentationml.tags+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2"/>
  </p:notesMasterIdLst>
  <p:sldIdLst>
    <p:sldId id="256" r:id="rId2"/>
    <p:sldId id="257" r:id="rId3"/>
    <p:sldId id="262" r:id="rId4"/>
    <p:sldId id="258" r:id="rId5"/>
    <p:sldId id="259" r:id="rId6"/>
    <p:sldId id="267" r:id="rId7"/>
    <p:sldId id="260" r:id="rId8"/>
    <p:sldId id="261" r:id="rId9"/>
    <p:sldId id="263" r:id="rId10"/>
    <p:sldId id="266"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185C242-68B7-4DC8-A407-97B28E6BAFC5}">
          <p14:sldIdLst>
            <p14:sldId id="256"/>
          </p14:sldIdLst>
        </p14:section>
        <p14:section name="book_cover" id="{FEE08EA0-157C-42D5-9554-D7F4899B98FD}">
          <p14:sldIdLst>
            <p14:sldId id="257"/>
            <p14:sldId id="262"/>
          </p14:sldIdLst>
        </p14:section>
        <p14:section name="story_name" id="{3529E971-8119-4829-BD88-A7D2789F4180}">
          <p14:sldIdLst>
            <p14:sldId id="258"/>
          </p14:sldIdLst>
        </p14:section>
        <p14:section name="Story_text_inh" id="{9FE4DF01-14C5-45CE-ACA8-0B0B0612A66C}">
          <p14:sldIdLst>
            <p14:sldId id="259"/>
          </p14:sldIdLst>
        </p14:section>
        <p14:section name="Story_text_ru" id="{EC7CF159-B613-4BB0-A71F-6A447E7D2288}">
          <p14:sldIdLst>
            <p14:sldId id="267"/>
          </p14:sldIdLst>
        </p14:section>
        <p14:section name="story_text_eng" id="{1F75236F-9138-4460-9D2C-69429F04EC38}">
          <p14:sldIdLst>
            <p14:sldId id="260"/>
          </p14:sldIdLst>
        </p14:section>
        <p14:section name="story_text_che" id="{0754FFD2-BC67-43BD-9920-805D43719411}">
          <p14:sldIdLst>
            <p14:sldId id="261"/>
            <p14:sldId id="263"/>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33"/>
    <a:srgbClr val="CC66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40472" autoAdjust="0"/>
  </p:normalViewPr>
  <p:slideViewPr>
    <p:cSldViewPr snapToGrid="0">
      <p:cViewPr varScale="1">
        <p:scale>
          <a:sx n="64" d="100"/>
          <a:sy n="64" d="100"/>
        </p:scale>
        <p:origin x="3948" y="66"/>
      </p:cViewPr>
      <p:guideLst/>
    </p:cSldViewPr>
  </p:slideViewPr>
  <p:outlineViewPr>
    <p:cViewPr>
      <p:scale>
        <a:sx n="33" d="100"/>
        <a:sy n="33" d="100"/>
      </p:scale>
      <p:origin x="0" y="0"/>
    </p:cViewPr>
  </p:outlineViewPr>
  <p:notesTextViewPr>
    <p:cViewPr>
      <p:scale>
        <a:sx n="150" d="100"/>
        <a:sy n="150" d="100"/>
      </p:scale>
      <p:origin x="0" y="-3174"/>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E10EF0D-C0AE-4057-9FB9-5976587F9AED}" type="datetimeFigureOut">
              <a:rPr lang="nl-BE" smtClean="0"/>
              <a:t>21/06/2026</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5988EC9-9D06-45FD-A085-36D14FED115C}" type="slidenum">
              <a:rPr lang="nl-BE" smtClean="0"/>
              <a:t>‹#›</a:t>
            </a:fld>
            <a:endParaRPr lang="nl-BE"/>
          </a:p>
        </p:txBody>
      </p:sp>
    </p:spTree>
    <p:extLst>
      <p:ext uri="{BB962C8B-B14F-4D97-AF65-F5344CB8AC3E}">
        <p14:creationId xmlns:p14="http://schemas.microsoft.com/office/powerpoint/2010/main" val="15534559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ce-Cyrl-RU" dirty="0"/>
              <a:t>Де дика хилда шо, добрый день. Меня зовут Абдулвахид Шудуев. Я сам чеченец, в данной серии видео я хочу поделиться с вами своим опытом изучения ингушского языка. Идея изучить этот язык у меня возникла примерно двадцать лет назад, когда мой старший товарищ и друг, ингуш, принес мне почитать книгу Ибрагима Дахкильгова “Мудрые наставления наших предков”. Тогда я оцифровал эту книгу и опубликовал ее в интернете, она до сих пор там находится, по адресу </a:t>
            </a:r>
            <a:r>
              <a:rPr lang="en-US" dirty="0"/>
              <a:t>orga.narod.ru</a:t>
            </a:r>
            <a:r>
              <a:rPr lang="ce-Cyrl-RU" dirty="0"/>
              <a:t> , там же немного ранее я опубликовал книгу Шарани Джамбекова с чеченским фольклором. </a:t>
            </a:r>
            <a:br>
              <a:rPr lang="ce-Cyrl-RU" dirty="0"/>
            </a:br>
            <a:r>
              <a:rPr lang="ce-Cyrl-RU" dirty="0"/>
              <a:t>У ингушей и чеченцев много общего в фольклоре, оба автора, Джамбеков и Дахкильгов, знали друг друга, сотрудничали друг с другом. В двухтомнике Мусы Гешаева “Знаменитые ингуши” есть статья про Дахкильгова. </a:t>
            </a:r>
          </a:p>
          <a:p>
            <a:r>
              <a:rPr lang="ce-Cyrl-RU" dirty="0"/>
              <a:t>Цитата из этой статьи:</a:t>
            </a:r>
            <a:br>
              <a:rPr lang="ce-Cyrl-RU" dirty="0"/>
            </a:br>
            <a:r>
              <a:rPr lang="ce-Cyrl-RU" dirty="0"/>
              <a:t>“Фольклор связывает народы. Это язык не вражды, но взаимопонимания. Сказка – исток песни. Как родник берет свое начало в горах, так народные слово и мудрость проистекают из корневой системы жизни народов. Счастлив тот, кто взрастил и взлелеял все эти мудрости бытия в сердце, и кто делится этим сердечным прозрением с другими.”</a:t>
            </a:r>
          </a:p>
          <a:p>
            <a:r>
              <a:rPr lang="ce-Cyrl-RU" dirty="0"/>
              <a:t>Дала гештдойла Дахкильгов Ибрах1имна, Джамбеков Ша1ранина, Гешаев Мусана, жаль, что они и люди их поколения ушли, это были люди, много трудившиеся, много сделавшие для своих народов. </a:t>
            </a:r>
          </a:p>
          <a:p>
            <a:r>
              <a:rPr lang="ce-Cyrl-RU" dirty="0"/>
              <a:t>Дахкильгов, кстати, является также автором ингушского флага с этим красивым солярным знаком.</a:t>
            </a:r>
          </a:p>
          <a:p>
            <a:r>
              <a:rPr lang="ce-Cyrl-RU" dirty="0"/>
              <a:t>Так вот, сейчас, через двадцать лет, я решил вернуться к этой книге. Она интересна тем, что там, во-первых, очень богатая лексика с архаичными словами, а во-вторых, автор приводит там перевод на русский язык. Причем перевод сделан очень сбалансированно, без излишнего увлечения выразительными свойствами русского языка, с целью максимального сохранения смысла и красоты ингушского текста. Для желающих изучить ингушский язык такая книга, несомненно, является очень ценной. Да и само содержание книги, конечно, очень красивое, глубокомысленное, часто юмористичное. Книга состоит из двух основных частей – пословицы и притчи. В данном курсе видео я расскажу о притчах, лексику собираюсь иллюстрировать поговорками. Возможно, в дальнейшем, Дала аьннад Далахь, сделаю отдельный видео-ряд для пословиц. Всего в книге 171 притча, я планирую записать одно видео на притчу. Длительность видео – около 15 минут. Каждое видео будет состоять из короткого вступления, затем слайд с ингушским текстом и с озвучкой (спасибо ингушам, которые помогают с озвучкой), далее планируется три коротких слайда на несколько секунд - с русским переводом Дахкильгова; с машинным переводом с русского на английский; и с моим переводом с ингушского на чеченский. Желающие могут поставить видео на паузу и ознакомиться с текстом переводов. Затем будет два слайда, каждый на несколько минут, с объяснением лексики и грамматики из данной притчи. </a:t>
            </a:r>
            <a:br>
              <a:rPr lang="ce-Cyrl-RU" dirty="0"/>
            </a:br>
            <a:r>
              <a:rPr lang="ce-Cyrl-RU" dirty="0"/>
              <a:t>Сейчас, когда я записываю это видео, работа еще далеко не закончена. </a:t>
            </a:r>
            <a:br>
              <a:rPr lang="ce-Cyrl-RU" dirty="0"/>
            </a:br>
            <a:r>
              <a:rPr lang="ce-Cyrl-RU" dirty="0"/>
              <a:t>Я буду излагать свой опыт изучения языка. При этом я, скорее всего, буду увлекаться, делать ошибки, могу сказать что-нибудь, что кому-то не понравится, - в свое оправдание могу сказать, что я начинаю эту работу из хороших побуждений. </a:t>
            </a:r>
            <a:br>
              <a:rPr lang="ce-Cyrl-RU" dirty="0"/>
            </a:br>
            <a:r>
              <a:rPr lang="ce-Cyrl-RU" dirty="0"/>
              <a:t>Возможно, я буду слишком увлекаться сравнением с чеченским, - это потому, что чеченский является для меня родным, и, естественно, при изучении нового языка я сравниваю его со своим родным. Также прошу прощения за мое корявое произношение ингушских слов, я работаю над этим. </a:t>
            </a:r>
            <a:br>
              <a:rPr lang="ce-Cyrl-RU" dirty="0"/>
            </a:br>
            <a:r>
              <a:rPr lang="ce-Cyrl-RU" dirty="0"/>
              <a:t>Мы постараемся двигаться от простого к сложному – сначала алфавит и произношение, затем сложная грамматика с временами глаголов и падежами существительных, ближе к концу – иллюстрации грамматических правил на примере текстов из притч.</a:t>
            </a:r>
          </a:p>
          <a:p>
            <a:r>
              <a:rPr lang="ce-Cyrl-RU" dirty="0"/>
              <a:t>Слайды сделаны </a:t>
            </a:r>
            <a:r>
              <a:rPr lang="en-US" dirty="0"/>
              <a:t>c </a:t>
            </a:r>
            <a:r>
              <a:rPr lang="ce-Cyrl-RU" dirty="0"/>
              <a:t>помощью программы </a:t>
            </a:r>
            <a:r>
              <a:rPr lang="en-US" dirty="0"/>
              <a:t>PowerPoint</a:t>
            </a:r>
            <a:r>
              <a:rPr lang="ce-Cyrl-RU" dirty="0"/>
              <a:t> от </a:t>
            </a:r>
            <a:r>
              <a:rPr lang="en-US" dirty="0"/>
              <a:t>Microsoft. </a:t>
            </a:r>
            <a:r>
              <a:rPr lang="ce-Cyrl-RU" dirty="0"/>
              <a:t>Для разнообразия я сгенерировал иллюстрации к притчам используя </a:t>
            </a:r>
            <a:r>
              <a:rPr lang="en-US" dirty="0"/>
              <a:t>Gemini </a:t>
            </a:r>
            <a:r>
              <a:rPr lang="ce-Cyrl-RU" dirty="0"/>
              <a:t>от </a:t>
            </a:r>
            <a:r>
              <a:rPr lang="en-US" dirty="0"/>
              <a:t>Google</a:t>
            </a:r>
            <a:r>
              <a:rPr lang="ce-Cyrl-RU" dirty="0"/>
              <a:t>. </a:t>
            </a:r>
            <a:br>
              <a:rPr lang="ce-Cyrl-RU" dirty="0"/>
            </a:br>
            <a:r>
              <a:rPr lang="ce-Cyrl-RU" dirty="0"/>
              <a:t>Содержание этих притч, с текстами на разных языках, опубликовано на </a:t>
            </a:r>
            <a:r>
              <a:rPr lang="en-US" dirty="0" err="1"/>
              <a:t>github</a:t>
            </a:r>
            <a:r>
              <a:rPr lang="ce-Cyrl-RU" dirty="0"/>
              <a:t>, адрес в описании к этому видео. </a:t>
            </a:r>
            <a:br>
              <a:rPr lang="ce-Cyrl-RU" dirty="0"/>
            </a:br>
            <a:r>
              <a:rPr lang="en-US" dirty="0"/>
              <a:t>https://bumbari.github.io/dahkilgov/p/original/d1.htm</a:t>
            </a:r>
          </a:p>
          <a:p>
            <a:r>
              <a:rPr lang="ce-Cyrl-RU" dirty="0"/>
              <a:t>По мере записи очередных видео я буду добавлять туда ссылки на </a:t>
            </a:r>
            <a:r>
              <a:rPr lang="en-US" dirty="0" err="1"/>
              <a:t>youtube</a:t>
            </a:r>
            <a:r>
              <a:rPr lang="en-US" dirty="0"/>
              <a:t> </a:t>
            </a:r>
            <a:r>
              <a:rPr lang="ce-Cyrl-RU" dirty="0"/>
              <a:t>видео.</a:t>
            </a:r>
            <a:br>
              <a:rPr lang="ce-Cyrl-RU" dirty="0"/>
            </a:br>
            <a:r>
              <a:rPr lang="ce-Cyrl-RU" dirty="0"/>
              <a:t>Я надеюсь также, что наличие такого сайта с текстами переводов в доступном формате поможет алгоритмам исскуственного интеллекта лучше понимать ингушский язык. </a:t>
            </a:r>
          </a:p>
          <a:p>
            <a:r>
              <a:rPr lang="ce-Cyrl-RU" dirty="0"/>
              <a:t>При работе над этими видео я постоянно пользуюсь сводным словарем ингушского языка из интернета, платформа</a:t>
            </a:r>
            <a:r>
              <a:rPr lang="ce-Cyrl-RU" b="0" dirty="0"/>
              <a:t> </a:t>
            </a:r>
            <a:r>
              <a:rPr lang="nl-BE" b="0" dirty="0" err="1"/>
              <a:t>PaydaDosh</a:t>
            </a:r>
            <a:r>
              <a:rPr lang="ce-Cyrl-RU" dirty="0"/>
              <a:t>:</a:t>
            </a:r>
            <a:br>
              <a:rPr lang="ce-Cyrl-RU" dirty="0"/>
            </a:br>
            <a:r>
              <a:rPr lang="nl-BE" dirty="0"/>
              <a:t>https://ghalghay.vercel.app/doshlorg.html</a:t>
            </a:r>
            <a:br>
              <a:rPr lang="ce-Cyrl-RU" dirty="0"/>
            </a:br>
            <a:r>
              <a:rPr lang="ce-Cyrl-RU" dirty="0"/>
              <a:t>А также словарями чеченского языка на сайте </a:t>
            </a:r>
            <a:br>
              <a:rPr lang="ce-Cyrl-RU" dirty="0"/>
            </a:br>
            <a:r>
              <a:rPr lang="en-US" dirty="0"/>
              <a:t>https://dikdosham.ru/ru/</a:t>
            </a:r>
            <a:br>
              <a:rPr lang="ce-Cyrl-RU" dirty="0"/>
            </a:br>
            <a:r>
              <a:rPr lang="ce-Cyrl-RU" dirty="0"/>
              <a:t>Большое спасибо авторам этих сайтов, они проделали огромную работу. </a:t>
            </a:r>
            <a:br>
              <a:rPr lang="ce-Cyrl-RU" dirty="0"/>
            </a:br>
            <a:r>
              <a:rPr lang="ce-Cyrl-RU" dirty="0"/>
              <a:t>Также я пользуюсь следующими учебными материалами:</a:t>
            </a:r>
            <a:br>
              <a:rPr lang="ce-Cyrl-RU" dirty="0"/>
            </a:br>
            <a:r>
              <a:rPr lang="ce-Cyrl-RU" dirty="0"/>
              <a:t>Мальсагов З.К. “Грамматика ингушского языка”, 1963 года издания.</a:t>
            </a:r>
            <a:br>
              <a:rPr lang="ce-Cyrl-RU" dirty="0"/>
            </a:br>
            <a:r>
              <a:rPr lang="ce-Cyrl-RU" dirty="0"/>
              <a:t>Долакова Р.И. “Краткая грамматика ингушского языка”, 1967</a:t>
            </a:r>
            <a:br>
              <a:rPr lang="ce-Cyrl-RU" dirty="0"/>
            </a:br>
            <a:r>
              <a:rPr lang="ce-Cyrl-RU" dirty="0"/>
              <a:t>Оздоев И.А. “Ингушский язык”, 1970 г.</a:t>
            </a:r>
            <a:br>
              <a:rPr lang="ce-Cyrl-RU" dirty="0"/>
            </a:br>
            <a:r>
              <a:rPr lang="ce-Cyrl-RU" dirty="0"/>
              <a:t>Ахриева Р.И, Оздоева Ф.Г., Мальсагова Л.Д., Бекова П.Х. “Современный ингушский язык”, 1972 г. </a:t>
            </a:r>
            <a:br>
              <a:rPr lang="ce-Cyrl-RU" dirty="0"/>
            </a:br>
            <a:r>
              <a:rPr lang="ru-RU" dirty="0"/>
              <a:t>Оздоева Э</a:t>
            </a:r>
            <a:r>
              <a:rPr lang="ce-Cyrl-RU" dirty="0"/>
              <a:t>.</a:t>
            </a:r>
            <a:r>
              <a:rPr lang="ru-RU" dirty="0"/>
              <a:t>Г</a:t>
            </a:r>
            <a:r>
              <a:rPr lang="ce-Cyrl-RU" dirty="0"/>
              <a:t>., Алиева П.М., Дудургова П.М. </a:t>
            </a:r>
            <a:r>
              <a:rPr lang="ce-Cyrl-RU"/>
              <a:t>“Временные формы в ингушском языке”, 2018</a:t>
            </a:r>
            <a:br>
              <a:rPr lang="ce-Cyrl-RU"/>
            </a:br>
            <a:r>
              <a:rPr lang="ce-Cyrl-RU"/>
              <a:t>Аушева </a:t>
            </a:r>
            <a:r>
              <a:rPr lang="ce-Cyrl-RU" dirty="0"/>
              <a:t>Э.А. “Типы склонения в ингушском языке”, 2019</a:t>
            </a:r>
            <a:br>
              <a:rPr lang="ce-Cyrl-RU" dirty="0"/>
            </a:br>
            <a:br>
              <a:rPr lang="ce-Cyrl-RU" dirty="0"/>
            </a:br>
            <a:r>
              <a:rPr lang="ce-Cyrl-RU" dirty="0"/>
              <a:t>Ссылки на словари и полные названия книг даны в описании к данному видео.</a:t>
            </a:r>
          </a:p>
          <a:p>
            <a:endParaRPr lang="ce-Cyrl-RU" dirty="0"/>
          </a:p>
          <a:p>
            <a:r>
              <a:rPr lang="ce-Cyrl-RU" dirty="0"/>
              <a:t>Бисмиллах1и рахьманир рахьим</a:t>
            </a:r>
          </a:p>
        </p:txBody>
      </p:sp>
      <p:sp>
        <p:nvSpPr>
          <p:cNvPr id="4" name="Slide Number Placeholder 3"/>
          <p:cNvSpPr>
            <a:spLocks noGrp="1"/>
          </p:cNvSpPr>
          <p:nvPr>
            <p:ph type="sldNum" sz="quarter" idx="5"/>
          </p:nvPr>
        </p:nvSpPr>
        <p:spPr/>
        <p:txBody>
          <a:bodyPr/>
          <a:lstStyle/>
          <a:p>
            <a:fld id="{E5988EC9-9D06-45FD-A085-36D14FED115C}" type="slidenum">
              <a:rPr lang="nl-BE" smtClean="0"/>
              <a:t>3</a:t>
            </a:fld>
            <a:endParaRPr lang="nl-BE"/>
          </a:p>
        </p:txBody>
      </p:sp>
    </p:spTree>
    <p:extLst>
      <p:ext uri="{BB962C8B-B14F-4D97-AF65-F5344CB8AC3E}">
        <p14:creationId xmlns:p14="http://schemas.microsoft.com/office/powerpoint/2010/main" val="105736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E5988EC9-9D06-45FD-A085-36D14FED115C}" type="slidenum">
              <a:rPr lang="nl-BE" smtClean="0"/>
              <a:t>5</a:t>
            </a:fld>
            <a:endParaRPr lang="nl-BE"/>
          </a:p>
        </p:txBody>
      </p:sp>
    </p:spTree>
    <p:extLst>
      <p:ext uri="{BB962C8B-B14F-4D97-AF65-F5344CB8AC3E}">
        <p14:creationId xmlns:p14="http://schemas.microsoft.com/office/powerpoint/2010/main" val="14401544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e-Cyrl-RU" dirty="0"/>
              <a:t>Притча 1 имеет типичный размер. Хоть она и небольшая, но содержит интересную лексику и грамматические формы. Здесь мы поговорим о лексике из данной притче, позже, на следующем слайде мы поговорим об ингушском алфавите и особенностях произношения. </a:t>
            </a:r>
          </a:p>
          <a:p>
            <a:pPr marL="0" marR="0" lvl="0" indent="0" algn="l" defTabSz="914400" rtl="0" eaLnBrk="1" fontAlgn="auto" latinLnBrk="0" hangingPunct="1">
              <a:lnSpc>
                <a:spcPct val="100000"/>
              </a:lnSpc>
              <a:spcBef>
                <a:spcPts val="0"/>
              </a:spcBef>
              <a:spcAft>
                <a:spcPts val="0"/>
              </a:spcAft>
              <a:buClrTx/>
              <a:buSzTx/>
              <a:buFontTx/>
              <a:buNone/>
              <a:tabLst/>
              <a:defRPr/>
            </a:pPr>
            <a:r>
              <a:rPr lang="ce-Cyrl-RU" dirty="0"/>
              <a:t>Слово “эздел” (благородство) ключевое слово в ингушском этикете, не случайно первая притча посвящена этому слову.</a:t>
            </a:r>
            <a:br>
              <a:rPr lang="ce-Cyrl-RU" dirty="0"/>
            </a:br>
            <a:r>
              <a:rPr lang="ce-Cyrl-RU" dirty="0"/>
              <a:t>Поговорки из этой же книги:</a:t>
            </a:r>
            <a:br>
              <a:rPr lang="ce-Cyrl-RU" dirty="0"/>
            </a:br>
            <a:r>
              <a:rPr lang="ce-Cyrl-RU" dirty="0"/>
              <a:t>“Эзде вар-воацар белгалла хул” – Благородного от неблагородного легко отличить.</a:t>
            </a:r>
            <a:br>
              <a:rPr lang="ce-Cyrl-RU" dirty="0"/>
            </a:br>
            <a:r>
              <a:rPr lang="ce-Cyrl-RU" dirty="0"/>
              <a:t>“Эздел леладечунца мара дац” – Благородство лишь у того, кто ведет себя благородно”.</a:t>
            </a:r>
          </a:p>
          <a:p>
            <a:r>
              <a:rPr lang="ce-Cyrl-RU" dirty="0"/>
              <a:t>Дешал – сравнительный падеж от “дош” - слово. Тоже важное понятие в этикете. </a:t>
            </a:r>
          </a:p>
          <a:p>
            <a:r>
              <a:rPr lang="ce-Cyrl-RU" dirty="0"/>
              <a:t>“Дош дала сих ма ле, сихле из кхоачашд</a:t>
            </a:r>
            <a:r>
              <a:rPr lang="en-US" dirty="0"/>
              <a:t>é</a:t>
            </a:r>
            <a:r>
              <a:rPr lang="ce-Cyrl-RU" dirty="0"/>
              <a:t>”. – Не спеши давать слово, спеши его сдержать.</a:t>
            </a:r>
            <a:br>
              <a:rPr lang="ce-Cyrl-RU" dirty="0"/>
            </a:br>
            <a:r>
              <a:rPr lang="ce-Cyrl-RU" dirty="0"/>
              <a:t>Ч1ог1аг1 – сильнее, “ч1ог1ах” на чеч. Если в чеч. здесь конечная глухая “х”, то в инг. это произносится твердо, как “г1”. Аналогично, дикаг1 – диках (лучше), хозаг1 – хазах (красивее).</a:t>
            </a:r>
          </a:p>
          <a:p>
            <a:br>
              <a:rPr lang="ce-Cyrl-RU" dirty="0"/>
            </a:br>
            <a:r>
              <a:rPr lang="ce-Cyrl-RU"/>
              <a:t>Ц1аг1а (пайхмар чуваьлча</a:t>
            </a:r>
            <a:r>
              <a:rPr lang="ce-Cyrl-RU" dirty="0"/>
              <a:t>) – вошел в дом, местный падеж. Прямая аналогия для “ц1аг1а” в чеченском – это форма местного падежа “ц1ахь” (дома), но чеченский не использует эту форму в таком контексте. В данном случае я бы перевел это на чеченский как “пайхмар ц1а чу ваьлча” (имен. падеж) или “ц1енна пайхмар чуваьлча” – со словом “ц1а” в дательном падеже.</a:t>
            </a:r>
            <a:r>
              <a:rPr lang="ru-RU" dirty="0"/>
              <a:t> </a:t>
            </a:r>
            <a:r>
              <a:rPr lang="ce-Cyrl-RU" dirty="0"/>
              <a:t>Ингушский часто использует местные падежи, они выражают все нюансы пространственных отношений. Слово “ц1аг1а” нам еще будет встречаться в других притчах, я надеюсь, что в дальнейшем и вам и мне это слово станет привычнее.</a:t>
            </a:r>
            <a:br>
              <a:rPr lang="en-US" dirty="0"/>
            </a:br>
            <a:r>
              <a:rPr lang="ce-Cyrl-RU" dirty="0"/>
              <a:t>Берригаш – тоже интересное слово, означает “все люди”, по-чеченски “берриш”. </a:t>
            </a:r>
            <a:br>
              <a:rPr lang="ce-Cyrl-RU" dirty="0"/>
            </a:br>
            <a:r>
              <a:rPr lang="ce-Cyrl-RU" dirty="0"/>
              <a:t>Веррига – весь человек, берригаш – все люди. </a:t>
            </a:r>
          </a:p>
          <a:p>
            <a:endParaRPr lang="ce-Cyrl-RU" dirty="0"/>
          </a:p>
          <a:p>
            <a:r>
              <a:rPr lang="ce-Cyrl-RU" sz="1200" dirty="0"/>
              <a:t>1оха – садись. На мой взгляд, при первом употреблении, когда пророк обращается к группе людей, лучше подошло бы слово “1оховша”, во мн. числе. С другой стороны, тогда бы эффект повтора не был бы так явно выражен. </a:t>
            </a:r>
            <a:r>
              <a:rPr lang="ru-RU" sz="1200" dirty="0"/>
              <a:t>П</a:t>
            </a:r>
            <a:r>
              <a:rPr lang="ce-Cyrl-RU" sz="1200" dirty="0"/>
              <a:t>ространственная приставка “1о” (по-чеченски “охьа”) означает “вниз”. Мы планируем рассмотреть пространственные приставки в отдельном видео, ингушский язык очень богат на пространственные приставки, например, маг1а, эг1а, которых нет в чеченском.</a:t>
            </a:r>
            <a:br>
              <a:rPr lang="ce-Cyrl-RU" sz="1200" dirty="0"/>
            </a:br>
            <a:r>
              <a:rPr lang="ru-RU" sz="1200" dirty="0"/>
              <a:t>Латтийсав</a:t>
            </a:r>
            <a:r>
              <a:rPr lang="ce-Cyrl-RU" sz="1200" dirty="0"/>
              <a:t> – опечатка, должно быть “латта висав”, остался стоять.</a:t>
            </a:r>
          </a:p>
          <a:p>
            <a:br>
              <a:rPr lang="ce-Cyrl-RU" sz="1200" dirty="0"/>
            </a:br>
            <a:r>
              <a:rPr lang="ce-Cyrl-RU" sz="1200" dirty="0"/>
              <a:t>Хайнавац – не сел. Интересно, что в чеченском “вац” пишется раздельно – хиъна вац. В ингушском каждый глагол имеет отрицательную форму, эта форма считается отдельным словом, и поэтому пишется вместе. Чеченская орфография считает, что это два разных слова. Про отрицательные формы глаголов мы тоже будем говорить отдельно.</a:t>
            </a:r>
          </a:p>
          <a:p>
            <a:br>
              <a:rPr lang="ce-Cyrl-RU" sz="1200" dirty="0"/>
            </a:br>
            <a:r>
              <a:rPr lang="ru-RU" sz="1200" dirty="0"/>
              <a:t>Б</a:t>
            </a:r>
            <a:r>
              <a:rPr lang="ce-Cyrl-RU" sz="1200" dirty="0"/>
              <a:t>ехк баккха, бехкаш даха во мн. числе. </a:t>
            </a:r>
            <a:r>
              <a:rPr lang="ru-RU" sz="1200" dirty="0"/>
              <a:t>Б</a:t>
            </a:r>
            <a:r>
              <a:rPr lang="ce-Cyrl-RU" sz="1200" dirty="0"/>
              <a:t>ехк баккха – буквально “извлечь вину”, также говорят “чкъаьрий даха” – рыбачить. </a:t>
            </a:r>
          </a:p>
          <a:p>
            <a:r>
              <a:rPr lang="ce-Cyrl-RU" sz="1200" dirty="0"/>
              <a:t>Сих - вещественный падеж от са (душа). В ингушском очень много слов, производных от слова “душа” – грустить, веселиться, переживать, и т.д. Таким словам мы планируем посвятить отдельный урок в Притче 159 “</a:t>
            </a:r>
            <a:r>
              <a:rPr lang="ru-RU" sz="1200" dirty="0"/>
              <a:t>Эхь-эзделахи сабар-сатемахи</a:t>
            </a:r>
            <a:r>
              <a:rPr lang="ce-Cyrl-RU" sz="1200" dirty="0"/>
              <a:t>”. </a:t>
            </a:r>
            <a:br>
              <a:rPr lang="ce-Cyrl-RU" sz="1200" dirty="0"/>
            </a:br>
            <a:r>
              <a:rPr lang="ce-Cyrl-RU" sz="1200" dirty="0"/>
              <a:t>Поговорка со словом “са”:</a:t>
            </a:r>
            <a:br>
              <a:rPr lang="ce-Cyrl-RU" sz="1200" dirty="0"/>
            </a:br>
            <a:r>
              <a:rPr lang="ce-Cyrl-RU" sz="1200" dirty="0"/>
              <a:t>“</a:t>
            </a:r>
            <a:r>
              <a:rPr lang="ru-RU" sz="1200" dirty="0"/>
              <a:t>Са дуача в1оахалал сатийна къел тол.</a:t>
            </a:r>
            <a:r>
              <a:rPr lang="ce-Cyrl-RU" sz="1200" dirty="0"/>
              <a:t>” - </a:t>
            </a:r>
            <a:r>
              <a:rPr lang="nl-BE" sz="1200" b="0" i="0" kern="1200" dirty="0" err="1">
                <a:solidFill>
                  <a:schemeClr val="tx1"/>
                </a:solidFill>
                <a:effectLst/>
                <a:latin typeface="+mn-lt"/>
                <a:ea typeface="+mn-ea"/>
                <a:cs typeface="+mn-cs"/>
              </a:rPr>
              <a:t>Лучше</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спокойная</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бедность</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чем</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гложущее</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душу</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богатство</a:t>
            </a:r>
            <a:r>
              <a:rPr lang="nl-BE" sz="1200" b="0" i="0" kern="1200" dirty="0">
                <a:solidFill>
                  <a:schemeClr val="tx1"/>
                </a:solidFill>
                <a:effectLst/>
                <a:latin typeface="+mn-lt"/>
                <a:ea typeface="+mn-ea"/>
                <a:cs typeface="+mn-cs"/>
              </a:rPr>
              <a:t>.</a:t>
            </a:r>
            <a:endParaRPr lang="nl-BE" dirty="0"/>
          </a:p>
        </p:txBody>
      </p:sp>
      <p:sp>
        <p:nvSpPr>
          <p:cNvPr id="4" name="Slide Number Placeholder 3"/>
          <p:cNvSpPr>
            <a:spLocks noGrp="1"/>
          </p:cNvSpPr>
          <p:nvPr>
            <p:ph type="sldNum" sz="quarter" idx="5"/>
          </p:nvPr>
        </p:nvSpPr>
        <p:spPr/>
        <p:txBody>
          <a:bodyPr/>
          <a:lstStyle/>
          <a:p>
            <a:fld id="{E5988EC9-9D06-45FD-A085-36D14FED115C}" type="slidenum">
              <a:rPr lang="nl-BE" smtClean="0"/>
              <a:t>9</a:t>
            </a:fld>
            <a:endParaRPr lang="nl-BE"/>
          </a:p>
        </p:txBody>
      </p:sp>
    </p:spTree>
    <p:extLst>
      <p:ext uri="{BB962C8B-B14F-4D97-AF65-F5344CB8AC3E}">
        <p14:creationId xmlns:p14="http://schemas.microsoft.com/office/powerpoint/2010/main" val="40455455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Gill Sans MT" panose="020B0502020104020203" pitchFamily="34" charset="0"/>
              </a:rPr>
              <a:t>I : </a:t>
            </a:r>
            <a:r>
              <a:rPr lang="ce-Cyrl-RU" dirty="0"/>
              <a:t>источник технических проблем для всех северокавказских языков с кириллическим алфавитом. Строго говоря, надо использовать знак “кириллическая палочка” (код </a:t>
            </a:r>
            <a:r>
              <a:rPr lang="nl-BE" dirty="0">
                <a:latin typeface="Gill Sans MT" panose="020B0502020104020203" pitchFamily="34" charset="0"/>
              </a:rPr>
              <a:t>U+04C0</a:t>
            </a:r>
            <a:r>
              <a:rPr lang="ce-Cyrl-RU" dirty="0"/>
              <a:t>), но его нет ни в русской раскладке клавиатуры, ни в английской. </a:t>
            </a:r>
            <a:br>
              <a:rPr lang="ce-Cyrl-RU" dirty="0"/>
            </a:br>
            <a:r>
              <a:rPr lang="ce-Cyrl-RU" dirty="0"/>
              <a:t>Заглавная английская буква “</a:t>
            </a:r>
            <a:r>
              <a:rPr lang="en-US" dirty="0">
                <a:latin typeface="Gill Sans MT" panose="020B0502020104020203" pitchFamily="34" charset="0"/>
              </a:rPr>
              <a:t>I</a:t>
            </a:r>
            <a:r>
              <a:rPr lang="ce-Cyrl-RU" dirty="0"/>
              <a:t>”</a:t>
            </a:r>
            <a:r>
              <a:rPr lang="en-US" dirty="0">
                <a:latin typeface="Gill Sans MT" panose="020B0502020104020203" pitchFamily="34" charset="0"/>
              </a:rPr>
              <a:t> </a:t>
            </a:r>
            <a:r>
              <a:rPr lang="ce-Cyrl-RU" dirty="0"/>
              <a:t>внешне похожа на кириллическую палочку, но имеет другой код, к тому же, чтобы ее напечатать надо временно переключиться на английскую раскладку, что непрактично.</a:t>
            </a:r>
            <a:br>
              <a:rPr lang="ce-Cyrl-RU" dirty="0"/>
            </a:br>
            <a:r>
              <a:rPr lang="ce-Cyrl-RU" dirty="0"/>
              <a:t>Раньше на печатных машинках цифра “1” и английская “</a:t>
            </a:r>
            <a:r>
              <a:rPr lang="en-US" dirty="0">
                <a:latin typeface="Gill Sans MT" panose="020B0502020104020203" pitchFamily="34" charset="0"/>
              </a:rPr>
              <a:t>I” </a:t>
            </a:r>
            <a:r>
              <a:rPr lang="ce-Cyrl-RU" dirty="0"/>
              <a:t>выглядели одинаково, поэтому раньше такой проблемы не было. Вариант – если есть возможность, использовать </a:t>
            </a:r>
            <a:r>
              <a:rPr lang="nl-BE" dirty="0" err="1"/>
              <a:t>Gill</a:t>
            </a:r>
            <a:r>
              <a:rPr lang="nl-BE" dirty="0"/>
              <a:t> Sans</a:t>
            </a:r>
            <a:r>
              <a:rPr lang="ce-Cyrl-RU" dirty="0"/>
              <a:t>, на данных слайдах я использую этот шрифт. Еще один вариант – взять текст с единичками и внести его в раздел “Проверка правописания” на сайте “ДикДошам”, программа автоматически заменит единички на кириллические палочки.</a:t>
            </a:r>
          </a:p>
          <a:p>
            <a:br>
              <a:rPr lang="en-US" dirty="0">
                <a:latin typeface="Gill Sans MT" panose="020B0502020104020203" pitchFamily="34" charset="0"/>
              </a:rPr>
            </a:br>
            <a:r>
              <a:rPr lang="ce-Cyrl-RU" dirty="0"/>
              <a:t>ОЬ: хьога – хьоьга;</a:t>
            </a:r>
            <a:br>
              <a:rPr lang="ce-Cyrl-RU" dirty="0"/>
            </a:br>
            <a:r>
              <a:rPr lang="ce-Cyrl-RU" dirty="0"/>
              <a:t>УЬ: цун, цунга – цуьнан, цуьнга; уж – уьш: </a:t>
            </a:r>
            <a:br>
              <a:rPr lang="ce-Cyrl-RU" dirty="0"/>
            </a:br>
            <a:r>
              <a:rPr lang="ce-Cyrl-RU" dirty="0"/>
              <a:t>ЮЬ: юрта – юьртан</a:t>
            </a:r>
          </a:p>
          <a:p>
            <a:br>
              <a:rPr lang="ce-Cyrl-RU" dirty="0"/>
            </a:br>
            <a:r>
              <a:rPr lang="ce-Cyrl-RU" dirty="0"/>
              <a:t>ОА: оалаш – олуш; ч1</a:t>
            </a:r>
            <a:r>
              <a:rPr lang="ce-Cyrl-RU" b="1" dirty="0"/>
              <a:t>оа</a:t>
            </a:r>
            <a:r>
              <a:rPr lang="ce-Cyrl-RU" dirty="0"/>
              <a:t>г1аг1 – ч1</a:t>
            </a:r>
            <a:r>
              <a:rPr lang="ce-Cyrl-RU" b="1" dirty="0"/>
              <a:t>о</a:t>
            </a:r>
            <a:r>
              <a:rPr lang="ce-Cyrl-RU" dirty="0"/>
              <a:t>г1ах; доалла – долла</a:t>
            </a:r>
          </a:p>
          <a:p>
            <a:br>
              <a:rPr lang="ce-Cyrl-RU" dirty="0"/>
            </a:br>
            <a:r>
              <a:rPr lang="ce-Cyrl-RU" dirty="0"/>
              <a:t>Ф: языки без звука “ф” в исконных словах – русский, персидский, практически все кавказские; языки без звука “п” – арабский</a:t>
            </a:r>
            <a:r>
              <a:rPr lang="ce-Cyrl-RU"/>
              <a:t>. Интересно </a:t>
            </a:r>
            <a:r>
              <a:rPr lang="ce-Cyrl-RU" dirty="0"/>
              <a:t>турецкое слово “фес” (феска, тюбетейка). В чеч. оно трансформировалось в “пес”, в инг. звук “ф” сохранился : “фазиг”.</a:t>
            </a:r>
          </a:p>
          <a:p>
            <a:br>
              <a:rPr lang="ce-Cyrl-RU" dirty="0"/>
            </a:br>
            <a:r>
              <a:rPr lang="ce-Cyrl-RU" dirty="0"/>
              <a:t>Е: г1айттаб – г1еттина; 1охайшача – охьахевшича;</a:t>
            </a:r>
          </a:p>
          <a:p>
            <a:br>
              <a:rPr lang="ce-Cyrl-RU" dirty="0"/>
            </a:br>
            <a:r>
              <a:rPr lang="ce-Cyrl-RU" dirty="0"/>
              <a:t>Ж, З: аналогичная ситуация, например, с английским – Джек, Джон, Дзорро. В заимствованных из русского словах произносится как “ж” и “з”.</a:t>
            </a:r>
          </a:p>
          <a:p>
            <a:endParaRPr lang="ce-Cyrl-RU" dirty="0">
              <a:latin typeface="Gill Sans MT" panose="020B0502020104020203" pitchFamily="34" charset="0"/>
            </a:endParaRPr>
          </a:p>
          <a:p>
            <a:r>
              <a:rPr lang="ce-Cyrl-RU" dirty="0">
                <a:latin typeface="Gill Sans MT" panose="020B0502020104020203" pitchFamily="34" charset="0"/>
              </a:rPr>
              <a:t>С, Ш, Х в аффиксальных окончаниях : нанас - наназ, берригаш – берригаж, бехкаш - бехкаж, ях – яг1, цох – цог1, сих – сиг1.</a:t>
            </a:r>
          </a:p>
          <a:p>
            <a:r>
              <a:rPr lang="ce-Cyrl-RU" dirty="0">
                <a:latin typeface="Gill Sans MT" panose="020B0502020104020203" pitchFamily="34" charset="0"/>
              </a:rPr>
              <a:t>При этом, например, “х” в слове “нах” является частью корня, поэтому произносится как “х”.</a:t>
            </a:r>
            <a:endParaRPr lang="nl-BE" dirty="0">
              <a:latin typeface="Gill Sans MT" panose="020B0502020104020203" pitchFamily="34" charset="0"/>
            </a:endParaRPr>
          </a:p>
        </p:txBody>
      </p:sp>
      <p:sp>
        <p:nvSpPr>
          <p:cNvPr id="4" name="Slide Number Placeholder 3"/>
          <p:cNvSpPr>
            <a:spLocks noGrp="1"/>
          </p:cNvSpPr>
          <p:nvPr>
            <p:ph type="sldNum" sz="quarter" idx="5"/>
          </p:nvPr>
        </p:nvSpPr>
        <p:spPr/>
        <p:txBody>
          <a:bodyPr/>
          <a:lstStyle/>
          <a:p>
            <a:fld id="{E5988EC9-9D06-45FD-A085-36D14FED115C}" type="slidenum">
              <a:rPr lang="nl-BE" smtClean="0"/>
              <a:t>10</a:t>
            </a:fld>
            <a:endParaRPr lang="nl-BE"/>
          </a:p>
        </p:txBody>
      </p:sp>
    </p:spTree>
    <p:extLst>
      <p:ext uri="{BB962C8B-B14F-4D97-AF65-F5344CB8AC3E}">
        <p14:creationId xmlns:p14="http://schemas.microsoft.com/office/powerpoint/2010/main" val="33604087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9D986570-2C26-4E5F-9D28-4D18F9BAC427}" type="datetimeFigureOut">
              <a:rPr lang="nl-BE" smtClean="0"/>
              <a:t>21/06/2026</a:t>
            </a:fld>
            <a:endParaRPr lang="nl-BE"/>
          </a:p>
        </p:txBody>
      </p:sp>
      <p:sp>
        <p:nvSpPr>
          <p:cNvPr id="5" name="Footer Placeholder 4"/>
          <p:cNvSpPr>
            <a:spLocks noGrp="1"/>
          </p:cNvSpPr>
          <p:nvPr>
            <p:ph type="ftr" sz="quarter" idx="11"/>
          </p:nvPr>
        </p:nvSpPr>
        <p:spPr>
          <a:xfrm>
            <a:off x="2416500" y="329307"/>
            <a:ext cx="4973915" cy="309201"/>
          </a:xfrm>
        </p:spPr>
        <p:txBody>
          <a:bodyPr/>
          <a:lstStyle/>
          <a:p>
            <a:endParaRPr lang="nl-BE"/>
          </a:p>
        </p:txBody>
      </p:sp>
      <p:sp>
        <p:nvSpPr>
          <p:cNvPr id="6" name="Slide Number Placeholder 5"/>
          <p:cNvSpPr>
            <a:spLocks noGrp="1"/>
          </p:cNvSpPr>
          <p:nvPr>
            <p:ph type="sldNum" sz="quarter" idx="12"/>
          </p:nvPr>
        </p:nvSpPr>
        <p:spPr>
          <a:xfrm>
            <a:off x="1437664" y="798973"/>
            <a:ext cx="811019" cy="503578"/>
          </a:xfrm>
        </p:spPr>
        <p:txBody>
          <a:bodyPr/>
          <a:lstStyle/>
          <a:p>
            <a:fld id="{75E9C3EB-3209-46C0-A1BF-04B855C83966}" type="slidenum">
              <a:rPr lang="nl-BE" smtClean="0"/>
              <a:t>‹#›</a:t>
            </a:fld>
            <a:endParaRPr lang="nl-BE"/>
          </a:p>
        </p:txBody>
      </p:sp>
      <p:sp>
        <p:nvSpPr>
          <p:cNvPr id="8" name="TextBox 7">
            <a:extLst>
              <a:ext uri="{FF2B5EF4-FFF2-40B4-BE49-F238E27FC236}">
                <a16:creationId xmlns:a16="http://schemas.microsoft.com/office/drawing/2014/main" id="{1F455A86-9B17-54B9-2CE5-8916635CDC73}"/>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9" name="TextBox 8">
            <a:extLst>
              <a:ext uri="{FF2B5EF4-FFF2-40B4-BE49-F238E27FC236}">
                <a16:creationId xmlns:a16="http://schemas.microsoft.com/office/drawing/2014/main" id="{4D0D7826-67D3-570C-DC2E-EC5B60B640A7}"/>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2886729059"/>
      </p:ext>
    </p:extLst>
  </p:cSld>
  <p:clrMapOvr>
    <a:masterClrMapping/>
  </p:clrMapOvr>
  <p:transition spd="slow">
    <p:cove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21/06/2026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sp>
        <p:nvSpPr>
          <p:cNvPr id="7" name="TextBox 6">
            <a:extLst>
              <a:ext uri="{FF2B5EF4-FFF2-40B4-BE49-F238E27FC236}">
                <a16:creationId xmlns:a16="http://schemas.microsoft.com/office/drawing/2014/main" id="{32F62EAB-314F-C75A-21DD-AB2C064388D5}"/>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8" name="TextBox 7">
            <a:extLst>
              <a:ext uri="{FF2B5EF4-FFF2-40B4-BE49-F238E27FC236}">
                <a16:creationId xmlns:a16="http://schemas.microsoft.com/office/drawing/2014/main" id="{C0EE0B99-DB1E-7DFC-9C7B-70FA11250A1B}"/>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3005231634"/>
      </p:ext>
    </p:extLst>
  </p:cSld>
  <p:clrMapOvr>
    <a:masterClrMapping/>
  </p:clrMapOvr>
  <p:transition spd="slow">
    <p:cove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D986570-2C26-4E5F-9D28-4D18F9BAC427}" type="datetimeFigureOut">
              <a:rPr lang="nl-BE" smtClean="0"/>
              <a:t>21/06/2026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00083104"/>
      </p:ext>
    </p:extLst>
  </p:cSld>
  <p:clrMapOvr>
    <a:masterClrMapping/>
  </p:clrMapOvr>
  <p:transition spd="slow">
    <p:cove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D986570-2C26-4E5F-9D28-4D18F9BAC427}" type="datetimeFigureOut">
              <a:rPr lang="nl-BE" smtClean="0"/>
              <a:t>21/06/2026</a:t>
            </a:fld>
            <a:endParaRPr lang="nl-BE" dirty="0"/>
          </a:p>
        </p:txBody>
      </p:sp>
      <p:sp>
        <p:nvSpPr>
          <p:cNvPr id="6" name="Footer Placeholder 5"/>
          <p:cNvSpPr>
            <a:spLocks noGrp="1"/>
          </p:cNvSpPr>
          <p:nvPr>
            <p:ph type="ftr" sz="quarter" idx="11"/>
          </p:nvPr>
        </p:nvSpPr>
        <p:spPr/>
        <p:txBody>
          <a:bodyPr/>
          <a:lstStyle/>
          <a:p>
            <a:endParaRPr lang="nl-BE" dirty="0"/>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59756922"/>
      </p:ext>
    </p:extLst>
  </p:cSld>
  <p:clrMapOvr>
    <a:masterClrMapping/>
  </p:clrMapOvr>
  <p:transition spd="slow">
    <p:cove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D986570-2C26-4E5F-9D28-4D18F9BAC427}" type="datetimeFigureOut">
              <a:rPr lang="nl-BE" smtClean="0"/>
              <a:t>21/06/2026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75E9C3EB-3209-46C0-A1BF-04B855C83966}" type="slidenum">
              <a:rPr lang="nl-BE" smtClean="0"/>
              <a:t>‹#›</a:t>
            </a:fld>
            <a:endParaRPr lang="nl-BE"/>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22309565"/>
      </p:ext>
    </p:extLst>
  </p:cSld>
  <p:clrMapOvr>
    <a:masterClrMapping/>
  </p:clrMapOvr>
  <p:transition spd="slow">
    <p:cove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D986570-2C26-4E5F-9D28-4D18F9BAC427}" type="datetimeFigureOut">
              <a:rPr lang="nl-BE" smtClean="0"/>
              <a:t>21/06/2026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75E9C3EB-3209-46C0-A1BF-04B855C83966}" type="slidenum">
              <a:rPr lang="nl-BE" smtClean="0"/>
              <a:t>‹#›</a:t>
            </a:fld>
            <a:endParaRPr lang="nl-BE"/>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57941629"/>
      </p:ext>
    </p:extLst>
  </p:cSld>
  <p:clrMapOvr>
    <a:masterClrMapping/>
  </p:clrMapOvr>
  <p:transition spd="slow">
    <p:cove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D986570-2C26-4E5F-9D28-4D18F9BAC427}" type="datetimeFigureOut">
              <a:rPr lang="nl-BE" smtClean="0"/>
              <a:t>21/06/2026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75E9C3EB-3209-46C0-A1BF-04B855C83966}" type="slidenum">
              <a:rPr lang="nl-BE" smtClean="0"/>
              <a:t>‹#›</a:t>
            </a:fld>
            <a:endParaRPr lang="nl-BE"/>
          </a:p>
        </p:txBody>
      </p:sp>
    </p:spTree>
    <p:extLst>
      <p:ext uri="{BB962C8B-B14F-4D97-AF65-F5344CB8AC3E}">
        <p14:creationId xmlns:p14="http://schemas.microsoft.com/office/powerpoint/2010/main" val="3747484124"/>
      </p:ext>
    </p:extLst>
  </p:cSld>
  <p:clrMapOvr>
    <a:masterClrMapping/>
  </p:clrMapOvr>
  <p:transition spd="slow">
    <p:cove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D986570-2C26-4E5F-9D28-4D18F9BAC427}" type="datetimeFigureOut">
              <a:rPr lang="nl-BE" smtClean="0"/>
              <a:t>21/06/2026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48654808"/>
      </p:ext>
    </p:extLst>
  </p:cSld>
  <p:clrMapOvr>
    <a:masterClrMapping/>
  </p:clrMapOvr>
  <p:transition spd="slow">
    <p:cove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9D986570-2C26-4E5F-9D28-4D18F9BAC427}" type="datetimeFigureOut">
              <a:rPr lang="nl-BE" smtClean="0"/>
              <a:t>21/06/2026</a:t>
            </a:fld>
            <a:endParaRPr lang="nl-BE"/>
          </a:p>
        </p:txBody>
      </p:sp>
      <p:sp>
        <p:nvSpPr>
          <p:cNvPr id="6" name="Footer Placeholder 5"/>
          <p:cNvSpPr>
            <a:spLocks noGrp="1"/>
          </p:cNvSpPr>
          <p:nvPr>
            <p:ph type="ftr" sz="quarter" idx="11"/>
          </p:nvPr>
        </p:nvSpPr>
        <p:spPr>
          <a:xfrm>
            <a:off x="1447382" y="318640"/>
            <a:ext cx="5541004" cy="320931"/>
          </a:xfrm>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71820353"/>
      </p:ext>
    </p:extLst>
  </p:cSld>
  <p:clrMapOvr>
    <a:masterClrMapping/>
  </p:clrMapOvr>
  <p:transition spd="slow">
    <p:cove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21/06/2026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5799009"/>
      </p:ext>
    </p:extLst>
  </p:cSld>
  <p:clrMapOvr>
    <a:masterClrMapping/>
  </p:clrMapOvr>
  <p:transition spd="slow">
    <p:cove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21/06/2026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36273344"/>
      </p:ext>
    </p:extLst>
  </p:cSld>
  <p:clrMapOvr>
    <a:masterClrMapping/>
  </p:clrMapOvr>
  <p:transition spd="slow">
    <p:cove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bg2">
                <a:tint val="94000"/>
                <a:satMod val="80000"/>
                <a:lumMod val="94000"/>
                <a:lumOff val="6000"/>
              </a:schemeClr>
            </a:gs>
            <a:gs pos="100000">
              <a:schemeClr val="bg2">
                <a:shade val="80000"/>
              </a:schemeClr>
            </a:gs>
          </a:gsLst>
          <a:path path="circle">
            <a:fillToRect l="43000" r="43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9D986570-2C26-4E5F-9D28-4D18F9BAC427}" type="datetimeFigureOut">
              <a:rPr lang="nl-BE" smtClean="0"/>
              <a:t>21/06/2026</a:t>
            </a:fld>
            <a:endParaRPr lang="nl-BE"/>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75E9C3EB-3209-46C0-A1BF-04B855C83966}" type="slidenum">
              <a:rPr lang="nl-BE" smtClean="0"/>
              <a:t>‹#›</a:t>
            </a:fld>
            <a:endParaRPr lang="nl-BE" dirty="0"/>
          </a:p>
        </p:txBody>
      </p:sp>
    </p:spTree>
    <p:extLst>
      <p:ext uri="{BB962C8B-B14F-4D97-AF65-F5344CB8AC3E}">
        <p14:creationId xmlns:p14="http://schemas.microsoft.com/office/powerpoint/2010/main" val="103194958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ransition spd="slow">
    <p:cover/>
  </p:transition>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media" Target="../media/media1.mp3"/><Relationship Id="rId1" Type="http://schemas.openxmlformats.org/officeDocument/2006/relationships/audio" Target="NULL" TargetMode="Externa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2.mp3"/><Relationship Id="rId1" Type="http://schemas.microsoft.com/office/2007/relationships/media" Target="../media/media2.mp3"/><Relationship Id="rId5" Type="http://schemas.openxmlformats.org/officeDocument/2006/relationships/image" Target="../media/image1.png"/><Relationship Id="rId4"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ags" Target="../tags/tag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Narodnaya_Ingushskaya">
            <a:hlinkClick r:id="" action="ppaction://media"/>
            <a:extLst>
              <a:ext uri="{FF2B5EF4-FFF2-40B4-BE49-F238E27FC236}">
                <a16:creationId xmlns:a16="http://schemas.microsoft.com/office/drawing/2014/main" id="{6AA5EB36-CCC9-D90B-7C25-A280071F8536}"/>
              </a:ext>
            </a:extLst>
          </p:cNvPr>
          <p:cNvPicPr>
            <a:picLocks noChangeAspect="1"/>
          </p:cNvPicPr>
          <p:nvPr>
            <a:audioFile r:link="rId1"/>
            <p:extLst>
              <p:ext uri="{DAA4B4D4-6D71-4841-9C94-3DE7FCFB9230}">
                <p14:media xmlns:p14="http://schemas.microsoft.com/office/powerpoint/2010/main" r:embed="rId2">
                  <p14:trim st="5602" end="133226.9375"/>
                  <p14:fade out="1000"/>
                </p14:media>
              </p:ext>
            </p:extLst>
          </p:nvPr>
        </p:nvPicPr>
        <p:blipFill>
          <a:blip r:embed="rId4"/>
          <a:stretch>
            <a:fillRect/>
          </a:stretch>
        </p:blipFill>
        <p:spPr>
          <a:xfrm>
            <a:off x="800332" y="5626500"/>
            <a:ext cx="487363" cy="487363"/>
          </a:xfrm>
          <a:prstGeom prst="rect">
            <a:avLst/>
          </a:prstGeom>
        </p:spPr>
      </p:pic>
      <p:sp>
        <p:nvSpPr>
          <p:cNvPr id="2" name="Title 1">
            <a:extLst>
              <a:ext uri="{FF2B5EF4-FFF2-40B4-BE49-F238E27FC236}">
                <a16:creationId xmlns:a16="http://schemas.microsoft.com/office/drawing/2014/main" id="{060B9045-3109-7F3D-3F6E-A237CA6F2463}"/>
              </a:ext>
            </a:extLst>
          </p:cNvPr>
          <p:cNvSpPr>
            <a:spLocks noGrp="1"/>
          </p:cNvSpPr>
          <p:nvPr>
            <p:ph type="ctrTitle"/>
          </p:nvPr>
        </p:nvSpPr>
        <p:spPr>
          <a:xfrm>
            <a:off x="1784425" y="802299"/>
            <a:ext cx="8623151" cy="1991144"/>
          </a:xfrm>
        </p:spPr>
        <p:txBody>
          <a:bodyPr/>
          <a:lstStyle/>
          <a:p>
            <a:pPr algn="ctr"/>
            <a:r>
              <a:rPr lang="ce-Cyrl-RU" dirty="0"/>
              <a:t>Опыт изучения ингушского языка</a:t>
            </a:r>
            <a:endParaRPr lang="nl-BE" dirty="0"/>
          </a:p>
        </p:txBody>
      </p:sp>
      <p:cxnSp>
        <p:nvCxnSpPr>
          <p:cNvPr id="9" name="Straight Connector 8">
            <a:extLst>
              <a:ext uri="{FF2B5EF4-FFF2-40B4-BE49-F238E27FC236}">
                <a16:creationId xmlns:a16="http://schemas.microsoft.com/office/drawing/2014/main" id="{5DA53427-5985-4E85-8EC8-645334CA8C0A}"/>
              </a:ext>
            </a:extLst>
          </p:cNvPr>
          <p:cNvCxnSpPr>
            <a:cxnSpLocks/>
          </p:cNvCxnSpPr>
          <p:nvPr/>
        </p:nvCxnSpPr>
        <p:spPr>
          <a:xfrm>
            <a:off x="1307876" y="3234447"/>
            <a:ext cx="957624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22CFFAA4-007A-6284-7B95-54B3559E4A1E}"/>
              </a:ext>
            </a:extLst>
          </p:cNvPr>
          <p:cNvCxnSpPr>
            <a:cxnSpLocks/>
          </p:cNvCxnSpPr>
          <p:nvPr/>
        </p:nvCxnSpPr>
        <p:spPr>
          <a:xfrm>
            <a:off x="1307876" y="5342107"/>
            <a:ext cx="9576248"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Subtitle 7">
            <a:extLst>
              <a:ext uri="{FF2B5EF4-FFF2-40B4-BE49-F238E27FC236}">
                <a16:creationId xmlns:a16="http://schemas.microsoft.com/office/drawing/2014/main" id="{2CFAA90A-62ED-E505-101E-911AC776E6A5}"/>
              </a:ext>
            </a:extLst>
          </p:cNvPr>
          <p:cNvSpPr>
            <a:spLocks noGrp="1"/>
          </p:cNvSpPr>
          <p:nvPr>
            <p:ph type="subTitle" idx="1"/>
          </p:nvPr>
        </p:nvSpPr>
        <p:spPr>
          <a:xfrm>
            <a:off x="1777464" y="3531204"/>
            <a:ext cx="8637072" cy="977621"/>
          </a:xfrm>
        </p:spPr>
        <p:txBody>
          <a:bodyPr>
            <a:normAutofit fontScale="92500" lnSpcReduction="20000"/>
          </a:bodyPr>
          <a:lstStyle/>
          <a:p>
            <a:pPr algn="ctr"/>
            <a:r>
              <a:rPr lang="ce-Cyrl-RU" dirty="0"/>
              <a:t>ингушские притчи </a:t>
            </a:r>
            <a:br>
              <a:rPr lang="ce-Cyrl-RU" dirty="0"/>
            </a:br>
            <a:r>
              <a:rPr lang="ce-Cyrl-RU" dirty="0"/>
              <a:t>с переводом на русский, чеченский и Английский языки.</a:t>
            </a:r>
            <a:br>
              <a:rPr lang="ce-Cyrl-RU" dirty="0"/>
            </a:br>
            <a:r>
              <a:rPr lang="ru-RU" dirty="0"/>
              <a:t>Р</a:t>
            </a:r>
            <a:r>
              <a:rPr lang="ce-Cyrl-RU" dirty="0"/>
              <a:t>азбор лексики и грамматики.</a:t>
            </a:r>
            <a:endParaRPr lang="nl-BE" dirty="0"/>
          </a:p>
          <a:p>
            <a:endParaRPr lang="nl-BE" dirty="0"/>
          </a:p>
        </p:txBody>
      </p:sp>
    </p:spTree>
    <p:extLst>
      <p:ext uri="{BB962C8B-B14F-4D97-AF65-F5344CB8AC3E}">
        <p14:creationId xmlns:p14="http://schemas.microsoft.com/office/powerpoint/2010/main" val="3287819153"/>
      </p:ext>
    </p:extLst>
  </p:cSld>
  <p:clrMapOvr>
    <a:masterClrMapping/>
  </p:clrMapOvr>
  <mc:AlternateContent xmlns:mc="http://schemas.openxmlformats.org/markup-compatibility/2006" xmlns:p14="http://schemas.microsoft.com/office/powerpoint/2010/main">
    <mc:Choice Requires="p14">
      <p:transition p14:dur="0" advTm="2000"/>
    </mc:Choice>
    <mc:Fallback xmlns="">
      <p:transition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numSld="999" showWhenStopped="0">
                <p:cTn id="7" fill="hold" display="0">
                  <p:stCondLst>
                    <p:cond delay="indefinite"/>
                  </p:stCondLst>
                  <p:endCondLst>
                    <p:cond evt="onStopAudio" delay="0">
                      <p:tgtEl>
                        <p:sldTgt/>
                      </p:tgtEl>
                    </p:cond>
                  </p:endCondLst>
                </p:cTn>
                <p:tgtEl>
                  <p:spTgt spid="5"/>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DEEFE-FAC7-B414-5EE3-E89A0F227BF5}"/>
              </a:ext>
            </a:extLst>
          </p:cNvPr>
          <p:cNvSpPr>
            <a:spLocks noGrp="1"/>
          </p:cNvSpPr>
          <p:nvPr>
            <p:ph type="title"/>
          </p:nvPr>
        </p:nvSpPr>
        <p:spPr>
          <a:xfrm>
            <a:off x="1294363" y="223737"/>
            <a:ext cx="9603275" cy="493813"/>
          </a:xfrm>
        </p:spPr>
        <p:txBody>
          <a:bodyPr>
            <a:normAutofit fontScale="90000"/>
          </a:bodyPr>
          <a:lstStyle/>
          <a:p>
            <a:pPr algn="ctr"/>
            <a:r>
              <a:rPr lang="ce-Cyrl-RU" dirty="0"/>
              <a:t>Мудрые наставления наших предков</a:t>
            </a:r>
            <a:endParaRPr lang="nl-BE" dirty="0"/>
          </a:p>
        </p:txBody>
      </p:sp>
      <p:pic>
        <p:nvPicPr>
          <p:cNvPr id="5" name="Content Placeholder 4">
            <a:extLst>
              <a:ext uri="{FF2B5EF4-FFF2-40B4-BE49-F238E27FC236}">
                <a16:creationId xmlns:a16="http://schemas.microsoft.com/office/drawing/2014/main" id="{6A46817F-2590-AF4F-062B-7810BBC5A99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055422" y="2171671"/>
            <a:ext cx="1969259" cy="3449638"/>
          </a:xfrm>
          <a:prstGeom prst="rect">
            <a:avLst/>
          </a:prstGeom>
        </p:spPr>
      </p:pic>
      <p:pic>
        <p:nvPicPr>
          <p:cNvPr id="8" name="Picture 7">
            <a:extLst>
              <a:ext uri="{FF2B5EF4-FFF2-40B4-BE49-F238E27FC236}">
                <a16:creationId xmlns:a16="http://schemas.microsoft.com/office/drawing/2014/main" id="{73DC7B53-5EC4-58F2-9016-E24BFB8750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82455" y="2171671"/>
            <a:ext cx="3011997" cy="3449638"/>
          </a:xfrm>
          <a:prstGeom prst="rect">
            <a:avLst/>
          </a:prstGeom>
        </p:spPr>
      </p:pic>
      <p:sp>
        <p:nvSpPr>
          <p:cNvPr id="6" name="Subtitle 7">
            <a:extLst>
              <a:ext uri="{FF2B5EF4-FFF2-40B4-BE49-F238E27FC236}">
                <a16:creationId xmlns:a16="http://schemas.microsoft.com/office/drawing/2014/main" id="{F8D657EF-BD2E-4F0B-971C-809E230094C5}"/>
              </a:ext>
            </a:extLst>
          </p:cNvPr>
          <p:cNvSpPr txBox="1">
            <a:spLocks/>
          </p:cNvSpPr>
          <p:nvPr/>
        </p:nvSpPr>
        <p:spPr>
          <a:xfrm>
            <a:off x="1777464" y="768955"/>
            <a:ext cx="8637072" cy="843945"/>
          </a:xfrm>
          <a:prstGeom prst="rect">
            <a:avLst/>
          </a:prstGeom>
        </p:spPr>
        <p:txBody>
          <a:bodyPr vert="horz" lIns="91440" tIns="91440" rIns="91440" bIns="91440" rtlCol="0">
            <a:normAutofit/>
          </a:bodyPr>
          <a:lstStyle>
            <a:lvl1pPr indent="0" algn="ctr" defTabSz="914400">
              <a:lnSpc>
                <a:spcPct val="120000"/>
              </a:lnSpc>
              <a:spcBef>
                <a:spcPts val="1000"/>
              </a:spcBef>
              <a:buClr>
                <a:schemeClr val="accent1"/>
              </a:buClr>
              <a:buSzPct val="100000"/>
              <a:buFont typeface="Arial" panose="020B0604020202020204" pitchFamily="34" charset="0"/>
              <a:buNone/>
              <a:defRPr b="0" cap="all" baseline="0">
                <a:effectLst/>
              </a:defRPr>
            </a:lvl1pPr>
            <a:lvl2pPr indent="0" algn="ctr" defTabSz="914400">
              <a:lnSpc>
                <a:spcPct val="120000"/>
              </a:lnSpc>
              <a:spcBef>
                <a:spcPts val="500"/>
              </a:spcBef>
              <a:buClr>
                <a:schemeClr val="accent1"/>
              </a:buClr>
              <a:buSzPct val="100000"/>
              <a:buFont typeface="Arial" panose="020B0604020202020204" pitchFamily="34" charset="0"/>
              <a:buNone/>
              <a:defRPr cap="none" baseline="0">
                <a:effectLst/>
              </a:defRPr>
            </a:lvl2pPr>
            <a:lvl3pPr indent="0" algn="ctr" defTabSz="914400">
              <a:lnSpc>
                <a:spcPct val="120000"/>
              </a:lnSpc>
              <a:spcBef>
                <a:spcPts val="500"/>
              </a:spcBef>
              <a:buClr>
                <a:schemeClr val="accent1"/>
              </a:buClr>
              <a:buSzPct val="100000"/>
              <a:buFont typeface="Arial" panose="020B0604020202020204" pitchFamily="34" charset="0"/>
              <a:buNone/>
              <a:defRPr>
                <a:effectLst/>
              </a:defRPr>
            </a:lvl3pPr>
            <a:lvl4pPr indent="0" algn="ctr" defTabSz="914400">
              <a:lnSpc>
                <a:spcPct val="120000"/>
              </a:lnSpc>
              <a:spcBef>
                <a:spcPts val="500"/>
              </a:spcBef>
              <a:buClr>
                <a:schemeClr val="accent1"/>
              </a:buClr>
              <a:buSzPct val="100000"/>
              <a:buFont typeface="Arial" panose="020B0604020202020204" pitchFamily="34" charset="0"/>
              <a:buNone/>
              <a:defRPr sz="1600" cap="none" baseline="0">
                <a:effectLst/>
              </a:defRPr>
            </a:lvl4pPr>
            <a:lvl5pPr indent="0" algn="ctr" defTabSz="914400">
              <a:lnSpc>
                <a:spcPct val="120000"/>
              </a:lnSpc>
              <a:spcBef>
                <a:spcPts val="500"/>
              </a:spcBef>
              <a:buClr>
                <a:schemeClr val="accent1"/>
              </a:buClr>
              <a:buSzPct val="100000"/>
              <a:buFont typeface="Arial" panose="020B0604020202020204" pitchFamily="34" charset="0"/>
              <a:buNone/>
              <a:defRPr sz="1600">
                <a:effectLst/>
              </a:defRPr>
            </a:lvl5pPr>
            <a:lvl6pPr indent="0" algn="ctr" defTabSz="914400">
              <a:lnSpc>
                <a:spcPct val="120000"/>
              </a:lnSpc>
              <a:spcBef>
                <a:spcPts val="500"/>
              </a:spcBef>
              <a:buClr>
                <a:schemeClr val="accent1"/>
              </a:buClr>
              <a:buSzPct val="100000"/>
              <a:buFont typeface="Arial" panose="020B0604020202020204" pitchFamily="34" charset="0"/>
              <a:buNone/>
              <a:defRPr sz="1600">
                <a:effectLst/>
              </a:defRPr>
            </a:lvl6pPr>
            <a:lvl7pPr indent="0" algn="ctr" defTabSz="914400">
              <a:lnSpc>
                <a:spcPct val="120000"/>
              </a:lnSpc>
              <a:spcBef>
                <a:spcPts val="500"/>
              </a:spcBef>
              <a:buClr>
                <a:schemeClr val="accent1"/>
              </a:buClr>
              <a:buSzPct val="100000"/>
              <a:buFont typeface="Arial" panose="020B0604020202020204" pitchFamily="34" charset="0"/>
              <a:buNone/>
              <a:defRPr sz="1600">
                <a:effectLst/>
              </a:defRPr>
            </a:lvl7pPr>
            <a:lvl8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8pPr>
            <a:lvl9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9pPr>
          </a:lstStyle>
          <a:p>
            <a:r>
              <a:rPr lang="ce-Cyrl-RU" dirty="0"/>
              <a:t>Из ингушского фольклора</a:t>
            </a:r>
            <a:br>
              <a:rPr lang="ce-Cyrl-RU" dirty="0"/>
            </a:br>
            <a:r>
              <a:rPr lang="ce-Cyrl-RU" dirty="0"/>
              <a:t>И.А. Дахкильгов, 2000 г.</a:t>
            </a:r>
            <a:endParaRPr lang="nl-BE" dirty="0"/>
          </a:p>
          <a:p>
            <a:endParaRPr lang="nl-BE" dirty="0"/>
          </a:p>
        </p:txBody>
      </p:sp>
    </p:spTree>
    <p:extLst>
      <p:ext uri="{BB962C8B-B14F-4D97-AF65-F5344CB8AC3E}">
        <p14:creationId xmlns:p14="http://schemas.microsoft.com/office/powerpoint/2010/main" val="3511886794"/>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strVal val="#ppt_w*0.70"/>
                                          </p:val>
                                        </p:tav>
                                        <p:tav tm="100000">
                                          <p:val>
                                            <p:strVal val="#ppt_w"/>
                                          </p:val>
                                        </p:tav>
                                      </p:tavLst>
                                    </p:anim>
                                    <p:anim calcmode="lin" valueType="num">
                                      <p:cBhvr>
                                        <p:cTn id="8" dur="1000" fill="hold"/>
                                        <p:tgtEl>
                                          <p:spTgt spid="5"/>
                                        </p:tgtEl>
                                        <p:attrNameLst>
                                          <p:attrName>ppt_h</p:attrName>
                                        </p:attrNameLst>
                                      </p:cBhvr>
                                      <p:tavLst>
                                        <p:tav tm="0">
                                          <p:val>
                                            <p:strVal val="#ppt_h"/>
                                          </p:val>
                                        </p:tav>
                                        <p:tav tm="100000">
                                          <p:val>
                                            <p:strVal val="#ppt_h"/>
                                          </p:val>
                                        </p:tav>
                                      </p:tavLst>
                                    </p:anim>
                                    <p:animEffect transition="in" filter="fade">
                                      <p:cBhvr>
                                        <p:cTn id="9"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CC4DD-6064-8AF3-DEC8-492C1657613F}"/>
              </a:ext>
            </a:extLst>
          </p:cNvPr>
          <p:cNvSpPr>
            <a:spLocks noGrp="1"/>
          </p:cNvSpPr>
          <p:nvPr>
            <p:ph type="ctrTitle"/>
          </p:nvPr>
        </p:nvSpPr>
        <p:spPr>
          <a:xfrm>
            <a:off x="1777464" y="198765"/>
            <a:ext cx="8637073" cy="239101"/>
          </a:xfrm>
        </p:spPr>
        <p:txBody>
          <a:bodyPr>
            <a:normAutofit/>
          </a:bodyPr>
          <a:lstStyle/>
          <a:p>
            <a:pPr algn="ctr"/>
            <a:r>
              <a:rPr lang="ce-Cyrl-RU" sz="1400" dirty="0"/>
              <a:t>предисловие</a:t>
            </a:r>
            <a:endParaRPr lang="nl-BE" sz="1400" dirty="0"/>
          </a:p>
        </p:txBody>
      </p:sp>
    </p:spTree>
    <p:extLst>
      <p:ext uri="{BB962C8B-B14F-4D97-AF65-F5344CB8AC3E}">
        <p14:creationId xmlns:p14="http://schemas.microsoft.com/office/powerpoint/2010/main" val="253645785"/>
      </p:ext>
    </p:extLst>
  </p:cSld>
  <p:clrMapOvr>
    <a:masterClrMapping/>
  </p:clrMapOvr>
  <mc:AlternateContent xmlns:mc="http://schemas.openxmlformats.org/markup-compatibility/2006" xmlns:p14="http://schemas.microsoft.com/office/powerpoint/2010/main">
    <mc:Choice Requires="p14">
      <p:transition spd="med" p14:dur="700" advTm="176000">
        <p:fade/>
      </p:transition>
    </mc:Choice>
    <mc:Fallback xmlns="">
      <p:transition spd="med" advTm="1760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2CF6D9B2-7B50-314B-634A-73A548DB364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3532" y="1244970"/>
            <a:ext cx="6117074" cy="3336586"/>
          </a:xfrm>
          <a:prstGeom prst="rect">
            <a:avLst/>
          </a:prstGeom>
        </p:spPr>
      </p:pic>
      <p:sp>
        <p:nvSpPr>
          <p:cNvPr id="8" name="Title 7">
            <a:extLst>
              <a:ext uri="{FF2B5EF4-FFF2-40B4-BE49-F238E27FC236}">
                <a16:creationId xmlns:a16="http://schemas.microsoft.com/office/drawing/2014/main" id="{1329C50E-74C0-7ABA-F08B-A63C7E035D85}"/>
              </a:ext>
            </a:extLst>
          </p:cNvPr>
          <p:cNvSpPr txBox="1">
            <a:spLocks noGrp="1"/>
          </p:cNvSpPr>
          <p:nvPr>
            <p:ph type="title" idx="4294967295"/>
          </p:nvPr>
        </p:nvSpPr>
        <p:spPr>
          <a:xfrm>
            <a:off x="6716226" y="1952171"/>
            <a:ext cx="49659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rgbClr val="CC6600"/>
                </a:solidFill>
                <a:effectLst/>
                <a:uLnTx/>
                <a:uFillTx/>
                <a:latin typeface="+mj-lt"/>
                <a:ea typeface="+mn-ea"/>
                <a:cs typeface="+mn-cs"/>
              </a:rPr>
              <a:t>Са дешал чIоагIагI да цун эздел</a:t>
            </a:r>
            <a:r>
              <a:rPr kumimoji="0" lang="ce-Cyrl-RU" sz="2400" b="1" i="0" u="none" strike="noStrike" kern="1200" cap="none" spc="0" normalizeH="0" baseline="0" noProof="0" dirty="0">
                <a:ln>
                  <a:noFill/>
                </a:ln>
                <a:solidFill>
                  <a:srgbClr val="CC6600"/>
                </a:solidFill>
                <a:effectLst/>
                <a:uLnTx/>
                <a:uFillTx/>
                <a:latin typeface="+mj-lt"/>
                <a:ea typeface="+mn-ea"/>
                <a:cs typeface="+mn-cs"/>
              </a:rPr>
              <a:t> </a:t>
            </a:r>
            <a:endParaRPr kumimoji="0" lang="nl-BE" sz="2400" b="1"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sp>
        <p:nvSpPr>
          <p:cNvPr id="10" name="TextBox 9">
            <a:extLst>
              <a:ext uri="{FF2B5EF4-FFF2-40B4-BE49-F238E27FC236}">
                <a16:creationId xmlns:a16="http://schemas.microsoft.com/office/drawing/2014/main" id="{6343BD79-EADF-39AF-26F8-D7E577B6C3C9}"/>
              </a:ext>
            </a:extLst>
          </p:cNvPr>
          <p:cNvSpPr txBox="1"/>
          <p:nvPr/>
        </p:nvSpPr>
        <p:spPr>
          <a:xfrm>
            <a:off x="7322585" y="1322794"/>
            <a:ext cx="3952671" cy="58477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ce-Cyrl-RU" sz="3200" b="1" i="0" u="none" strike="noStrike" kern="1200" cap="none" spc="0" normalizeH="0" baseline="0" noProof="0" dirty="0">
                <a:ln>
                  <a:noFill/>
                </a:ln>
                <a:solidFill>
                  <a:srgbClr val="CC6600"/>
                </a:solidFill>
                <a:effectLst/>
                <a:uLnTx/>
                <a:uFillTx/>
                <a:latin typeface="Alasassy Caps"/>
                <a:ea typeface="+mn-ea"/>
                <a:cs typeface="+mn-cs"/>
              </a:rPr>
              <a:t>№ 1</a:t>
            </a:r>
            <a:endParaRPr kumimoji="0" lang="nl-BE" sz="3200" b="1" i="0" u="none" strike="noStrike" kern="1200" cap="none" spc="0" normalizeH="0" baseline="0" noProof="0" dirty="0">
              <a:ln>
                <a:noFill/>
              </a:ln>
              <a:solidFill>
                <a:srgbClr val="CC6600"/>
              </a:solidFill>
              <a:effectLst/>
              <a:uLnTx/>
              <a:uFillTx/>
              <a:latin typeface="Alasassy Caps"/>
              <a:ea typeface="+mn-ea"/>
              <a:cs typeface="+mn-cs"/>
            </a:endParaRPr>
          </a:p>
        </p:txBody>
      </p:sp>
      <p:sp>
        <p:nvSpPr>
          <p:cNvPr id="11" name="TextBox 10">
            <a:extLst>
              <a:ext uri="{FF2B5EF4-FFF2-40B4-BE49-F238E27FC236}">
                <a16:creationId xmlns:a16="http://schemas.microsoft.com/office/drawing/2014/main" id="{C2A48C73-175C-D8D8-25C7-9E0DDE77C77F}"/>
              </a:ext>
            </a:extLst>
          </p:cNvPr>
          <p:cNvSpPr txBox="1"/>
          <p:nvPr/>
        </p:nvSpPr>
        <p:spPr>
          <a:xfrm>
            <a:off x="6589766" y="3381439"/>
            <a:ext cx="5369668" cy="1015663"/>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000" b="1" i="0" u="none" strike="noStrike" kern="1200" cap="none" spc="0" normalizeH="0" baseline="0" noProof="0" dirty="0">
                <a:ln>
                  <a:noFill/>
                </a:ln>
                <a:solidFill>
                  <a:srgbClr val="CC6600"/>
                </a:solidFill>
                <a:effectLst/>
                <a:uLnTx/>
                <a:uFillTx/>
                <a:ea typeface="+mn-ea"/>
                <a:cs typeface="+mn-cs"/>
              </a:rPr>
              <a:t>Его благородство сильнее моих слов</a:t>
            </a:r>
            <a:br>
              <a:rPr kumimoji="0" lang="ce-Cyrl-RU" sz="2000" b="1" i="0" u="none" strike="noStrike" kern="1200" cap="none" spc="0" normalizeH="0" baseline="0" noProof="0" dirty="0">
                <a:ln>
                  <a:noFill/>
                </a:ln>
                <a:solidFill>
                  <a:srgbClr val="CC6600"/>
                </a:solidFill>
                <a:effectLst/>
                <a:uLnTx/>
                <a:uFillTx/>
                <a:ea typeface="+mn-ea"/>
                <a:cs typeface="+mn-cs"/>
              </a:rPr>
            </a:br>
            <a:br>
              <a:rPr kumimoji="0" lang="ce-Cyrl-RU" sz="2000" b="1" i="0" u="none" strike="noStrike" kern="1200" cap="none" spc="0" normalizeH="0" baseline="0" noProof="0" dirty="0">
                <a:ln>
                  <a:noFill/>
                </a:ln>
                <a:solidFill>
                  <a:srgbClr val="CC6600"/>
                </a:solidFill>
                <a:effectLst/>
                <a:uLnTx/>
                <a:uFillTx/>
                <a:ea typeface="+mn-ea"/>
                <a:cs typeface="+mn-cs"/>
              </a:rPr>
            </a:br>
            <a:r>
              <a:rPr kumimoji="0" lang="en-US" sz="2000" b="1" i="0" u="none" strike="noStrike" kern="1200" cap="none" spc="0" normalizeH="0" baseline="0" noProof="0" dirty="0">
                <a:ln>
                  <a:noFill/>
                </a:ln>
                <a:solidFill>
                  <a:srgbClr val="CC6600"/>
                </a:solidFill>
                <a:effectLst/>
                <a:uLnTx/>
                <a:uFillTx/>
                <a:latin typeface="Gill Sans MT" panose="020B0502020104020203"/>
                <a:ea typeface="+mn-ea"/>
                <a:cs typeface="+mn-cs"/>
              </a:rPr>
              <a:t>His nobility speaks louder than my words</a:t>
            </a:r>
            <a:endParaRPr kumimoji="0" lang="nl-BE" sz="2000" b="0"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cxnSp>
        <p:nvCxnSpPr>
          <p:cNvPr id="13" name="Straight Connector 12">
            <a:extLst>
              <a:ext uri="{FF2B5EF4-FFF2-40B4-BE49-F238E27FC236}">
                <a16:creationId xmlns:a16="http://schemas.microsoft.com/office/drawing/2014/main" id="{1F44E224-A0A3-F28E-221F-EB5BC8440BAA}"/>
              </a:ext>
            </a:extLst>
          </p:cNvPr>
          <p:cNvCxnSpPr>
            <a:cxnSpLocks/>
          </p:cNvCxnSpPr>
          <p:nvPr/>
        </p:nvCxnSpPr>
        <p:spPr>
          <a:xfrm>
            <a:off x="8369925" y="1899972"/>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B7D954C-17E0-A338-D96F-6134F0C5115A}"/>
              </a:ext>
            </a:extLst>
          </p:cNvPr>
          <p:cNvCxnSpPr>
            <a:cxnSpLocks/>
          </p:cNvCxnSpPr>
          <p:nvPr/>
        </p:nvCxnSpPr>
        <p:spPr>
          <a:xfrm>
            <a:off x="8369925" y="2558211"/>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34AFEBD-0312-5DC2-8668-33F8363DE6B2}"/>
              </a:ext>
            </a:extLst>
          </p:cNvPr>
          <p:cNvCxnSpPr>
            <a:cxnSpLocks/>
          </p:cNvCxnSpPr>
          <p:nvPr/>
        </p:nvCxnSpPr>
        <p:spPr>
          <a:xfrm>
            <a:off x="8369925" y="3867825"/>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1401332"/>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_inh_001">
            <a:hlinkClick r:id="" action="ppaction://media"/>
            <a:extLst>
              <a:ext uri="{FF2B5EF4-FFF2-40B4-BE49-F238E27FC236}">
                <a16:creationId xmlns:a16="http://schemas.microsoft.com/office/drawing/2014/main" id="{905DB5AE-7B3F-AF54-4805-CF9550DA559B}"/>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470170" y="184826"/>
            <a:ext cx="398834" cy="398834"/>
          </a:xfrm>
          <a:prstGeom prst="rect">
            <a:avLst/>
          </a:prstGeom>
        </p:spPr>
      </p:pic>
      <p:sp>
        <p:nvSpPr>
          <p:cNvPr id="7" name="TextBox 6">
            <a:extLst>
              <a:ext uri="{FF2B5EF4-FFF2-40B4-BE49-F238E27FC236}">
                <a16:creationId xmlns:a16="http://schemas.microsoft.com/office/drawing/2014/main" id="{388FC515-7E5F-5531-8FDD-8728149AFB7C}"/>
              </a:ext>
            </a:extLst>
          </p:cNvPr>
          <p:cNvSpPr txBox="1"/>
          <p:nvPr/>
        </p:nvSpPr>
        <p:spPr>
          <a:xfrm>
            <a:off x="885217" y="1615629"/>
            <a:ext cx="10525328" cy="2308324"/>
          </a:xfrm>
          <a:prstGeom prst="rect">
            <a:avLst/>
          </a:prstGeom>
          <a:noFill/>
        </p:spPr>
        <p:txBody>
          <a:bodyPr wrap="square" rtlCol="0">
            <a:spAutoFit/>
          </a:bodyPr>
          <a:lstStyle/>
          <a:p>
            <a:r>
              <a:rPr lang="ru-RU" sz="2400" dirty="0"/>
              <a:t>Гулбенна нах багӀача цӀагӀа Мохьмад-пайхамар чуваьлча, берригаш гӀайттаб. Пайхамара Ӏоха а аьнна, уж Ӏохайшача, цхьа зӀамига саг латт</a:t>
            </a:r>
            <a:r>
              <a:rPr lang="ce-Cyrl-RU" sz="2400" dirty="0"/>
              <a:t>а в</a:t>
            </a:r>
            <a:r>
              <a:rPr lang="ru-RU" sz="2400" dirty="0"/>
              <a:t>исав. Пайхамара шозлагӀа а а</a:t>
            </a:r>
            <a:r>
              <a:rPr lang="ce-Cyrl-RU" sz="2400" dirty="0"/>
              <a:t>ь</a:t>
            </a:r>
            <a:r>
              <a:rPr lang="ru-RU" sz="2400" dirty="0"/>
              <a:t>ннад цунга, Ӏоха. ТӀаккха а хайнавац. Пайхамара яхар хӀана дац Ӏа, Ӏоха ях хьога, оалаш, бехкаш даха нах болабелча, Мохьмад-пайхамара аьннад:</a:t>
            </a:r>
          </a:p>
          <a:p>
            <a:r>
              <a:rPr lang="ru-RU" sz="2400" dirty="0"/>
              <a:t>- Бехкаш ма даха цох. Са дешал чӀоагӀагӀа да цун сих доалла эздел.</a:t>
            </a:r>
            <a:endParaRPr lang="nl-BE" sz="2400" dirty="0"/>
          </a:p>
        </p:txBody>
      </p:sp>
      <p:sp>
        <p:nvSpPr>
          <p:cNvPr id="8" name="Title 7">
            <a:extLst>
              <a:ext uri="{FF2B5EF4-FFF2-40B4-BE49-F238E27FC236}">
                <a16:creationId xmlns:a16="http://schemas.microsoft.com/office/drawing/2014/main" id="{0443C54C-441A-C5BB-DBFD-00B50500ACB0}"/>
              </a:ext>
            </a:extLst>
          </p:cNvPr>
          <p:cNvSpPr txBox="1">
            <a:spLocks noGrp="1"/>
          </p:cNvSpPr>
          <p:nvPr>
            <p:ph type="title" idx="4294967295"/>
          </p:nvPr>
        </p:nvSpPr>
        <p:spPr>
          <a:xfrm>
            <a:off x="1797051" y="857983"/>
            <a:ext cx="67068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a:t>
            </a:r>
            <a:r>
              <a:rPr kumimoji="0" lang="ru-RU" sz="2400" b="1" i="0" u="none" strike="noStrike" kern="1200" cap="none" spc="0" normalizeH="0" baseline="0" noProof="0" dirty="0">
                <a:ln>
                  <a:noFill/>
                </a:ln>
                <a:solidFill>
                  <a:schemeClr val="tx1"/>
                </a:solidFill>
                <a:effectLst/>
                <a:uLnTx/>
                <a:uFillTx/>
                <a:latin typeface="+mn-lt"/>
                <a:ea typeface="+mn-ea"/>
                <a:cs typeface="+mn-cs"/>
              </a:rPr>
              <a:t>Са дешал ч1оаг</a:t>
            </a:r>
            <a:r>
              <a:rPr kumimoji="0" lang="nl-BE"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аг</a:t>
            </a:r>
            <a:r>
              <a:rPr kumimoji="0" lang="nl-BE" sz="2400" b="1" i="0" u="none" strike="noStrike" kern="1200" cap="none" spc="0" normalizeH="0" baseline="0" noProof="0" dirty="0">
                <a:ln>
                  <a:noFill/>
                </a:ln>
                <a:solidFill>
                  <a:schemeClr val="tx1"/>
                </a:solidFill>
                <a:effectLst/>
                <a:uLnTx/>
                <a:uFillTx/>
                <a:latin typeface="+mn-lt"/>
                <a:ea typeface="+mn-ea"/>
                <a:cs typeface="+mn-cs"/>
              </a:rPr>
              <a:t>I </a:t>
            </a:r>
            <a:r>
              <a:rPr kumimoji="0" lang="ru-RU" sz="2400" b="1" i="0" u="none" strike="noStrike" kern="1200" cap="none" spc="0" normalizeH="0" baseline="0" noProof="0" dirty="0">
                <a:ln>
                  <a:noFill/>
                </a:ln>
                <a:solidFill>
                  <a:schemeClr val="tx1"/>
                </a:solidFill>
                <a:effectLst/>
                <a:uLnTx/>
                <a:uFillTx/>
                <a:latin typeface="+mn-lt"/>
                <a:ea typeface="+mn-ea"/>
                <a:cs typeface="+mn-cs"/>
              </a:rPr>
              <a:t>да цун эздел</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2352826899"/>
      </p:ext>
    </p:extLst>
  </p:cSld>
  <p:clrMapOvr>
    <a:masterClrMapping/>
  </p:clrMapOvr>
  <mc:AlternateContent xmlns:mc="http://schemas.openxmlformats.org/markup-compatibility/2006" xmlns:p14="http://schemas.microsoft.com/office/powerpoint/2010/main">
    <mc:Choice Requires="p14">
      <p:transition spd="med" p14:dur="700" advTm="41000">
        <p:fade/>
      </p:transition>
    </mc:Choice>
    <mc:Fallback xmlns="">
      <p:transition spd="med" advTm="4100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0128"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showWhenStopped="0">
                <p:cTn id="7" fill="hold" display="0">
                  <p:stCondLst>
                    <p:cond delay="indefinite"/>
                  </p:stCondLst>
                  <p:endCondLst>
                    <p:cond evt="onStopAudio" delay="0">
                      <p:tgtEl>
                        <p:sldTgt/>
                      </p:tgtEl>
                    </p:cond>
                  </p:endCondLst>
                </p:cTn>
                <p:tgtEl>
                  <p:spTgt spid="10"/>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DF90C-729C-3B9C-4997-1D0EDCAB43B2}"/>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1F4E762B-BE22-34F4-37FC-54D7F596ABD9}"/>
              </a:ext>
            </a:extLst>
          </p:cNvPr>
          <p:cNvSpPr txBox="1">
            <a:spLocks/>
          </p:cNvSpPr>
          <p:nvPr/>
        </p:nvSpPr>
        <p:spPr>
          <a:xfrm>
            <a:off x="869004" y="1275810"/>
            <a:ext cx="10379413" cy="378565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mn-lt"/>
                <a:ea typeface="+mn-ea"/>
                <a:cs typeface="+mn-cs"/>
              </a:rPr>
              <a:t>1. </a:t>
            </a:r>
            <a:r>
              <a:rPr kumimoji="0" lang="ru-RU" sz="2400" b="1" i="0" u="none" strike="noStrike" kern="1200" cap="none" spc="0" normalizeH="0" baseline="0" noProof="0" dirty="0">
                <a:ln>
                  <a:noFill/>
                </a:ln>
                <a:solidFill>
                  <a:prstClr val="black"/>
                </a:solidFill>
                <a:effectLst/>
                <a:uLnTx/>
                <a:uFillTx/>
                <a:latin typeface="+mn-lt"/>
                <a:ea typeface="+mn-ea"/>
                <a:cs typeface="+mn-cs"/>
              </a:rPr>
              <a:t>Его благородство сильнее моих слов</a:t>
            </a:r>
            <a:br>
              <a:rPr kumimoji="0" lang="ce-Cyrl-RU" sz="2400" b="1" i="0" u="none" strike="noStrike" kern="1200" cap="none" spc="0" normalizeH="0" baseline="0" noProof="0" dirty="0">
                <a:ln>
                  <a:noFill/>
                </a:ln>
                <a:solidFill>
                  <a:prstClr val="black"/>
                </a:solidFill>
                <a:effectLst/>
                <a:uLnTx/>
                <a:uFillTx/>
                <a:latin typeface="+mn-lt"/>
                <a:ea typeface="+mn-ea"/>
                <a:cs typeface="+mn-cs"/>
              </a:rPr>
            </a:br>
            <a:endParaRPr kumimoji="0" lang="ru-RU" sz="2400" b="1"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latin typeface="+mn-lt"/>
                <a:ea typeface="+mn-ea"/>
                <a:cs typeface="+mn-cs"/>
              </a:rPr>
              <a:t>В одном доме собрались люди. Они сидели и беседовали. В это время вошел пророк Мухаммед. Все встали, приветствуя его. Пророк попросил их сесть, и тогда все сели. Один юноша продолжал стоять. Пророк повторно предложил ему сесть. Юноша продолжал стоять. На него зашикали: </a:t>
            </a:r>
            <a:r>
              <a:rPr kumimoji="0" lang="en-US" sz="2400" b="0" i="0" u="none" strike="noStrike" kern="1200" cap="none" spc="0" normalizeH="0" baseline="0" noProof="0" dirty="0">
                <a:ln>
                  <a:noFill/>
                </a:ln>
                <a:solidFill>
                  <a:prstClr val="black"/>
                </a:solidFill>
                <a:effectLst/>
                <a:uLnTx/>
                <a:uFillTx/>
                <a:latin typeface="Gill Sans MT" panose="020B0502020104020203"/>
                <a:ea typeface="+mn-ea"/>
                <a:cs typeface="+mn-cs"/>
              </a:rPr>
              <a:t> </a:t>
            </a:r>
            <a:r>
              <a:rPr kumimoji="0" lang="ru-RU" sz="2400" b="0" i="0" u="none" strike="noStrike" kern="1200" cap="none" spc="0" normalizeH="0" baseline="0" noProof="0" dirty="0">
                <a:ln>
                  <a:noFill/>
                </a:ln>
                <a:solidFill>
                  <a:prstClr val="black"/>
                </a:solidFill>
                <a:effectLst/>
                <a:uLnTx/>
                <a:uFillTx/>
                <a:latin typeface="+mn-lt"/>
                <a:ea typeface="+mn-ea"/>
                <a:cs typeface="+mn-cs"/>
              </a:rPr>
              <a:t>“Садись, тебе говорят. Для тебя слово пророка ничто не значит?”. Тогда Мухаммед-пророк сказал:</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latin typeface="+mn-lt"/>
                <a:ea typeface="+mn-ea"/>
                <a:cs typeface="+mn-cs"/>
              </a:rPr>
              <a:t>“Не обижайте юношу. Благородство, впитавшееся в его душу, сильнее моих слов”.</a:t>
            </a:r>
            <a:r>
              <a:rPr kumimoji="0" lang="ce-Cyrl-RU" sz="2400" b="0" i="0" u="none" strike="noStrike" kern="1200" cap="none" spc="0" normalizeH="0" baseline="0" noProof="0" dirty="0">
                <a:ln>
                  <a:noFill/>
                </a:ln>
                <a:solidFill>
                  <a:prstClr val="black"/>
                </a:solidFill>
                <a:effectLst/>
                <a:uLnTx/>
                <a:uFillTx/>
                <a:latin typeface="+mn-lt"/>
                <a:ea typeface="+mn-ea"/>
                <a:cs typeface="+mn-cs"/>
              </a:rPr>
              <a:t> </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2" name="TextBox 1">
            <a:extLst>
              <a:ext uri="{FF2B5EF4-FFF2-40B4-BE49-F238E27FC236}">
                <a16:creationId xmlns:a16="http://schemas.microsoft.com/office/drawing/2014/main" id="{DD79485C-8E5D-861C-BF82-F93A3D3B61D5}"/>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ce-Cyrl-RU" sz="1600" b="1" dirty="0"/>
              <a:t>РУССКИЙ</a:t>
            </a:r>
            <a:endParaRPr lang="nl-BE" sz="1600" dirty="0"/>
          </a:p>
        </p:txBody>
      </p:sp>
    </p:spTree>
    <p:extLst>
      <p:ext uri="{BB962C8B-B14F-4D97-AF65-F5344CB8AC3E}">
        <p14:creationId xmlns:p14="http://schemas.microsoft.com/office/powerpoint/2010/main" val="1265090629"/>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3E228-0DFB-EEF1-2338-3AD6B9EA92A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BEDB9C-78AC-CAD6-9DEC-DD7DD284558F}"/>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en-US" sz="1600" b="1" dirty="0"/>
              <a:t>ENGLISH</a:t>
            </a:r>
            <a:endParaRPr lang="nl-BE" sz="1600" dirty="0"/>
          </a:p>
        </p:txBody>
      </p:sp>
      <p:sp>
        <p:nvSpPr>
          <p:cNvPr id="9" name="TextBox 8">
            <a:extLst>
              <a:ext uri="{FF2B5EF4-FFF2-40B4-BE49-F238E27FC236}">
                <a16:creationId xmlns:a16="http://schemas.microsoft.com/office/drawing/2014/main" id="{896AE75D-6FB0-0CE2-7060-2DE8ECBECE3C}"/>
              </a:ext>
            </a:extLst>
          </p:cNvPr>
          <p:cNvSpPr txBox="1"/>
          <p:nvPr/>
        </p:nvSpPr>
        <p:spPr>
          <a:xfrm>
            <a:off x="906294" y="2035371"/>
            <a:ext cx="10379413" cy="3046988"/>
          </a:xfrm>
          <a:prstGeom prst="rect">
            <a:avLst/>
          </a:prstGeom>
          <a:noFill/>
        </p:spPr>
        <p:txBody>
          <a:bodyPr wrap="square" rtlCol="0">
            <a:spAutoFit/>
          </a:bodyPr>
          <a:lstStyle/>
          <a:p>
            <a:r>
              <a:rPr lang="en-US" sz="2400" dirty="0"/>
              <a:t>A group of people had gathered in a house. They were sitting and chatting. At that moment, the Prophet Muhammad entered. Everyone stood up to greet him. The Prophet asked them to sit down, and they all sat down. One young man remained standing. The Prophet asked him again to sit down. The young man remained standing. They hissed at him: “Sit down, we’re telling you. Does the Prophet’s word mean nothing to you?” Then the Prophet Muhammad said:</a:t>
            </a:r>
          </a:p>
          <a:p>
            <a:r>
              <a:rPr lang="en-US" sz="2400" dirty="0"/>
              <a:t>- Do not offend the young man. The nobility ingrained in his soul is stronger than my words.</a:t>
            </a:r>
            <a:endParaRPr lang="nl-BE" sz="2400" dirty="0"/>
          </a:p>
        </p:txBody>
      </p:sp>
      <p:sp>
        <p:nvSpPr>
          <p:cNvPr id="2" name="Title 1">
            <a:extLst>
              <a:ext uri="{FF2B5EF4-FFF2-40B4-BE49-F238E27FC236}">
                <a16:creationId xmlns:a16="http://schemas.microsoft.com/office/drawing/2014/main" id="{FC9D6F66-8A53-46AC-84C3-415E9E7A949F}"/>
              </a:ext>
            </a:extLst>
          </p:cNvPr>
          <p:cNvSpPr txBox="1">
            <a:spLocks noGrp="1"/>
          </p:cNvSpPr>
          <p:nvPr>
            <p:ph type="title" idx="4294967295"/>
          </p:nvPr>
        </p:nvSpPr>
        <p:spPr>
          <a:xfrm>
            <a:off x="1894114" y="1332415"/>
            <a:ext cx="7968343"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His nobility speaks louder than my words</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3912258381"/>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D386A-E652-F092-4302-9A5564B64EE6}"/>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93E2E525-A17F-4826-347D-F47A09EB0F54}"/>
              </a:ext>
            </a:extLst>
          </p:cNvPr>
          <p:cNvSpPr txBox="1"/>
          <p:nvPr/>
        </p:nvSpPr>
        <p:spPr>
          <a:xfrm>
            <a:off x="906294" y="2090006"/>
            <a:ext cx="10379413" cy="3323987"/>
          </a:xfrm>
          <a:prstGeom prst="rect">
            <a:avLst/>
          </a:prstGeom>
          <a:noFill/>
        </p:spPr>
        <p:txBody>
          <a:bodyPr wrap="square" rtlCol="0">
            <a:spAutoFit/>
          </a:bodyPr>
          <a:lstStyle/>
          <a:p>
            <a:r>
              <a:rPr lang="ru-RU" sz="2400" dirty="0"/>
              <a:t>Гулбелла нах бохкучу цӀен</a:t>
            </a:r>
            <a:r>
              <a:rPr lang="ce-Cyrl-RU" sz="2400"/>
              <a:t>на</a:t>
            </a:r>
            <a:r>
              <a:rPr lang="ru-RU" sz="2400"/>
              <a:t> </a:t>
            </a:r>
            <a:r>
              <a:rPr lang="ru-RU" sz="2400" dirty="0"/>
              <a:t>чохь Мохьмад-пайхмар (Делера салам-маршал хуьлда цунна) чуваьлча, </a:t>
            </a:r>
            <a:r>
              <a:rPr lang="ce-Cyrl-RU" sz="2400" dirty="0"/>
              <a:t>берриш</a:t>
            </a:r>
            <a:r>
              <a:rPr lang="ru-RU" sz="2400" dirty="0"/>
              <a:t> гӀеттина. Пайхамаро охьаховша а аьлла, уьш охьахевшича, цхьа жима стаг лаьтташ висна. Пайхамаро шозлагӀа а аьлла цуьнга, охьахаа. ТӀаккха а хиъна вац. Пайхамаро бохург хӀунда дац ахьа, охьахаа боху хьоьга, олуш, бехкаш даха нах болабелча, Мохьмад-пайхамаро (Делера салам-маршал хуьлда цунна) аьлла:</a:t>
            </a:r>
          </a:p>
          <a:p>
            <a:endParaRPr lang="ru-RU" sz="2400" dirty="0"/>
          </a:p>
          <a:p>
            <a:r>
              <a:rPr lang="ru-RU" sz="2400" dirty="0"/>
              <a:t>“Бехкаш ма даха цунах. Сан дашал чӀогӀах йу цуьнан сих йоллу оьздангалла”.</a:t>
            </a:r>
          </a:p>
          <a:p>
            <a:pPr algn="ctr"/>
            <a:endParaRPr lang="ru-RU" b="1" dirty="0"/>
          </a:p>
        </p:txBody>
      </p:sp>
      <p:sp>
        <p:nvSpPr>
          <p:cNvPr id="5" name="TextBox 4">
            <a:extLst>
              <a:ext uri="{FF2B5EF4-FFF2-40B4-BE49-F238E27FC236}">
                <a16:creationId xmlns:a16="http://schemas.microsoft.com/office/drawing/2014/main" id="{B62501EA-A4E5-78D0-3E04-F3E2BF5DAC77}"/>
              </a:ext>
            </a:extLst>
          </p:cNvPr>
          <p:cNvSpPr txBox="1"/>
          <p:nvPr/>
        </p:nvSpPr>
        <p:spPr>
          <a:xfrm>
            <a:off x="5108642" y="583660"/>
            <a:ext cx="1974716" cy="369332"/>
          </a:xfrm>
          <a:prstGeom prst="rect">
            <a:avLst/>
          </a:prstGeom>
          <a:solidFill>
            <a:srgbClr val="00B050"/>
          </a:solidFill>
        </p:spPr>
        <p:txBody>
          <a:bodyPr wrap="square" rtlCol="0">
            <a:spAutoFit/>
          </a:bodyPr>
          <a:lstStyle/>
          <a:p>
            <a:pPr algn="ctr"/>
            <a:r>
              <a:rPr lang="ce-Cyrl-RU" b="1" dirty="0"/>
              <a:t>НОХЧИЙН</a:t>
            </a:r>
            <a:endParaRPr lang="nl-BE" dirty="0"/>
          </a:p>
        </p:txBody>
      </p:sp>
      <p:sp>
        <p:nvSpPr>
          <p:cNvPr id="2" name="Title 1">
            <a:extLst>
              <a:ext uri="{FF2B5EF4-FFF2-40B4-BE49-F238E27FC236}">
                <a16:creationId xmlns:a16="http://schemas.microsoft.com/office/drawing/2014/main" id="{FA938F8D-88FC-1422-D03E-F577C0401877}"/>
              </a:ext>
            </a:extLst>
          </p:cNvPr>
          <p:cNvSpPr txBox="1">
            <a:spLocks noGrp="1"/>
          </p:cNvSpPr>
          <p:nvPr>
            <p:ph type="title" idx="4294967295"/>
          </p:nvPr>
        </p:nvSpPr>
        <p:spPr>
          <a:xfrm>
            <a:off x="2817223" y="1306286"/>
            <a:ext cx="6557554"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chemeClr val="tx1"/>
                </a:solidFill>
                <a:effectLst/>
                <a:uLnTx/>
                <a:uFillTx/>
                <a:latin typeface="+mn-lt"/>
                <a:ea typeface="+mn-ea"/>
                <a:cs typeface="+mn-cs"/>
              </a:rPr>
              <a:t>1. </a:t>
            </a:r>
            <a:r>
              <a:rPr kumimoji="0" lang="ru-RU" sz="2400" b="1" i="0" u="none" strike="noStrike" kern="1200" cap="none" spc="0" normalizeH="0" baseline="0" noProof="0" dirty="0">
                <a:ln>
                  <a:noFill/>
                </a:ln>
                <a:solidFill>
                  <a:schemeClr val="tx1"/>
                </a:solidFill>
                <a:effectLst/>
                <a:uLnTx/>
                <a:uFillTx/>
                <a:latin typeface="+mn-lt"/>
                <a:ea typeface="+mn-ea"/>
                <a:cs typeface="+mn-cs"/>
              </a:rPr>
              <a:t>Сан дашал ч</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ог</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ах йу цуьнан оьздангалла</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4293172063"/>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DD79A5-B4FF-B41C-F4E9-DF9BF7B6EE8E}"/>
              </a:ext>
            </a:extLst>
          </p:cNvPr>
          <p:cNvSpPr>
            <a:spLocks noGrp="1"/>
          </p:cNvSpPr>
          <p:nvPr>
            <p:ph type="title"/>
          </p:nvPr>
        </p:nvSpPr>
        <p:spPr>
          <a:xfrm>
            <a:off x="5085353" y="564374"/>
            <a:ext cx="2021294" cy="580936"/>
          </a:xfrm>
        </p:spPr>
        <p:txBody>
          <a:bodyPr>
            <a:normAutofit/>
          </a:bodyPr>
          <a:lstStyle/>
          <a:p>
            <a:r>
              <a:rPr lang="ce-Cyrl-RU" dirty="0"/>
              <a:t>Лексика</a:t>
            </a:r>
            <a:endParaRPr lang="nl-BE" dirty="0"/>
          </a:p>
        </p:txBody>
      </p:sp>
      <p:sp>
        <p:nvSpPr>
          <p:cNvPr id="3" name="TextBox 2">
            <a:extLst>
              <a:ext uri="{FF2B5EF4-FFF2-40B4-BE49-F238E27FC236}">
                <a16:creationId xmlns:a16="http://schemas.microsoft.com/office/drawing/2014/main" id="{CA79155C-CF26-7137-7DDB-1E5F0CAF8B18}"/>
              </a:ext>
            </a:extLst>
          </p:cNvPr>
          <p:cNvSpPr txBox="1"/>
          <p:nvPr/>
        </p:nvSpPr>
        <p:spPr>
          <a:xfrm>
            <a:off x="450477" y="1951979"/>
            <a:ext cx="7953936" cy="3785652"/>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Гулбенна нах багӀача цӀагӀа Мохьмад-пайхамар чуваьлча, берригаш гӀайттаб.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Ӏоха а аьнна, уж Ӏохайшача, цхьа зӀамига саг </a:t>
            </a:r>
            <a:r>
              <a:rPr kumimoji="0" lang="ru-RU" sz="2400" b="0" i="1" u="none" strike="noStrike" kern="1200" cap="none" spc="0" normalizeH="0" baseline="0" noProof="0" dirty="0">
                <a:ln>
                  <a:noFill/>
                </a:ln>
                <a:solidFill>
                  <a:prstClr val="black"/>
                </a:solidFill>
                <a:effectLst/>
                <a:uLnTx/>
                <a:uFillTx/>
                <a:ea typeface="+mn-ea"/>
                <a:cs typeface="+mn-cs"/>
              </a:rPr>
              <a:t>латт</a:t>
            </a:r>
            <a:r>
              <a:rPr kumimoji="0" lang="ce-Cyrl-RU" sz="2400" b="0" i="1" u="none" strike="noStrike" kern="1200" cap="none" spc="0" normalizeH="0" baseline="0" noProof="0" dirty="0">
                <a:ln>
                  <a:noFill/>
                </a:ln>
                <a:solidFill>
                  <a:prstClr val="black"/>
                </a:solidFill>
                <a:effectLst/>
                <a:uLnTx/>
                <a:uFillTx/>
                <a:ea typeface="+mn-ea"/>
                <a:cs typeface="+mn-cs"/>
              </a:rPr>
              <a:t>а в</a:t>
            </a:r>
            <a:r>
              <a:rPr kumimoji="0" lang="ru-RU" sz="2400" b="0" i="1" u="none" strike="noStrike" kern="1200" cap="none" spc="0" normalizeH="0" baseline="0" noProof="0" dirty="0">
                <a:ln>
                  <a:noFill/>
                </a:ln>
                <a:solidFill>
                  <a:prstClr val="black"/>
                </a:solidFill>
                <a:effectLst/>
                <a:uLnTx/>
                <a:uFillTx/>
                <a:ea typeface="+mn-ea"/>
                <a:cs typeface="+mn-cs"/>
              </a:rPr>
              <a:t>исав</a:t>
            </a:r>
            <a:r>
              <a:rPr kumimoji="0" lang="ru-RU" sz="2400" b="0" i="0" u="none" strike="noStrike" kern="1200" cap="none" spc="0" normalizeH="0" baseline="0" noProof="0" dirty="0">
                <a:ln>
                  <a:noFill/>
                </a:ln>
                <a:solidFill>
                  <a:prstClr val="black"/>
                </a:solidFill>
                <a:effectLst/>
                <a:uLnTx/>
                <a:uFillTx/>
                <a:ea typeface="+mn-ea"/>
                <a:cs typeface="+mn-cs"/>
              </a:rPr>
              <a:t>.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шозлагӀа а а</a:t>
            </a:r>
            <a:r>
              <a:rPr kumimoji="0" lang="ce-Cyrl-RU" sz="2400" b="0" i="0" u="none" strike="noStrike" kern="1200" cap="none" spc="0" normalizeH="0" baseline="0" noProof="0" dirty="0">
                <a:ln>
                  <a:noFill/>
                </a:ln>
                <a:solidFill>
                  <a:prstClr val="black"/>
                </a:solidFill>
                <a:effectLst/>
                <a:uLnTx/>
                <a:uFillTx/>
                <a:ea typeface="+mn-ea"/>
                <a:cs typeface="+mn-cs"/>
              </a:rPr>
              <a:t>ь</a:t>
            </a:r>
            <a:r>
              <a:rPr kumimoji="0" lang="ru-RU" sz="2400" b="0" i="0" u="none" strike="noStrike" kern="1200" cap="none" spc="0" normalizeH="0" baseline="0" noProof="0" dirty="0">
                <a:ln>
                  <a:noFill/>
                </a:ln>
                <a:solidFill>
                  <a:prstClr val="black"/>
                </a:solidFill>
                <a:effectLst/>
                <a:uLnTx/>
                <a:uFillTx/>
                <a:ea typeface="+mn-ea"/>
                <a:cs typeface="+mn-cs"/>
              </a:rPr>
              <a:t>ннад цунга, Ӏоха.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ТӀаккха а хайнавац.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яхар хӀана дац Ӏа, Ӏоха ях хьога, оалаш, бехкаш даха нах болабелча, Мохьмад-пайхамара аьннад:</a:t>
            </a:r>
            <a:endParaRPr lang="ce-Cyrl-RU" sz="2400" dirty="0">
              <a:solidFill>
                <a:prstClr val="black"/>
              </a:solidFill>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 Бехкаш ма даха цох. Са дешал чӀоагӀагӀа да цун сих доалла эздел.</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4" name="TextBox 3">
            <a:extLst>
              <a:ext uri="{FF2B5EF4-FFF2-40B4-BE49-F238E27FC236}">
                <a16:creationId xmlns:a16="http://schemas.microsoft.com/office/drawing/2014/main" id="{7F77DCDC-5205-92F6-7AED-35748EF0811E}"/>
              </a:ext>
            </a:extLst>
          </p:cNvPr>
          <p:cNvSpPr txBox="1"/>
          <p:nvPr/>
        </p:nvSpPr>
        <p:spPr>
          <a:xfrm>
            <a:off x="3722034" y="1317812"/>
            <a:ext cx="4747932" cy="461665"/>
          </a:xfrm>
          <a:prstGeom prst="rect">
            <a:avLst/>
          </a:prstGeom>
          <a:noFill/>
        </p:spPr>
        <p:txBody>
          <a:bodyPr wrap="square" rtlCol="0">
            <a:spAutoFit/>
          </a:bodyPr>
          <a:lstStyle/>
          <a:p>
            <a:pPr algn="ctr"/>
            <a:r>
              <a:rPr lang="ce-Cyrl-RU" sz="2400" b="1" dirty="0"/>
              <a:t>Са дешал ч1ог1аг1 да цун эздел</a:t>
            </a:r>
            <a:endParaRPr lang="nl-BE" sz="2400" b="1" dirty="0"/>
          </a:p>
        </p:txBody>
      </p:sp>
    </p:spTree>
    <p:custDataLst>
      <p:tags r:id="rId1"/>
    </p:custDataLst>
    <p:extLst>
      <p:ext uri="{BB962C8B-B14F-4D97-AF65-F5344CB8AC3E}">
        <p14:creationId xmlns:p14="http://schemas.microsoft.com/office/powerpoint/2010/main" val="2874198289"/>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5" presetClass="emph" presetSubtype="0" grpId="0" nodeType="clickEffect">
                                  <p:stCondLst>
                                    <p:cond delay="0"/>
                                  </p:stCondLst>
                                  <p:endCondLst>
                                    <p:cond evt="onNext" delay="0">
                                      <p:tgtEl>
                                        <p:sldTgt/>
                                      </p:tgtEl>
                                    </p:cond>
                                  </p:endCondLst>
                                  <p:childTnLst>
                                    <p:set>
                                      <p:cBhvr override="childStyle">
                                        <p:cTn id="6" dur="indefinite"/>
                                        <p:tgtEl>
                                          <p:spTgt spid="3">
                                            <p:txEl>
                                              <p:pRg st="0" end="0"/>
                                            </p:txEl>
                                          </p:spTgt>
                                        </p:tgtEl>
                                        <p:attrNameLst>
                                          <p:attrName>style.fontWeight</p:attrName>
                                        </p:attrNameLst>
                                      </p:cBhvr>
                                      <p:to>
                                        <p:strVal val="bold"/>
                                      </p:to>
                                    </p:set>
                                  </p:childTnLst>
                                </p:cTn>
                              </p:par>
                            </p:childTnLst>
                          </p:cTn>
                        </p:par>
                      </p:childTnLst>
                    </p:cTn>
                  </p:par>
                  <p:par>
                    <p:cTn id="7" fill="hold">
                      <p:stCondLst>
                        <p:cond delay="indefinite"/>
                      </p:stCondLst>
                      <p:childTnLst>
                        <p:par>
                          <p:cTn id="8" fill="hold">
                            <p:stCondLst>
                              <p:cond delay="0"/>
                            </p:stCondLst>
                            <p:childTnLst>
                              <p:par>
                                <p:cTn id="9" presetID="15" presetClass="emph" presetSubtype="0" grpId="0" nodeType="clickEffect">
                                  <p:stCondLst>
                                    <p:cond delay="0"/>
                                  </p:stCondLst>
                                  <p:endCondLst>
                                    <p:cond evt="onNext" delay="0">
                                      <p:tgtEl>
                                        <p:sldTgt/>
                                      </p:tgtEl>
                                    </p:cond>
                                  </p:endCondLst>
                                  <p:childTnLst>
                                    <p:set>
                                      <p:cBhvr override="childStyle">
                                        <p:cTn id="10" dur="indefinite"/>
                                        <p:tgtEl>
                                          <p:spTgt spid="3">
                                            <p:txEl>
                                              <p:pRg st="1" end="1"/>
                                            </p:txEl>
                                          </p:spTgt>
                                        </p:tgtEl>
                                        <p:attrNameLst>
                                          <p:attrName>style.fontWeight</p:attrName>
                                        </p:attrNameLst>
                                      </p:cBhvr>
                                      <p:to>
                                        <p:strVal val="bold"/>
                                      </p:to>
                                    </p:set>
                                  </p:childTnLst>
                                </p:cTn>
                              </p:par>
                            </p:childTnLst>
                          </p:cTn>
                        </p:par>
                      </p:childTnLst>
                    </p:cTn>
                  </p:par>
                  <p:par>
                    <p:cTn id="11" fill="hold">
                      <p:stCondLst>
                        <p:cond delay="indefinite"/>
                      </p:stCondLst>
                      <p:childTnLst>
                        <p:par>
                          <p:cTn id="12" fill="hold">
                            <p:stCondLst>
                              <p:cond delay="0"/>
                            </p:stCondLst>
                            <p:childTnLst>
                              <p:par>
                                <p:cTn id="13" presetID="15" presetClass="emph" presetSubtype="0" grpId="0" nodeType="clickEffect">
                                  <p:stCondLst>
                                    <p:cond delay="0"/>
                                  </p:stCondLst>
                                  <p:endCondLst>
                                    <p:cond evt="onNext" delay="0">
                                      <p:tgtEl>
                                        <p:sldTgt/>
                                      </p:tgtEl>
                                    </p:cond>
                                  </p:endCondLst>
                                  <p:childTnLst>
                                    <p:set>
                                      <p:cBhvr override="childStyle">
                                        <p:cTn id="14" dur="indefinite"/>
                                        <p:tgtEl>
                                          <p:spTgt spid="3">
                                            <p:txEl>
                                              <p:pRg st="2" end="2"/>
                                            </p:txEl>
                                          </p:spTgt>
                                        </p:tgtEl>
                                        <p:attrNameLst>
                                          <p:attrName>style.fontWeight</p:attrName>
                                        </p:attrNameLst>
                                      </p:cBhvr>
                                      <p:to>
                                        <p:strVal val="bold"/>
                                      </p:to>
                                    </p:set>
                                  </p:childTnLst>
                                </p:cTn>
                              </p:par>
                            </p:childTnLst>
                          </p:cTn>
                        </p:par>
                      </p:childTnLst>
                    </p:cTn>
                  </p:par>
                  <p:par>
                    <p:cTn id="15" fill="hold">
                      <p:stCondLst>
                        <p:cond delay="indefinite"/>
                      </p:stCondLst>
                      <p:childTnLst>
                        <p:par>
                          <p:cTn id="16" fill="hold">
                            <p:stCondLst>
                              <p:cond delay="0"/>
                            </p:stCondLst>
                            <p:childTnLst>
                              <p:par>
                                <p:cTn id="17" presetID="15" presetClass="emph" presetSubtype="0" grpId="0" nodeType="clickEffect">
                                  <p:stCondLst>
                                    <p:cond delay="0"/>
                                  </p:stCondLst>
                                  <p:endCondLst>
                                    <p:cond evt="onNext" delay="0">
                                      <p:tgtEl>
                                        <p:sldTgt/>
                                      </p:tgtEl>
                                    </p:cond>
                                  </p:endCondLst>
                                  <p:childTnLst>
                                    <p:set>
                                      <p:cBhvr override="childStyle">
                                        <p:cTn id="18" dur="indefinite"/>
                                        <p:tgtEl>
                                          <p:spTgt spid="3">
                                            <p:txEl>
                                              <p:pRg st="3" end="3"/>
                                            </p:txEl>
                                          </p:spTgt>
                                        </p:tgtEl>
                                        <p:attrNameLst>
                                          <p:attrName>style.fontWeight</p:attrName>
                                        </p:attrNameLst>
                                      </p:cBhvr>
                                      <p:to>
                                        <p:strVal val="bold"/>
                                      </p:to>
                                    </p:set>
                                  </p:childTnLst>
                                </p:cTn>
                              </p:par>
                            </p:childTnLst>
                          </p:cTn>
                        </p:par>
                      </p:childTnLst>
                    </p:cTn>
                  </p:par>
                  <p:par>
                    <p:cTn id="19" fill="hold">
                      <p:stCondLst>
                        <p:cond delay="indefinite"/>
                      </p:stCondLst>
                      <p:childTnLst>
                        <p:par>
                          <p:cTn id="20" fill="hold">
                            <p:stCondLst>
                              <p:cond delay="0"/>
                            </p:stCondLst>
                            <p:childTnLst>
                              <p:par>
                                <p:cTn id="21" presetID="15" presetClass="emph" presetSubtype="0" grpId="0" nodeType="clickEffect">
                                  <p:stCondLst>
                                    <p:cond delay="0"/>
                                  </p:stCondLst>
                                  <p:endCondLst>
                                    <p:cond evt="onNext" delay="0">
                                      <p:tgtEl>
                                        <p:sldTgt/>
                                      </p:tgtEl>
                                    </p:cond>
                                  </p:endCondLst>
                                  <p:childTnLst>
                                    <p:set>
                                      <p:cBhvr override="childStyle">
                                        <p:cTn id="22" dur="indefinite"/>
                                        <p:tgtEl>
                                          <p:spTgt spid="3">
                                            <p:txEl>
                                              <p:pRg st="4" end="4"/>
                                            </p:txEl>
                                          </p:spTgt>
                                        </p:tgtEl>
                                        <p:attrNameLst>
                                          <p:attrName>style.fontWeight</p:attrName>
                                        </p:attrNameLst>
                                      </p:cBhvr>
                                      <p:to>
                                        <p:strVal val="bold"/>
                                      </p:to>
                                    </p:set>
                                  </p:childTnLst>
                                </p:cTn>
                              </p:par>
                            </p:childTnLst>
                          </p:cTn>
                        </p:par>
                      </p:childTnLst>
                    </p:cTn>
                  </p:par>
                  <p:par>
                    <p:cTn id="23" fill="hold">
                      <p:stCondLst>
                        <p:cond delay="indefinite"/>
                      </p:stCondLst>
                      <p:childTnLst>
                        <p:par>
                          <p:cTn id="24" fill="hold">
                            <p:stCondLst>
                              <p:cond delay="0"/>
                            </p:stCondLst>
                            <p:childTnLst>
                              <p:par>
                                <p:cTn id="25" presetID="15" presetClass="emph" presetSubtype="0" grpId="0" nodeType="clickEffect">
                                  <p:stCondLst>
                                    <p:cond delay="0"/>
                                  </p:stCondLst>
                                  <p:endCondLst>
                                    <p:cond evt="onNext" delay="0">
                                      <p:tgtEl>
                                        <p:sldTgt/>
                                      </p:tgtEl>
                                    </p:cond>
                                  </p:endCondLst>
                                  <p:childTnLst>
                                    <p:set>
                                      <p:cBhvr override="childStyle">
                                        <p:cTn id="26" dur="indefinite"/>
                                        <p:tgtEl>
                                          <p:spTgt spid="3">
                                            <p:txEl>
                                              <p:pRg st="5" end="5"/>
                                            </p:txEl>
                                          </p:spTgt>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1C3D7-8F43-C664-6847-4DA52E5AA5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8987B4-C964-B0CD-00E2-2CCAC2768F8D}"/>
              </a:ext>
            </a:extLst>
          </p:cNvPr>
          <p:cNvSpPr>
            <a:spLocks noGrp="1"/>
          </p:cNvSpPr>
          <p:nvPr>
            <p:ph type="title"/>
          </p:nvPr>
        </p:nvSpPr>
        <p:spPr>
          <a:xfrm>
            <a:off x="2283204" y="221474"/>
            <a:ext cx="7625592" cy="489726"/>
          </a:xfrm>
        </p:spPr>
        <p:txBody>
          <a:bodyPr>
            <a:normAutofit fontScale="90000"/>
          </a:bodyPr>
          <a:lstStyle/>
          <a:p>
            <a:r>
              <a:rPr lang="ru-RU" dirty="0"/>
              <a:t>Г</a:t>
            </a:r>
            <a:r>
              <a:rPr lang="ce-Cyrl-RU" dirty="0"/>
              <a:t>рамматика : АЛФАВИТ и произношение</a:t>
            </a:r>
            <a:endParaRPr lang="nl-BE" dirty="0"/>
          </a:p>
        </p:txBody>
      </p:sp>
      <p:sp>
        <p:nvSpPr>
          <p:cNvPr id="9" name="TextBox 8">
            <a:extLst>
              <a:ext uri="{FF2B5EF4-FFF2-40B4-BE49-F238E27FC236}">
                <a16:creationId xmlns:a16="http://schemas.microsoft.com/office/drawing/2014/main" id="{1923BAD7-7A9D-C3E8-1310-252346763A0D}"/>
              </a:ext>
            </a:extLst>
          </p:cNvPr>
          <p:cNvSpPr txBox="1"/>
          <p:nvPr/>
        </p:nvSpPr>
        <p:spPr>
          <a:xfrm>
            <a:off x="323851" y="895350"/>
            <a:ext cx="8928100" cy="5355312"/>
          </a:xfrm>
          <a:prstGeom prst="rect">
            <a:avLst/>
          </a:prstGeom>
          <a:noFill/>
        </p:spPr>
        <p:txBody>
          <a:bodyPr wrap="square" rtlCol="0">
            <a:spAutoFit/>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Всего 46 букв. 13 букв, которых нет в русском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гласные</a:t>
            </a:r>
            <a:r>
              <a:rPr kumimoji="0" lang="ce-Cyrl-RU" sz="1800" b="0" i="0" u="none" strike="noStrike" kern="1200" cap="none" spc="0" normalizeH="0" noProof="0" dirty="0">
                <a:ln>
                  <a:noFill/>
                </a:ln>
                <a:solidFill>
                  <a:prstClr val="black"/>
                </a:solidFill>
                <a:effectLst/>
                <a:uLnTx/>
                <a:uFillTx/>
                <a:ea typeface="+mn-ea"/>
                <a:cs typeface="+mn-cs"/>
              </a:rPr>
              <a:t> 		</a:t>
            </a:r>
            <a:r>
              <a:rPr kumimoji="0" lang="ce-Cyrl-RU" sz="1800" b="0" i="1" u="none" strike="noStrike" kern="1200" cap="none" spc="0" normalizeH="0" baseline="0" noProof="0" dirty="0">
                <a:ln>
                  <a:noFill/>
                </a:ln>
                <a:solidFill>
                  <a:prstClr val="black"/>
                </a:solidFill>
                <a:effectLst/>
                <a:uLnTx/>
                <a:uFillTx/>
                <a:ea typeface="+mn-ea"/>
                <a:cs typeface="+mn-cs"/>
              </a:rPr>
              <a:t>аь,  яь;</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согласные 		</a:t>
            </a:r>
            <a:r>
              <a:rPr kumimoji="0" lang="ce-Cyrl-RU" sz="1800" b="0" i="1" u="none" strike="noStrike" kern="1200" cap="none" spc="0" normalizeH="0" baseline="0" noProof="0" dirty="0">
                <a:ln>
                  <a:noFill/>
                </a:ln>
                <a:solidFill>
                  <a:prstClr val="black"/>
                </a:solidFill>
                <a:effectLst/>
                <a:uLnTx/>
                <a:uFillTx/>
                <a:ea typeface="+mn-ea"/>
                <a:cs typeface="+mn-cs"/>
              </a:rPr>
              <a:t>г1, кх, къ, к1, п1, т1, хь, х1, ц1,  ч1, 1;</a:t>
            </a:r>
          </a:p>
          <a:p>
            <a:pPr marL="285750" indent="-285750">
              <a:buFont typeface="Arial" panose="020B0604020202020204" pitchFamily="34" charset="0"/>
              <a:buChar char="•"/>
              <a:defRPr/>
            </a:pPr>
            <a:r>
              <a:rPr lang="ce-Cyrl-RU" dirty="0">
                <a:solidFill>
                  <a:prstClr val="black"/>
                </a:solidFill>
              </a:rPr>
              <a:t>Буква </a:t>
            </a:r>
            <a:r>
              <a:rPr lang="ru-RU" b="1" dirty="0">
                <a:solidFill>
                  <a:prstClr val="black"/>
                </a:solidFill>
              </a:rPr>
              <a:t>Ӏ</a:t>
            </a:r>
            <a:r>
              <a:rPr lang="ce-Cyrl-RU" dirty="0">
                <a:solidFill>
                  <a:prstClr val="black"/>
                </a:solidFill>
              </a:rPr>
              <a:t> (кирилл. палочка) - на практике ее заменяют латинской </a:t>
            </a:r>
            <a:r>
              <a:rPr lang="en-US" b="1" dirty="0">
                <a:solidFill>
                  <a:prstClr val="black"/>
                </a:solidFill>
              </a:rPr>
              <a:t>I</a:t>
            </a:r>
            <a:r>
              <a:rPr lang="en-US" dirty="0">
                <a:solidFill>
                  <a:prstClr val="black"/>
                </a:solidFill>
              </a:rPr>
              <a:t> </a:t>
            </a:r>
            <a:r>
              <a:rPr lang="ce-Cyrl-RU" dirty="0">
                <a:solidFill>
                  <a:prstClr val="black"/>
                </a:solidFill>
              </a:rPr>
              <a:t>или цифрой </a:t>
            </a:r>
            <a:r>
              <a:rPr lang="ce-Cyrl-RU" b="1" dirty="0">
                <a:solidFill>
                  <a:prstClr val="black"/>
                </a:solidFill>
                <a:latin typeface="Times New Roman" panose="02020603050405020304" pitchFamily="18" charset="0"/>
              </a:rPr>
              <a:t>1</a:t>
            </a:r>
            <a:r>
              <a:rPr lang="ce-Cyrl-RU" dirty="0">
                <a:solidFill>
                  <a:prstClr val="black"/>
                </a:solidFill>
              </a:rPr>
              <a:t>.</a:t>
            </a:r>
            <a:br>
              <a:rPr lang="ce-Cyrl-RU" dirty="0">
                <a:solidFill>
                  <a:prstClr val="black"/>
                </a:solidFill>
              </a:rPr>
            </a:br>
            <a:r>
              <a:rPr lang="ce-Cyrl-RU" dirty="0">
                <a:solidFill>
                  <a:prstClr val="black"/>
                </a:solidFill>
              </a:rPr>
              <a:t>другой вариант – использовать шрифт </a:t>
            </a:r>
            <a:r>
              <a:rPr lang="en-US" dirty="0">
                <a:solidFill>
                  <a:prstClr val="black"/>
                </a:solidFill>
              </a:rPr>
              <a:t>Gill Sans</a:t>
            </a:r>
            <a:r>
              <a:rPr lang="ce-Cyrl-RU" dirty="0">
                <a:solidFill>
                  <a:prstClr val="black"/>
                </a:solidFill>
              </a:rPr>
              <a:t>, в котором </a:t>
            </a:r>
            <a:r>
              <a:rPr lang="ce-Cyrl-RU" b="1" dirty="0">
                <a:solidFill>
                  <a:prstClr val="black"/>
                </a:solidFill>
                <a:latin typeface="Times New Roman" panose="02020603050405020304" pitchFamily="18" charset="0"/>
              </a:rPr>
              <a:t>1</a:t>
            </a:r>
            <a:r>
              <a:rPr lang="en-US" b="1" dirty="0">
                <a:solidFill>
                  <a:prstClr val="black"/>
                </a:solidFill>
                <a:latin typeface="Times New Roman" panose="02020603050405020304" pitchFamily="18" charset="0"/>
              </a:rPr>
              <a:t> </a:t>
            </a:r>
            <a:r>
              <a:rPr lang="ce-Cyrl-RU" dirty="0">
                <a:solidFill>
                  <a:prstClr val="black"/>
                </a:solidFill>
              </a:rPr>
              <a:t>похожа на </a:t>
            </a:r>
            <a:r>
              <a:rPr lang="en-US" b="1" dirty="0">
                <a:solidFill>
                  <a:prstClr val="black"/>
                </a:solidFill>
              </a:rPr>
              <a:t>I (</a:t>
            </a:r>
            <a:r>
              <a:rPr lang="en-US" b="1" dirty="0">
                <a:solidFill>
                  <a:prstClr val="black"/>
                </a:solidFill>
                <a:latin typeface="Gill Sans MT" panose="020B0502020104020203" pitchFamily="34" charset="0"/>
              </a:rPr>
              <a:t>1 - </a:t>
            </a:r>
            <a:r>
              <a:rPr lang="en-US" b="1" dirty="0">
                <a:solidFill>
                  <a:prstClr val="black"/>
                </a:solidFill>
              </a:rPr>
              <a:t>I)</a:t>
            </a:r>
            <a:endParaRPr kumimoji="0" lang="en-US" sz="1800" b="1" i="1" u="none" strike="noStrike" kern="1200" cap="none" spc="0" normalizeH="0" baseline="0" noProof="0" dirty="0">
              <a:ln>
                <a:noFill/>
              </a:ln>
              <a:solidFill>
                <a:prstClr val="black"/>
              </a:solidFill>
              <a:effectLst/>
              <a:uLnTx/>
              <a:uFillTx/>
              <a:latin typeface="Gill Sans MT" panose="020B0502020104020203"/>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Отсутствуют гласные </a:t>
            </a:r>
            <a:r>
              <a:rPr kumimoji="0" lang="ce-Cyrl-RU" sz="1800" b="0" i="1" u="none" strike="noStrike" kern="1200" cap="none" spc="0" normalizeH="0" baseline="0" noProof="0" dirty="0">
                <a:ln>
                  <a:noFill/>
                </a:ln>
                <a:solidFill>
                  <a:prstClr val="black"/>
                </a:solidFill>
                <a:effectLst/>
                <a:uLnTx/>
                <a:uFillTx/>
                <a:ea typeface="+mn-ea"/>
                <a:cs typeface="+mn-cs"/>
              </a:rPr>
              <a:t>оь, уь, юь, </a:t>
            </a:r>
            <a:r>
              <a:rPr kumimoji="0" lang="ce-Cyrl-RU" sz="1800" b="0" i="0" u="none" strike="noStrike" kern="1200" cap="none" spc="0" normalizeH="0" baseline="0" noProof="0" dirty="0">
                <a:ln>
                  <a:noFill/>
                </a:ln>
                <a:solidFill>
                  <a:prstClr val="black"/>
                </a:solidFill>
                <a:effectLst/>
                <a:uLnTx/>
                <a:uFillTx/>
                <a:ea typeface="+mn-ea"/>
                <a:cs typeface="+mn-cs"/>
              </a:rPr>
              <a:t>которые есть в чеченском;</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Часто встречается дифтонг </a:t>
            </a:r>
            <a:r>
              <a:rPr kumimoji="0" lang="ce-Cyrl-RU" sz="1800" b="0" i="1" u="none" strike="noStrike" kern="1200" cap="none" spc="0" normalizeH="0" baseline="0" noProof="0" dirty="0">
                <a:ln>
                  <a:noFill/>
                </a:ln>
                <a:solidFill>
                  <a:prstClr val="black"/>
                </a:solidFill>
                <a:effectLst/>
                <a:uLnTx/>
                <a:uFillTx/>
                <a:ea typeface="+mn-ea"/>
                <a:cs typeface="+mn-cs"/>
              </a:rPr>
              <a:t>оа</a:t>
            </a:r>
            <a:r>
              <a:rPr kumimoji="0" lang="ce-Cyrl-RU" sz="1800" b="0" i="0" u="none" strike="noStrike" kern="1200" cap="none" spc="0" normalizeH="0" baseline="0" noProof="0" dirty="0">
                <a:ln>
                  <a:noFill/>
                </a:ln>
                <a:solidFill>
                  <a:prstClr val="black"/>
                </a:solidFill>
                <a:effectLst/>
                <a:uLnTx/>
                <a:uFillTx/>
                <a:ea typeface="+mn-ea"/>
                <a:cs typeface="+mn-cs"/>
              </a:rPr>
              <a:t>, которого нет в чеченском: к1оаг – к1аг, лоам – лам.  </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Ф – встречается чаще, чем в чеченском: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фу (что), фусам (жилье), фийг (зернышко), фоарт (затылок)</a:t>
            </a:r>
            <a:endParaRPr kumimoji="0" lang="en-US"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a:p>
            <a:pPr marL="285750" lvl="0" indent="-285750">
              <a:buFont typeface="Arial" panose="020B0604020202020204" pitchFamily="34" charset="0"/>
              <a:buChar char="•"/>
              <a:defRPr/>
            </a:pPr>
            <a:r>
              <a:rPr kumimoji="0" lang="ce-Cyrl-RU" sz="1800" b="0" i="0" u="none" strike="noStrike" kern="1200" cap="none" spc="0" normalizeH="0" baseline="0" noProof="0" dirty="0">
                <a:ln>
                  <a:noFill/>
                </a:ln>
                <a:solidFill>
                  <a:prstClr val="black"/>
                </a:solidFill>
                <a:effectLst/>
                <a:uLnTx/>
                <a:uFillTx/>
                <a:ea typeface="+mn-ea"/>
                <a:cs typeface="+mn-cs"/>
              </a:rPr>
              <a:t>Буква Х1 встречается реже, чем в чеченском : </a:t>
            </a:r>
            <a:r>
              <a:rPr lang="ce-Cyrl-RU" dirty="0">
                <a:solidFill>
                  <a:prstClr val="black"/>
                </a:solidFill>
              </a:rPr>
              <a:t>уотта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х1отта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йара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х1ара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фуъ – </a:t>
            </a:r>
            <a:r>
              <a:rPr kumimoji="0" lang="ce-Cyrl-RU" sz="1800" b="0" i="0" u="none" strike="noStrike" kern="1200" cap="none" spc="0" normalizeH="0" baseline="0" noProof="0" dirty="0">
                <a:ln>
                  <a:noFill/>
                </a:ln>
                <a:solidFill>
                  <a:prstClr val="black"/>
                </a:solidFill>
                <a:effectLst/>
                <a:uLnTx/>
                <a:uFillTx/>
                <a:ea typeface="+mn-ea"/>
                <a:cs typeface="+mn-cs"/>
              </a:rPr>
              <a:t>х1оа</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И часто произносится как Ы : из – “ыз”, ц1илеторг – “ц1ылеторг”</a:t>
            </a:r>
          </a:p>
          <a:p>
            <a:pPr marL="285750" lvl="0" indent="-285750">
              <a:buFont typeface="Arial" panose="020B0604020202020204" pitchFamily="34" charset="0"/>
              <a:buChar char="•"/>
              <a:defRPr/>
            </a:pPr>
            <a:r>
              <a:rPr kumimoji="0" lang="ce-Cyrl-RU" sz="1800" b="0" i="0" u="none" strike="noStrike" kern="1200" cap="none" spc="0" normalizeH="0" baseline="0" noProof="0" dirty="0">
                <a:ln>
                  <a:noFill/>
                </a:ln>
                <a:solidFill>
                  <a:prstClr val="black"/>
                </a:solidFill>
                <a:effectLst/>
                <a:uLnTx/>
                <a:uFillTx/>
                <a:ea typeface="+mn-ea"/>
                <a:cs typeface="+mn-cs"/>
              </a:rPr>
              <a:t>Звук Е практически</a:t>
            </a:r>
            <a:r>
              <a:rPr kumimoji="0" lang="ce-Cyrl-RU" sz="1800" b="0" i="0" u="none" strike="noStrike" kern="1200" cap="none" spc="0" normalizeH="0" noProof="0" dirty="0">
                <a:ln>
                  <a:noFill/>
                </a:ln>
                <a:solidFill>
                  <a:prstClr val="black"/>
                </a:solidFill>
                <a:effectLst/>
                <a:uLnTx/>
                <a:uFillTx/>
                <a:ea typeface="+mn-ea"/>
                <a:cs typeface="+mn-cs"/>
              </a:rPr>
              <a:t> отсутствует, </a:t>
            </a:r>
            <a:r>
              <a:rPr lang="ce-Cyrl-RU" dirty="0">
                <a:solidFill>
                  <a:prstClr val="black"/>
                </a:solidFill>
              </a:rPr>
              <a:t>там, где есть буква Е, она </a:t>
            </a:r>
            <a:r>
              <a:rPr kumimoji="0" lang="ce-Cyrl-RU" sz="1800" b="0" i="0" u="none" strike="noStrike" kern="1200" cap="none" spc="0" normalizeH="0" baseline="0" noProof="0" dirty="0">
                <a:ln>
                  <a:noFill/>
                </a:ln>
                <a:solidFill>
                  <a:prstClr val="black"/>
                </a:solidFill>
                <a:effectLst/>
                <a:uLnTx/>
                <a:uFillTx/>
                <a:ea typeface="+mn-ea"/>
                <a:cs typeface="+mn-cs"/>
              </a:rPr>
              <a:t>произносится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краткое э – эзар, дей (легкий);</a:t>
            </a:r>
            <a:r>
              <a:rPr kumimoji="0" lang="ce-Cyrl-RU" sz="1800" b="0" i="0" u="none" strike="noStrike" kern="1200" cap="none" spc="0" normalizeH="0" noProof="0" dirty="0">
                <a:ln>
                  <a:noFill/>
                </a:ln>
                <a:solidFill>
                  <a:prstClr val="black"/>
                </a:solidFill>
                <a:effectLst/>
                <a:uLnTx/>
                <a:uFillTx/>
                <a:ea typeface="+mn-ea"/>
                <a:cs typeface="+mn-cs"/>
              </a:rPr>
              <a:t> </a:t>
            </a:r>
            <a:br>
              <a:rPr kumimoji="0" lang="ce-Cyrl-RU" sz="1800" b="0" i="0" u="none" strike="noStrike" kern="1200" cap="none" spc="0" normalizeH="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дифтонг </a:t>
            </a:r>
            <a:r>
              <a:rPr kumimoji="0" lang="ce-Cyrl-RU" sz="1800" b="0" i="1" u="none" strike="noStrike" kern="1200" cap="none" spc="0" normalizeH="0" baseline="0" noProof="0" dirty="0">
                <a:ln>
                  <a:noFill/>
                </a:ln>
                <a:solidFill>
                  <a:prstClr val="black"/>
                </a:solidFill>
                <a:effectLst/>
                <a:uLnTx/>
                <a:uFillTx/>
                <a:ea typeface="+mn-ea"/>
                <a:cs typeface="+mn-cs"/>
              </a:rPr>
              <a:t>иэ</a:t>
            </a:r>
            <a:r>
              <a:rPr kumimoji="0" lang="ce-Cyrl-RU" sz="1800" b="0" i="0" u="none" strike="noStrike" kern="1200" cap="none" spc="0" normalizeH="0" baseline="0" noProof="0" dirty="0">
                <a:ln>
                  <a:noFill/>
                </a:ln>
                <a:solidFill>
                  <a:prstClr val="black"/>
                </a:solidFill>
                <a:effectLst/>
                <a:uLnTx/>
                <a:uFillTx/>
                <a:ea typeface="+mn-ea"/>
                <a:cs typeface="+mn-cs"/>
              </a:rPr>
              <a:t> – безам, </a:t>
            </a:r>
            <a:r>
              <a:rPr kumimoji="0" lang="ce-Cyrl-RU" sz="1800" b="0" i="1" u="none" strike="noStrike" kern="1200" cap="none" spc="0" normalizeH="0" baseline="0" noProof="0" dirty="0">
                <a:ln>
                  <a:noFill/>
                </a:ln>
                <a:solidFill>
                  <a:prstClr val="black"/>
                </a:solidFill>
                <a:effectLst/>
                <a:uLnTx/>
                <a:uFillTx/>
                <a:ea typeface="+mn-ea"/>
                <a:cs typeface="+mn-cs"/>
              </a:rPr>
              <a:t>де</a:t>
            </a:r>
            <a:r>
              <a:rPr kumimoji="0" lang="ce-Cyrl-RU" sz="1800" b="0" i="0" u="none" strike="noStrike" kern="1200" cap="none" spc="0" normalizeH="0" baseline="0" noProof="0" dirty="0">
                <a:ln>
                  <a:noFill/>
                </a:ln>
                <a:solidFill>
                  <a:prstClr val="black"/>
                </a:solidFill>
                <a:effectLst/>
                <a:uLnTx/>
                <a:uFillTx/>
                <a:ea typeface="+mn-ea"/>
                <a:cs typeface="+mn-cs"/>
              </a:rPr>
              <a:t> (делай), </a:t>
            </a:r>
            <a:r>
              <a:rPr kumimoji="0" lang="ce-Cyrl-RU" sz="1800" b="0" i="1" u="none" strike="noStrike" kern="1200" cap="none" spc="0" normalizeH="0" baseline="0" noProof="0" dirty="0">
                <a:ln>
                  <a:noFill/>
                </a:ln>
                <a:solidFill>
                  <a:prstClr val="black"/>
                </a:solidFill>
                <a:effectLst/>
                <a:uLnTx/>
                <a:uFillTx/>
                <a:ea typeface="+mn-ea"/>
                <a:cs typeface="+mn-cs"/>
              </a:rPr>
              <a:t>берх1а</a:t>
            </a:r>
            <a:r>
              <a:rPr kumimoji="0" lang="ce-Cyrl-RU" sz="1800" b="0" i="0" u="none" strike="noStrike" kern="1200" cap="none" spc="0" normalizeH="0" baseline="0" noProof="0" dirty="0">
                <a:ln>
                  <a:noFill/>
                </a:ln>
                <a:solidFill>
                  <a:prstClr val="black"/>
                </a:solidFill>
                <a:effectLst/>
                <a:uLnTx/>
                <a:uFillTx/>
                <a:ea typeface="+mn-ea"/>
                <a:cs typeface="+mn-cs"/>
              </a:rPr>
              <a:t> (соус). (как “е” в слове </a:t>
            </a:r>
            <a:r>
              <a:rPr kumimoji="0" lang="ce-Cyrl-RU" sz="1800" b="0" i="1" u="none" strike="noStrike" kern="1200" cap="none" spc="0" normalizeH="0" baseline="0" noProof="0" dirty="0">
                <a:ln>
                  <a:noFill/>
                </a:ln>
                <a:solidFill>
                  <a:prstClr val="black"/>
                </a:solidFill>
                <a:effectLst/>
                <a:uLnTx/>
                <a:uFillTx/>
                <a:ea typeface="+mn-ea"/>
                <a:cs typeface="+mn-cs"/>
              </a:rPr>
              <a:t>белый)</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Ср.  инг. </a:t>
            </a:r>
            <a:r>
              <a:rPr lang="ce-Cyrl-RU" dirty="0">
                <a:solidFill>
                  <a:prstClr val="black"/>
                </a:solidFill>
              </a:rPr>
              <a:t>“Даьла раьза хилда” и чеч.  </a:t>
            </a:r>
            <a:r>
              <a:rPr kumimoji="0" lang="ce-Cyrl-RU" sz="1800" b="0" i="0" u="none" strike="noStrike" kern="1200" cap="none" spc="0" normalizeH="0" noProof="0" dirty="0">
                <a:ln>
                  <a:noFill/>
                </a:ln>
                <a:solidFill>
                  <a:prstClr val="black"/>
                </a:solidFill>
                <a:effectLst/>
                <a:uLnTx/>
                <a:uFillTx/>
                <a:ea typeface="+mn-ea"/>
                <a:cs typeface="+mn-cs"/>
              </a:rPr>
              <a:t>“Дела реза хуьлда”</a:t>
            </a:r>
            <a:endParaRPr kumimoji="0" lang="ce-Cyrl-RU" sz="1800" b="0" i="0" u="none" strike="noStrike" kern="1200" cap="none" spc="0" normalizeH="0" baseline="0" noProof="0" dirty="0">
              <a:ln>
                <a:noFill/>
              </a:ln>
              <a:solidFill>
                <a:prstClr val="black"/>
              </a:solidFill>
              <a:effectLst/>
              <a:uLnTx/>
              <a:uFillTx/>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1" u="none" strike="noStrike" kern="1200" cap="none" spc="0" normalizeH="0" baseline="0" noProof="0" dirty="0">
                <a:ln>
                  <a:noFill/>
                </a:ln>
                <a:solidFill>
                  <a:prstClr val="black"/>
                </a:solidFill>
                <a:effectLst/>
                <a:uLnTx/>
                <a:uFillTx/>
                <a:ea typeface="+mn-ea"/>
                <a:cs typeface="+mn-cs"/>
              </a:rPr>
              <a:t>Лг, рг, шк, кк, г, к </a:t>
            </a:r>
            <a:r>
              <a:rPr kumimoji="0" lang="ce-Cyrl-RU" sz="1800" b="0" i="0" u="none" strike="noStrike" kern="1200" cap="none" spc="0" normalizeH="0" baseline="0" noProof="0" dirty="0">
                <a:ln>
                  <a:noFill/>
                </a:ln>
                <a:solidFill>
                  <a:prstClr val="black"/>
                </a:solidFill>
                <a:effectLst/>
                <a:uLnTx/>
                <a:uFillTx/>
                <a:ea typeface="+mn-ea"/>
                <a:cs typeface="+mn-cs"/>
              </a:rPr>
              <a:t>на конце слов произносятся мягко, как </a:t>
            </a:r>
            <a:r>
              <a:rPr kumimoji="0" lang="ce-Cyrl-RU" sz="1800" b="0" i="1" u="none" strike="noStrike" kern="1200" cap="none" spc="0" normalizeH="0" baseline="0" noProof="0" dirty="0">
                <a:ln>
                  <a:noFill/>
                </a:ln>
                <a:solidFill>
                  <a:prstClr val="black"/>
                </a:solidFill>
                <a:effectLst/>
                <a:uLnTx/>
                <a:uFillTx/>
                <a:ea typeface="+mn-ea"/>
                <a:cs typeface="+mn-cs"/>
              </a:rPr>
              <a:t>льгь, рьгь, шькь, ськь, ккь</a:t>
            </a:r>
            <a:br>
              <a:rPr kumimoji="0" lang="ce-Cyrl-RU" sz="1800" b="0" i="1" u="none" strike="noStrike" kern="1200" cap="none" spc="0" normalizeH="0" baseline="0" noProof="0" dirty="0">
                <a:ln>
                  <a:noFill/>
                </a:ln>
                <a:solidFill>
                  <a:prstClr val="black"/>
                </a:solidFill>
                <a:effectLst/>
                <a:uLnTx/>
                <a:uFillTx/>
                <a:ea typeface="+mn-ea"/>
                <a:cs typeface="+mn-cs"/>
              </a:rPr>
            </a:br>
            <a:r>
              <a:rPr kumimoji="0" lang="ce-Cyrl-RU" sz="1800" b="0" i="1" u="none" strike="noStrike" kern="1200" cap="none" spc="0" normalizeH="0" baseline="0" noProof="0" dirty="0">
                <a:ln>
                  <a:noFill/>
                </a:ln>
                <a:solidFill>
                  <a:prstClr val="black"/>
                </a:solidFill>
                <a:effectLst/>
                <a:uLnTx/>
                <a:uFillTx/>
                <a:ea typeface="+mn-ea"/>
                <a:cs typeface="+mn-cs"/>
              </a:rPr>
              <a:t>(кулг, лерг, пешк, циск, икк, гииг)</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Буквы “ж” и “з” обычно произносятся как “дж” и “дз” – модж, хьадж, модз, гердз.</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Буквы </a:t>
            </a:r>
            <a:r>
              <a:rPr lang="ce-Cyrl-RU" dirty="0">
                <a:solidFill>
                  <a:prstClr val="black"/>
                </a:solidFill>
              </a:rPr>
              <a:t>“с”,</a:t>
            </a:r>
            <a:r>
              <a:rPr kumimoji="0" lang="ce-Cyrl-RU" sz="1800" b="0" i="0" u="none" strike="noStrike" kern="1200" cap="none" spc="0" normalizeH="0" baseline="0" noProof="0" dirty="0">
                <a:ln>
                  <a:noFill/>
                </a:ln>
                <a:solidFill>
                  <a:prstClr val="black"/>
                </a:solidFill>
                <a:effectLst/>
                <a:uLnTx/>
                <a:uFillTx/>
                <a:ea typeface="+mn-ea"/>
                <a:cs typeface="+mn-cs"/>
              </a:rPr>
              <a:t>“ш”,”х” в приставках</a:t>
            </a:r>
            <a:r>
              <a:rPr kumimoji="0" lang="ce-Cyrl-RU" sz="1800" b="0" i="0" u="none" strike="noStrike" kern="1200" cap="none" spc="0" normalizeH="0" noProof="0" dirty="0">
                <a:ln>
                  <a:noFill/>
                </a:ln>
                <a:solidFill>
                  <a:prstClr val="black"/>
                </a:solidFill>
                <a:effectLst/>
                <a:uLnTx/>
                <a:uFillTx/>
                <a:ea typeface="+mn-ea"/>
                <a:cs typeface="+mn-cs"/>
              </a:rPr>
              <a:t> </a:t>
            </a:r>
            <a:r>
              <a:rPr kumimoji="0" lang="ce-Cyrl-RU" sz="1800" b="0" i="0" u="none" strike="noStrike" kern="1200" cap="none" spc="0" normalizeH="0" baseline="0" noProof="0" dirty="0">
                <a:ln>
                  <a:noFill/>
                </a:ln>
                <a:solidFill>
                  <a:prstClr val="black"/>
                </a:solidFill>
                <a:effectLst/>
                <a:uLnTx/>
                <a:uFillTx/>
                <a:ea typeface="+mn-ea"/>
                <a:cs typeface="+mn-cs"/>
              </a:rPr>
              <a:t>на конце обычно произносится звонко, как “з”,“ж”,”г1”</a:t>
            </a:r>
            <a:endParaRPr kumimoji="0" lang="nl-BE"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Tree>
    <p:custDataLst>
      <p:tags r:id="rId1"/>
    </p:custDataLst>
    <p:extLst>
      <p:ext uri="{BB962C8B-B14F-4D97-AF65-F5344CB8AC3E}">
        <p14:creationId xmlns:p14="http://schemas.microsoft.com/office/powerpoint/2010/main" val="1643179694"/>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tags/tag1.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ags/tag2.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Gallery</Template>
  <TotalTime>0</TotalTime>
  <Words>2805</Words>
  <Application>Microsoft Office PowerPoint</Application>
  <PresentationFormat>Widescreen</PresentationFormat>
  <Paragraphs>77</Paragraphs>
  <Slides>10</Slides>
  <Notes>4</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Alasassy Caps</vt:lpstr>
      <vt:lpstr>Aptos</vt:lpstr>
      <vt:lpstr>Arial</vt:lpstr>
      <vt:lpstr>Gill Sans MT</vt:lpstr>
      <vt:lpstr>Times New Roman</vt:lpstr>
      <vt:lpstr>Gallery</vt:lpstr>
      <vt:lpstr>Опыт изучения ингушского языка</vt:lpstr>
      <vt:lpstr>Мудрые наставления наших предков</vt:lpstr>
      <vt:lpstr>предисловие</vt:lpstr>
      <vt:lpstr>Са дешал чIоагIагI да цун эздел </vt:lpstr>
      <vt:lpstr>1. Са дешал ч1оагIагI да цун эздел</vt:lpstr>
      <vt:lpstr>PowerPoint Presentation</vt:lpstr>
      <vt:lpstr>1. His nobility speaks louder than my words</vt:lpstr>
      <vt:lpstr>1. Сан дашал чIогIах йу цуьнан оьздангалла</vt:lpstr>
      <vt:lpstr>Лексика</vt:lpstr>
      <vt:lpstr>Грамматика : АЛФАВИТ и произношение</vt:lpstr>
    </vt:vector>
  </TitlesOfParts>
  <Company>FPS Public Health Belgium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Abdulvakhid Shoudouev (FOD VVVL - SPF SPSCAE)</dc:creator>
  <cp:lastModifiedBy>Abdulvakhid Shoudouev (FOD VVVL - SPF SPSCAE)</cp:lastModifiedBy>
  <cp:revision>141</cp:revision>
  <dcterms:created xsi:type="dcterms:W3CDTF">2026-06-01T18:53:02Z</dcterms:created>
  <dcterms:modified xsi:type="dcterms:W3CDTF">2026-06-21T20:39:44Z</dcterms:modified>
</cp:coreProperties>
</file>