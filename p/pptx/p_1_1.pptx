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62" r:id="rId4"/>
    <p:sldId id="258" r:id="rId5"/>
    <p:sldId id="259" r:id="rId6"/>
    <p:sldId id="260" r:id="rId7"/>
    <p:sldId id="261"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85C242-68B7-4DC8-A407-97B28E6BAFC5}">
          <p14:sldIdLst>
            <p14:sldId id="256"/>
          </p14:sldIdLst>
        </p14:section>
        <p14:section name="book_cover" id="{FEE08EA0-157C-42D5-9554-D7F4899B98FD}">
          <p14:sldIdLst>
            <p14:sldId id="257"/>
            <p14:sldId id="262"/>
          </p14:sldIdLst>
        </p14:section>
        <p14:section name="story_name" id="{3529E971-8119-4829-BD88-A7D2789F4180}">
          <p14:sldIdLst>
            <p14:sldId id="258"/>
          </p14:sldIdLst>
        </p14:section>
        <p14:section name="Story_text_inh" id="{9FE4DF01-14C5-45CE-ACA8-0B0B0612A66C}">
          <p14:sldIdLst>
            <p14:sldId id="259"/>
          </p14:sldIdLst>
        </p14:section>
        <p14:section name="story_text_eng" id="{1F75236F-9138-4460-9D2C-69429F04EC38}">
          <p14:sldIdLst>
            <p14:sldId id="260"/>
          </p14:sldIdLst>
        </p14:section>
        <p14:section name="story_text_che" id="{0754FFD2-BC67-43BD-9920-805D43719411}">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6600"/>
    <a:srgbClr val="FF99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75" autoAdjust="0"/>
    <p:restoredTop sz="94688" autoAdjust="0"/>
  </p:normalViewPr>
  <p:slideViewPr>
    <p:cSldViewPr snapToGrid="0">
      <p:cViewPr varScale="1">
        <p:scale>
          <a:sx n="150" d="100"/>
          <a:sy n="150" d="100"/>
        </p:scale>
        <p:origin x="630" y="132"/>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9D986570-2C26-4E5F-9D28-4D18F9BAC427}" type="datetimeFigureOut">
              <a:rPr lang="nl-BE" smtClean="0"/>
              <a:t>9/06/2026</a:t>
            </a:fld>
            <a:endParaRPr lang="nl-BE"/>
          </a:p>
        </p:txBody>
      </p:sp>
      <p:sp>
        <p:nvSpPr>
          <p:cNvPr id="5" name="Footer Placeholder 4"/>
          <p:cNvSpPr>
            <a:spLocks noGrp="1"/>
          </p:cNvSpPr>
          <p:nvPr>
            <p:ph type="ftr" sz="quarter" idx="11"/>
          </p:nvPr>
        </p:nvSpPr>
        <p:spPr>
          <a:xfrm>
            <a:off x="2416500" y="329307"/>
            <a:ext cx="4973915" cy="309201"/>
          </a:xfrm>
        </p:spPr>
        <p:txBody>
          <a:bodyPr/>
          <a:lstStyle/>
          <a:p>
            <a:endParaRPr lang="nl-BE"/>
          </a:p>
        </p:txBody>
      </p:sp>
      <p:sp>
        <p:nvSpPr>
          <p:cNvPr id="6" name="Slide Number Placeholder 5"/>
          <p:cNvSpPr>
            <a:spLocks noGrp="1"/>
          </p:cNvSpPr>
          <p:nvPr>
            <p:ph type="sldNum" sz="quarter" idx="12"/>
          </p:nvPr>
        </p:nvSpPr>
        <p:spPr>
          <a:xfrm>
            <a:off x="1437664" y="798973"/>
            <a:ext cx="811019" cy="503578"/>
          </a:xfrm>
        </p:spPr>
        <p:txBody>
          <a:bodyPr/>
          <a:lstStyle/>
          <a:p>
            <a:fld id="{75E9C3EB-3209-46C0-A1BF-04B855C83966}" type="slidenum">
              <a:rPr lang="nl-BE" smtClean="0"/>
              <a:t>‹#›</a:t>
            </a:fld>
            <a:endParaRPr lang="nl-BE"/>
          </a:p>
        </p:txBody>
      </p:sp>
      <p:sp>
        <p:nvSpPr>
          <p:cNvPr id="8" name="TextBox 7">
            <a:extLst>
              <a:ext uri="{FF2B5EF4-FFF2-40B4-BE49-F238E27FC236}">
                <a16:creationId xmlns:a16="http://schemas.microsoft.com/office/drawing/2014/main" id="{1F455A86-9B17-54B9-2CE5-8916635CDC73}"/>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9" name="TextBox 8">
            <a:extLst>
              <a:ext uri="{FF2B5EF4-FFF2-40B4-BE49-F238E27FC236}">
                <a16:creationId xmlns:a16="http://schemas.microsoft.com/office/drawing/2014/main" id="{4D0D7826-67D3-570C-DC2E-EC5B60B640A7}"/>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2886729059"/>
      </p:ext>
    </p:extLst>
  </p:cSld>
  <p:clrMapOvr>
    <a:masterClrMapping/>
  </p:clrMapOvr>
  <p:transition spd="slow">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9/06/2026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sp>
        <p:nvSpPr>
          <p:cNvPr id="7" name="TextBox 6">
            <a:extLst>
              <a:ext uri="{FF2B5EF4-FFF2-40B4-BE49-F238E27FC236}">
                <a16:creationId xmlns:a16="http://schemas.microsoft.com/office/drawing/2014/main" id="{32F62EAB-314F-C75A-21DD-AB2C064388D5}"/>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8" name="TextBox 7">
            <a:extLst>
              <a:ext uri="{FF2B5EF4-FFF2-40B4-BE49-F238E27FC236}">
                <a16:creationId xmlns:a16="http://schemas.microsoft.com/office/drawing/2014/main" id="{C0EE0B99-DB1E-7DFC-9C7B-70FA11250A1B}"/>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3005231634"/>
      </p:ext>
    </p:extLst>
  </p:cSld>
  <p:clrMapOvr>
    <a:masterClrMapping/>
  </p:clrMapOvr>
  <p:transition spd="slow">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986570-2C26-4E5F-9D28-4D18F9BAC427}" type="datetimeFigureOut">
              <a:rPr lang="nl-BE" smtClean="0"/>
              <a:t>9/06/2026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0083104"/>
      </p:ext>
    </p:extLst>
  </p:cSld>
  <p:clrMapOvr>
    <a:masterClrMapping/>
  </p:clrMapOvr>
  <p:transition spd="slow">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986570-2C26-4E5F-9D28-4D18F9BAC427}" type="datetimeFigureOut">
              <a:rPr lang="nl-BE" smtClean="0"/>
              <a:t>9/06/2026</a:t>
            </a:fld>
            <a:endParaRPr lang="nl-BE" dirty="0"/>
          </a:p>
        </p:txBody>
      </p:sp>
      <p:sp>
        <p:nvSpPr>
          <p:cNvPr id="6" name="Footer Placeholder 5"/>
          <p:cNvSpPr>
            <a:spLocks noGrp="1"/>
          </p:cNvSpPr>
          <p:nvPr>
            <p:ph type="ftr" sz="quarter" idx="11"/>
          </p:nvPr>
        </p:nvSpPr>
        <p:spPr/>
        <p:txBody>
          <a:bodyPr/>
          <a:lstStyle/>
          <a:p>
            <a:endParaRPr lang="nl-BE" dirty="0"/>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9756922"/>
      </p:ext>
    </p:extLst>
  </p:cSld>
  <p:clrMapOvr>
    <a:masterClrMapping/>
  </p:clrMapOvr>
  <p:transition spd="slow">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986570-2C26-4E5F-9D28-4D18F9BAC427}" type="datetimeFigureOut">
              <a:rPr lang="nl-BE" smtClean="0"/>
              <a:t>9/06/2026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75E9C3EB-3209-46C0-A1BF-04B855C83966}" type="slidenum">
              <a:rPr lang="nl-BE" smtClean="0"/>
              <a:t>‹#›</a:t>
            </a:fld>
            <a:endParaRPr lang="nl-BE"/>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2309565"/>
      </p:ext>
    </p:extLst>
  </p:cSld>
  <p:clrMapOvr>
    <a:masterClrMapping/>
  </p:clrMapOvr>
  <p:transition spd="slow">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986570-2C26-4E5F-9D28-4D18F9BAC427}" type="datetimeFigureOut">
              <a:rPr lang="nl-BE" smtClean="0"/>
              <a:t>9/06/2026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75E9C3EB-3209-46C0-A1BF-04B855C83966}" type="slidenum">
              <a:rPr lang="nl-BE" smtClean="0"/>
              <a:t>‹#›</a:t>
            </a:fld>
            <a:endParaRPr lang="nl-BE"/>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7941629"/>
      </p:ext>
    </p:extLst>
  </p:cSld>
  <p:clrMapOvr>
    <a:masterClrMapping/>
  </p:clrMapOvr>
  <p:transition spd="slow">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986570-2C26-4E5F-9D28-4D18F9BAC427}" type="datetimeFigureOut">
              <a:rPr lang="nl-BE" smtClean="0"/>
              <a:t>9/06/2026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75E9C3EB-3209-46C0-A1BF-04B855C83966}" type="slidenum">
              <a:rPr lang="nl-BE" smtClean="0"/>
              <a:t>‹#›</a:t>
            </a:fld>
            <a:endParaRPr lang="nl-BE"/>
          </a:p>
        </p:txBody>
      </p:sp>
    </p:spTree>
    <p:extLst>
      <p:ext uri="{BB962C8B-B14F-4D97-AF65-F5344CB8AC3E}">
        <p14:creationId xmlns:p14="http://schemas.microsoft.com/office/powerpoint/2010/main" val="3747484124"/>
      </p:ext>
    </p:extLst>
  </p:cSld>
  <p:clrMapOvr>
    <a:masterClrMapping/>
  </p:clrMapOvr>
  <p:transition spd="slow">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986570-2C26-4E5F-9D28-4D18F9BAC427}" type="datetimeFigureOut">
              <a:rPr lang="nl-BE" smtClean="0"/>
              <a:t>9/06/2026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8654808"/>
      </p:ext>
    </p:extLst>
  </p:cSld>
  <p:clrMapOvr>
    <a:masterClrMapping/>
  </p:clrMapOvr>
  <p:transition spd="slow">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9D986570-2C26-4E5F-9D28-4D18F9BAC427}" type="datetimeFigureOut">
              <a:rPr lang="nl-BE" smtClean="0"/>
              <a:t>9/06/2026</a:t>
            </a:fld>
            <a:endParaRPr lang="nl-BE"/>
          </a:p>
        </p:txBody>
      </p:sp>
      <p:sp>
        <p:nvSpPr>
          <p:cNvPr id="6" name="Footer Placeholder 5"/>
          <p:cNvSpPr>
            <a:spLocks noGrp="1"/>
          </p:cNvSpPr>
          <p:nvPr>
            <p:ph type="ftr" sz="quarter" idx="11"/>
          </p:nvPr>
        </p:nvSpPr>
        <p:spPr>
          <a:xfrm>
            <a:off x="1447382" y="318640"/>
            <a:ext cx="5541004" cy="320931"/>
          </a:xfrm>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71820353"/>
      </p:ext>
    </p:extLst>
  </p:cSld>
  <p:clrMapOvr>
    <a:masterClrMapping/>
  </p:clrMapOvr>
  <p:transition spd="slow">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9/06/2026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99009"/>
      </p:ext>
    </p:extLst>
  </p:cSld>
  <p:clrMapOvr>
    <a:masterClrMapping/>
  </p:clrMapOvr>
  <p:transition spd="slow">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9/06/2026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36273344"/>
      </p:ext>
    </p:extLst>
  </p:cSld>
  <p:clrMapOvr>
    <a:masterClrMapping/>
  </p:clrMapOvr>
  <p:transition spd="slow">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94000"/>
                <a:lumOff val="6000"/>
              </a:schemeClr>
            </a:gs>
            <a:gs pos="100000">
              <a:schemeClr val="bg2">
                <a:shade val="80000"/>
              </a:schemeClr>
            </a:gs>
          </a:gsLst>
          <a:path path="circle">
            <a:fillToRect l="43000" r="43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9D986570-2C26-4E5F-9D28-4D18F9BAC427}" type="datetimeFigureOut">
              <a:rPr lang="nl-BE" smtClean="0"/>
              <a:t>9/06/2026</a:t>
            </a:fld>
            <a:endParaRPr lang="nl-BE"/>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5E9C3EB-3209-46C0-A1BF-04B855C83966}" type="slidenum">
              <a:rPr lang="nl-BE" smtClean="0"/>
              <a:t>‹#›</a:t>
            </a:fld>
            <a:endParaRPr lang="nl-BE" dirty="0"/>
          </a:p>
        </p:txBody>
      </p:sp>
    </p:spTree>
    <p:extLst>
      <p:ext uri="{BB962C8B-B14F-4D97-AF65-F5344CB8AC3E}">
        <p14:creationId xmlns:p14="http://schemas.microsoft.com/office/powerpoint/2010/main" val="103194958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ransition spd="slow">
    <p:cover/>
  </p:transition>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3"/><Relationship Id="rId1" Type="http://schemas.openxmlformats.org/officeDocument/2006/relationships/audio" Target="NUL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p3"/><Relationship Id="rId1" Type="http://schemas.microsoft.com/office/2007/relationships/media" Target="../media/media2.mp3"/><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arodnaya_Ingushskaya">
            <a:hlinkClick r:id="" action="ppaction://media"/>
            <a:extLst>
              <a:ext uri="{FF2B5EF4-FFF2-40B4-BE49-F238E27FC236}">
                <a16:creationId xmlns:a16="http://schemas.microsoft.com/office/drawing/2014/main" id="{6AA5EB36-CCC9-D90B-7C25-A280071F8536}"/>
              </a:ext>
            </a:extLst>
          </p:cNvPr>
          <p:cNvPicPr>
            <a:picLocks noChangeAspect="1"/>
          </p:cNvPicPr>
          <p:nvPr>
            <a:audioFile r:link="rId1"/>
            <p:extLst>
              <p:ext uri="{DAA4B4D4-6D71-4841-9C94-3DE7FCFB9230}">
                <p14:media xmlns:p14="http://schemas.microsoft.com/office/powerpoint/2010/main" r:embed="rId2">
                  <p14:trim st="5602" end="133226.9375"/>
                  <p14:fade out="1000"/>
                </p14:media>
              </p:ext>
            </p:extLst>
          </p:nvPr>
        </p:nvPicPr>
        <p:blipFill>
          <a:blip r:embed="rId4"/>
          <a:stretch>
            <a:fillRect/>
          </a:stretch>
        </p:blipFill>
        <p:spPr>
          <a:xfrm>
            <a:off x="800332" y="5626500"/>
            <a:ext cx="487363" cy="487363"/>
          </a:xfrm>
          <a:prstGeom prst="rect">
            <a:avLst/>
          </a:prstGeom>
        </p:spPr>
      </p:pic>
      <p:sp>
        <p:nvSpPr>
          <p:cNvPr id="2" name="Title 1">
            <a:extLst>
              <a:ext uri="{FF2B5EF4-FFF2-40B4-BE49-F238E27FC236}">
                <a16:creationId xmlns:a16="http://schemas.microsoft.com/office/drawing/2014/main" id="{060B9045-3109-7F3D-3F6E-A237CA6F2463}"/>
              </a:ext>
            </a:extLst>
          </p:cNvPr>
          <p:cNvSpPr>
            <a:spLocks noGrp="1"/>
          </p:cNvSpPr>
          <p:nvPr>
            <p:ph type="ctrTitle"/>
          </p:nvPr>
        </p:nvSpPr>
        <p:spPr>
          <a:xfrm>
            <a:off x="1784425" y="802299"/>
            <a:ext cx="8623151" cy="1991144"/>
          </a:xfrm>
        </p:spPr>
        <p:txBody>
          <a:bodyPr/>
          <a:lstStyle/>
          <a:p>
            <a:pPr algn="ctr"/>
            <a:r>
              <a:rPr lang="ce-Cyrl-RU" dirty="0"/>
              <a:t>Опыт изучения ингушского языка</a:t>
            </a:r>
            <a:endParaRPr lang="nl-BE" dirty="0"/>
          </a:p>
        </p:txBody>
      </p:sp>
      <p:sp>
        <p:nvSpPr>
          <p:cNvPr id="3" name="Subtitle 2">
            <a:extLst>
              <a:ext uri="{FF2B5EF4-FFF2-40B4-BE49-F238E27FC236}">
                <a16:creationId xmlns:a16="http://schemas.microsoft.com/office/drawing/2014/main" id="{32680F89-9446-1DF0-18AB-7937879BB419}"/>
              </a:ext>
            </a:extLst>
          </p:cNvPr>
          <p:cNvSpPr>
            <a:spLocks noGrp="1"/>
          </p:cNvSpPr>
          <p:nvPr>
            <p:ph type="subTitle" idx="1"/>
          </p:nvPr>
        </p:nvSpPr>
        <p:spPr>
          <a:xfrm>
            <a:off x="715109" y="3304266"/>
            <a:ext cx="10761783" cy="1843853"/>
          </a:xfrm>
        </p:spPr>
        <p:txBody>
          <a:bodyPr>
            <a:normAutofit/>
          </a:bodyPr>
          <a:lstStyle/>
          <a:p>
            <a:pPr algn="ctr"/>
            <a:r>
              <a:rPr lang="ce-Cyrl-RU" sz="2800" dirty="0"/>
              <a:t>ингушскиЕ притчи </a:t>
            </a:r>
            <a:br>
              <a:rPr lang="ce-Cyrl-RU" sz="2800" dirty="0"/>
            </a:br>
            <a:r>
              <a:rPr lang="ce-Cyrl-RU" sz="2800" dirty="0"/>
              <a:t>с переводом на русский, чеченский и Английский языки, </a:t>
            </a:r>
            <a:br>
              <a:rPr lang="ce-Cyrl-RU" sz="2800" dirty="0"/>
            </a:br>
            <a:r>
              <a:rPr lang="ce-Cyrl-RU" sz="2800" dirty="0"/>
              <a:t>с грамматическим разбором</a:t>
            </a:r>
            <a:endParaRPr lang="nl-BE" sz="2800" dirty="0"/>
          </a:p>
        </p:txBody>
      </p:sp>
      <p:cxnSp>
        <p:nvCxnSpPr>
          <p:cNvPr id="9" name="Straight Connector 8">
            <a:extLst>
              <a:ext uri="{FF2B5EF4-FFF2-40B4-BE49-F238E27FC236}">
                <a16:creationId xmlns:a16="http://schemas.microsoft.com/office/drawing/2014/main" id="{5DA53427-5985-4E85-8EC8-645334CA8C0A}"/>
              </a:ext>
            </a:extLst>
          </p:cNvPr>
          <p:cNvCxnSpPr>
            <a:cxnSpLocks/>
          </p:cNvCxnSpPr>
          <p:nvPr/>
        </p:nvCxnSpPr>
        <p:spPr>
          <a:xfrm>
            <a:off x="1307876" y="3234447"/>
            <a:ext cx="95762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2CFFAA4-007A-6284-7B95-54B3559E4A1E}"/>
              </a:ext>
            </a:extLst>
          </p:cNvPr>
          <p:cNvCxnSpPr>
            <a:cxnSpLocks/>
          </p:cNvCxnSpPr>
          <p:nvPr/>
        </p:nvCxnSpPr>
        <p:spPr>
          <a:xfrm>
            <a:off x="1307876" y="5342107"/>
            <a:ext cx="9576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87819153"/>
      </p:ext>
    </p:extLst>
  </p:cSld>
  <p:clrMapOvr>
    <a:masterClrMapping/>
  </p:clrMapOvr>
  <mc:AlternateContent xmlns:mc="http://schemas.openxmlformats.org/markup-compatibility/2006" xmlns:p14="http://schemas.microsoft.com/office/powerpoint/2010/main">
    <mc:Choice Requires="p14">
      <p:transition p14:dur="0" advTm="2000"/>
    </mc:Choice>
    <mc:Fallback xmlns="">
      <p:transition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DEEFE-FAC7-B414-5EE3-E89A0F227BF5}"/>
              </a:ext>
            </a:extLst>
          </p:cNvPr>
          <p:cNvSpPr>
            <a:spLocks noGrp="1"/>
          </p:cNvSpPr>
          <p:nvPr>
            <p:ph type="title"/>
          </p:nvPr>
        </p:nvSpPr>
        <p:spPr>
          <a:xfrm>
            <a:off x="1294363" y="223737"/>
            <a:ext cx="9603275" cy="1630018"/>
          </a:xfrm>
        </p:spPr>
        <p:txBody>
          <a:bodyPr/>
          <a:lstStyle/>
          <a:p>
            <a:pPr algn="ctr"/>
            <a:r>
              <a:rPr lang="ce-Cyrl-RU" dirty="0"/>
              <a:t>Мудрые наставления наших предков</a:t>
            </a:r>
            <a:br>
              <a:rPr lang="ce-Cyrl-RU" dirty="0"/>
            </a:br>
            <a:r>
              <a:rPr lang="ce-Cyrl-RU" dirty="0"/>
              <a:t>из ингушского фольклора</a:t>
            </a:r>
            <a:br>
              <a:rPr lang="en-US" dirty="0"/>
            </a:br>
            <a:r>
              <a:rPr lang="ce-Cyrl-RU" dirty="0"/>
              <a:t>И.А. Дахкильгов, 2000г.</a:t>
            </a:r>
            <a:endParaRPr lang="nl-BE" dirty="0"/>
          </a:p>
        </p:txBody>
      </p:sp>
      <p:pic>
        <p:nvPicPr>
          <p:cNvPr id="5" name="Content Placeholder 4">
            <a:extLst>
              <a:ext uri="{FF2B5EF4-FFF2-40B4-BE49-F238E27FC236}">
                <a16:creationId xmlns:a16="http://schemas.microsoft.com/office/drawing/2014/main" id="{6A46817F-2590-AF4F-062B-7810BBC5A99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55422" y="2171671"/>
            <a:ext cx="1969259" cy="3449638"/>
          </a:xfrm>
          <a:prstGeom prst="rect">
            <a:avLst/>
          </a:prstGeom>
        </p:spPr>
      </p:pic>
      <p:pic>
        <p:nvPicPr>
          <p:cNvPr id="8" name="Picture 7">
            <a:extLst>
              <a:ext uri="{FF2B5EF4-FFF2-40B4-BE49-F238E27FC236}">
                <a16:creationId xmlns:a16="http://schemas.microsoft.com/office/drawing/2014/main" id="{73DC7B53-5EC4-58F2-9016-E24BFB875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455" y="2171671"/>
            <a:ext cx="3011997" cy="3449638"/>
          </a:xfrm>
          <a:prstGeom prst="rect">
            <a:avLst/>
          </a:prstGeom>
        </p:spPr>
      </p:pic>
    </p:spTree>
    <p:extLst>
      <p:ext uri="{BB962C8B-B14F-4D97-AF65-F5344CB8AC3E}">
        <p14:creationId xmlns:p14="http://schemas.microsoft.com/office/powerpoint/2010/main" val="3511886794"/>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C4DD-6064-8AF3-DEC8-492C1657613F}"/>
              </a:ext>
            </a:extLst>
          </p:cNvPr>
          <p:cNvSpPr>
            <a:spLocks noGrp="1"/>
          </p:cNvSpPr>
          <p:nvPr>
            <p:ph type="ctrTitle"/>
          </p:nvPr>
        </p:nvSpPr>
        <p:spPr>
          <a:xfrm>
            <a:off x="1777464" y="198765"/>
            <a:ext cx="8637073" cy="239101"/>
          </a:xfrm>
        </p:spPr>
        <p:txBody>
          <a:bodyPr>
            <a:normAutofit/>
          </a:bodyPr>
          <a:lstStyle/>
          <a:p>
            <a:pPr algn="ctr"/>
            <a:r>
              <a:rPr lang="ce-Cyrl-RU" sz="1400" dirty="0"/>
              <a:t>предисловие</a:t>
            </a:r>
            <a:endParaRPr lang="nl-BE" sz="1400" dirty="0"/>
          </a:p>
        </p:txBody>
      </p:sp>
    </p:spTree>
    <p:extLst>
      <p:ext uri="{BB962C8B-B14F-4D97-AF65-F5344CB8AC3E}">
        <p14:creationId xmlns:p14="http://schemas.microsoft.com/office/powerpoint/2010/main" val="253645785"/>
      </p:ext>
    </p:extLst>
  </p:cSld>
  <p:clrMapOvr>
    <a:masterClrMapping/>
  </p:clrMapOvr>
  <mc:AlternateContent xmlns:mc="http://schemas.openxmlformats.org/markup-compatibility/2006">
    <mc:Choice xmlns:p14="http://schemas.microsoft.com/office/powerpoint/2010/main" Requires="p14">
      <p:transition spd="med" p14:dur="700" advTm="176000">
        <p:fade/>
      </p:transition>
    </mc:Choice>
    <mc:Fallback>
      <p:transition spd="med" advTm="176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CF6D9B2-7B50-314B-634A-73A548DB36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3532" y="1244970"/>
            <a:ext cx="6117074" cy="3336586"/>
          </a:xfrm>
          <a:prstGeom prst="rect">
            <a:avLst/>
          </a:prstGeom>
        </p:spPr>
      </p:pic>
      <p:sp>
        <p:nvSpPr>
          <p:cNvPr id="8" name="Title 7">
            <a:extLst>
              <a:ext uri="{FF2B5EF4-FFF2-40B4-BE49-F238E27FC236}">
                <a16:creationId xmlns:a16="http://schemas.microsoft.com/office/drawing/2014/main" id="{1329C50E-74C0-7ABA-F08B-A63C7E035D85}"/>
              </a:ext>
            </a:extLst>
          </p:cNvPr>
          <p:cNvSpPr txBox="1">
            <a:spLocks noGrp="1"/>
          </p:cNvSpPr>
          <p:nvPr>
            <p:ph type="title" idx="4294967295"/>
          </p:nvPr>
        </p:nvSpPr>
        <p:spPr>
          <a:xfrm>
            <a:off x="6716226" y="1952171"/>
            <a:ext cx="49659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rgbClr val="CC6600"/>
                </a:solidFill>
                <a:effectLst/>
                <a:uLnTx/>
                <a:uFillTx/>
                <a:latin typeface="+mj-lt"/>
                <a:ea typeface="+mn-ea"/>
                <a:cs typeface="+mn-cs"/>
              </a:rPr>
              <a:t>Са дешал чIоагIагI да цун эздел</a:t>
            </a:r>
            <a:r>
              <a:rPr kumimoji="0" lang="ce-Cyrl-RU" sz="2400" b="1" i="0" u="none" strike="noStrike" kern="1200" cap="none" spc="0" normalizeH="0" baseline="0" noProof="0" dirty="0">
                <a:ln>
                  <a:noFill/>
                </a:ln>
                <a:solidFill>
                  <a:srgbClr val="CC6600"/>
                </a:solidFill>
                <a:effectLst/>
                <a:uLnTx/>
                <a:uFillTx/>
                <a:latin typeface="+mj-lt"/>
                <a:ea typeface="+mn-ea"/>
                <a:cs typeface="+mn-cs"/>
              </a:rPr>
              <a:t> </a:t>
            </a:r>
            <a:endParaRPr kumimoji="0" lang="nl-BE" sz="2400" b="1"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sp>
        <p:nvSpPr>
          <p:cNvPr id="10" name="TextBox 9">
            <a:extLst>
              <a:ext uri="{FF2B5EF4-FFF2-40B4-BE49-F238E27FC236}">
                <a16:creationId xmlns:a16="http://schemas.microsoft.com/office/drawing/2014/main" id="{6343BD79-EADF-39AF-26F8-D7E577B6C3C9}"/>
              </a:ext>
            </a:extLst>
          </p:cNvPr>
          <p:cNvSpPr txBox="1"/>
          <p:nvPr/>
        </p:nvSpPr>
        <p:spPr>
          <a:xfrm>
            <a:off x="7322585" y="1322794"/>
            <a:ext cx="3952671" cy="58477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ce-Cyrl-RU" sz="3200" b="1" i="0" u="none" strike="noStrike" kern="1200" cap="none" spc="0" normalizeH="0" baseline="0" noProof="0" dirty="0">
                <a:ln>
                  <a:noFill/>
                </a:ln>
                <a:solidFill>
                  <a:srgbClr val="CC6600"/>
                </a:solidFill>
                <a:effectLst/>
                <a:uLnTx/>
                <a:uFillTx/>
                <a:latin typeface="Alasassy Caps"/>
                <a:ea typeface="+mn-ea"/>
                <a:cs typeface="+mn-cs"/>
              </a:rPr>
              <a:t>№ 1</a:t>
            </a:r>
            <a:endParaRPr kumimoji="0" lang="nl-BE" sz="3200" b="1" i="0" u="none" strike="noStrike" kern="1200" cap="none" spc="0" normalizeH="0" baseline="0" noProof="0" dirty="0">
              <a:ln>
                <a:noFill/>
              </a:ln>
              <a:solidFill>
                <a:srgbClr val="CC6600"/>
              </a:solidFill>
              <a:effectLst/>
              <a:uLnTx/>
              <a:uFillTx/>
              <a:latin typeface="Alasassy Caps"/>
              <a:ea typeface="+mn-ea"/>
              <a:cs typeface="+mn-cs"/>
            </a:endParaRPr>
          </a:p>
        </p:txBody>
      </p:sp>
      <p:sp>
        <p:nvSpPr>
          <p:cNvPr id="11" name="TextBox 10">
            <a:extLst>
              <a:ext uri="{FF2B5EF4-FFF2-40B4-BE49-F238E27FC236}">
                <a16:creationId xmlns:a16="http://schemas.microsoft.com/office/drawing/2014/main" id="{C2A48C73-175C-D8D8-25C7-9E0DDE77C77F}"/>
              </a:ext>
            </a:extLst>
          </p:cNvPr>
          <p:cNvSpPr txBox="1"/>
          <p:nvPr/>
        </p:nvSpPr>
        <p:spPr>
          <a:xfrm>
            <a:off x="6589766" y="3381439"/>
            <a:ext cx="5369668" cy="1015663"/>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000" b="1" i="0" u="none" strike="noStrike" kern="1200" cap="none" spc="0" normalizeH="0" baseline="0" noProof="0" dirty="0">
                <a:ln>
                  <a:noFill/>
                </a:ln>
                <a:solidFill>
                  <a:srgbClr val="CC6600"/>
                </a:solidFill>
                <a:effectLst/>
                <a:uLnTx/>
                <a:uFillTx/>
                <a:ea typeface="+mn-ea"/>
                <a:cs typeface="+mn-cs"/>
              </a:rPr>
              <a:t>Его благородство сильнее моих слов</a:t>
            </a:r>
            <a:br>
              <a:rPr kumimoji="0" lang="ce-Cyrl-RU" sz="2000" b="1" i="0" u="none" strike="noStrike" kern="1200" cap="none" spc="0" normalizeH="0" baseline="0" noProof="0" dirty="0">
                <a:ln>
                  <a:noFill/>
                </a:ln>
                <a:solidFill>
                  <a:srgbClr val="CC6600"/>
                </a:solidFill>
                <a:effectLst/>
                <a:uLnTx/>
                <a:uFillTx/>
                <a:ea typeface="+mn-ea"/>
                <a:cs typeface="+mn-cs"/>
              </a:rPr>
            </a:br>
            <a:br>
              <a:rPr kumimoji="0" lang="ce-Cyrl-RU" sz="2000" b="1" i="0" u="none" strike="noStrike" kern="1200" cap="none" spc="0" normalizeH="0" baseline="0" noProof="0" dirty="0">
                <a:ln>
                  <a:noFill/>
                </a:ln>
                <a:solidFill>
                  <a:srgbClr val="CC6600"/>
                </a:solidFill>
                <a:effectLst/>
                <a:uLnTx/>
                <a:uFillTx/>
                <a:ea typeface="+mn-ea"/>
                <a:cs typeface="+mn-cs"/>
              </a:rPr>
            </a:br>
            <a:r>
              <a:rPr kumimoji="0" lang="en-US" sz="2000" b="1" i="0" u="none" strike="noStrike" kern="1200" cap="none" spc="0" normalizeH="0" baseline="0" noProof="0" dirty="0">
                <a:ln>
                  <a:noFill/>
                </a:ln>
                <a:solidFill>
                  <a:srgbClr val="CC6600"/>
                </a:solidFill>
                <a:effectLst/>
                <a:uLnTx/>
                <a:uFillTx/>
                <a:latin typeface="Gill Sans MT" panose="020B0502020104020203"/>
                <a:ea typeface="+mn-ea"/>
                <a:cs typeface="+mn-cs"/>
              </a:rPr>
              <a:t>His nobility speaks louder than my words</a:t>
            </a:r>
            <a:endParaRPr kumimoji="0" lang="nl-BE" sz="2000" b="0"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cxnSp>
        <p:nvCxnSpPr>
          <p:cNvPr id="13" name="Straight Connector 12">
            <a:extLst>
              <a:ext uri="{FF2B5EF4-FFF2-40B4-BE49-F238E27FC236}">
                <a16:creationId xmlns:a16="http://schemas.microsoft.com/office/drawing/2014/main" id="{1F44E224-A0A3-F28E-221F-EB5BC8440BAA}"/>
              </a:ext>
            </a:extLst>
          </p:cNvPr>
          <p:cNvCxnSpPr>
            <a:cxnSpLocks/>
          </p:cNvCxnSpPr>
          <p:nvPr/>
        </p:nvCxnSpPr>
        <p:spPr>
          <a:xfrm>
            <a:off x="8369925" y="1899972"/>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B7D954C-17E0-A338-D96F-6134F0C5115A}"/>
              </a:ext>
            </a:extLst>
          </p:cNvPr>
          <p:cNvCxnSpPr>
            <a:cxnSpLocks/>
          </p:cNvCxnSpPr>
          <p:nvPr/>
        </p:nvCxnSpPr>
        <p:spPr>
          <a:xfrm>
            <a:off x="8369925" y="2558211"/>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4AFEBD-0312-5DC2-8668-33F8363DE6B2}"/>
              </a:ext>
            </a:extLst>
          </p:cNvPr>
          <p:cNvCxnSpPr>
            <a:cxnSpLocks/>
          </p:cNvCxnSpPr>
          <p:nvPr/>
        </p:nvCxnSpPr>
        <p:spPr>
          <a:xfrm>
            <a:off x="8369925" y="3867825"/>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401332"/>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_inh_001">
            <a:hlinkClick r:id="" action="ppaction://media"/>
            <a:extLst>
              <a:ext uri="{FF2B5EF4-FFF2-40B4-BE49-F238E27FC236}">
                <a16:creationId xmlns:a16="http://schemas.microsoft.com/office/drawing/2014/main" id="{905DB5AE-7B3F-AF54-4805-CF9550DA559B}"/>
              </a:ext>
            </a:extLst>
          </p:cNvPr>
          <p:cNvPicPr>
            <a:picLocks noChangeAspect="1"/>
          </p:cNvPicPr>
          <p:nvPr>
            <a:audioFile r:link="rId2"/>
            <p:extLst>
              <p:ext uri="{DAA4B4D4-6D71-4841-9C94-3DE7FCFB9230}">
                <p14:media xmlns:p14="http://schemas.microsoft.com/office/powerpoint/2010/main" r:embed="rId1"/>
              </p:ext>
            </p:extLst>
          </p:nvPr>
        </p:nvPicPr>
        <p:blipFill>
          <a:blip r:embed="rId4"/>
          <a:stretch>
            <a:fillRect/>
          </a:stretch>
        </p:blipFill>
        <p:spPr>
          <a:xfrm>
            <a:off x="470170" y="184826"/>
            <a:ext cx="398834" cy="398834"/>
          </a:xfrm>
          <a:prstGeom prst="rect">
            <a:avLst/>
          </a:prstGeom>
        </p:spPr>
      </p:pic>
      <p:sp>
        <p:nvSpPr>
          <p:cNvPr id="7" name="TextBox 6">
            <a:extLst>
              <a:ext uri="{FF2B5EF4-FFF2-40B4-BE49-F238E27FC236}">
                <a16:creationId xmlns:a16="http://schemas.microsoft.com/office/drawing/2014/main" id="{388FC515-7E5F-5531-8FDD-8728149AFB7C}"/>
              </a:ext>
            </a:extLst>
          </p:cNvPr>
          <p:cNvSpPr txBox="1"/>
          <p:nvPr/>
        </p:nvSpPr>
        <p:spPr>
          <a:xfrm>
            <a:off x="885217" y="1615629"/>
            <a:ext cx="10525328" cy="1477328"/>
          </a:xfrm>
          <a:prstGeom prst="rect">
            <a:avLst/>
          </a:prstGeom>
          <a:noFill/>
        </p:spPr>
        <p:txBody>
          <a:bodyPr wrap="square" rtlCol="0">
            <a:spAutoFit/>
          </a:bodyPr>
          <a:lstStyle/>
          <a:p>
            <a:r>
              <a:rPr lang="ru-RU" dirty="0"/>
              <a:t>Гулбенна нах багӀача цӀагӀа Мохьмад-пайхамар чуваьлча, берригаш гӀайттаб. Пайхамара Ӏоха а аьнна, уж Ӏохайшача, цхьа зӀамига саг латтийсав. Пайхамара шозлагӀа а аннад цунга, Ӏоха. ТӀаккха а хайнавац. Пайхамара яхар хӀана дац Ӏа, Ӏоха ях хьога, оалаш, бехкаш даха нах болабелча, Мохьмад-пайхамара аьннад:</a:t>
            </a:r>
          </a:p>
          <a:p>
            <a:r>
              <a:rPr lang="ru-RU" dirty="0"/>
              <a:t>- Бехкаш ма даха цох. Са дешал чӀоагӀагӀа да цун сих доалла эздел.</a:t>
            </a:r>
            <a:endParaRPr lang="nl-BE" dirty="0"/>
          </a:p>
        </p:txBody>
      </p:sp>
      <p:sp>
        <p:nvSpPr>
          <p:cNvPr id="9" name="Title 8">
            <a:extLst>
              <a:ext uri="{FF2B5EF4-FFF2-40B4-BE49-F238E27FC236}">
                <a16:creationId xmlns:a16="http://schemas.microsoft.com/office/drawing/2014/main" id="{3AA59CDE-27B2-5D45-7DA2-B9D987E3C5BA}"/>
              </a:ext>
            </a:extLst>
          </p:cNvPr>
          <p:cNvSpPr txBox="1">
            <a:spLocks/>
          </p:cNvSpPr>
          <p:nvPr/>
        </p:nvSpPr>
        <p:spPr>
          <a:xfrm>
            <a:off x="885217" y="3784060"/>
            <a:ext cx="10379413" cy="203132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1800" b="1" i="0" u="none" strike="noStrike" kern="1200" cap="none" spc="0" normalizeH="0" baseline="0" noProof="0" dirty="0">
                <a:ln>
                  <a:noFill/>
                </a:ln>
                <a:solidFill>
                  <a:schemeClr val="tx1"/>
                </a:solidFill>
                <a:effectLst/>
                <a:uLnTx/>
                <a:uFillTx/>
                <a:latin typeface="+mn-lt"/>
                <a:ea typeface="+mn-ea"/>
                <a:cs typeface="+mn-cs"/>
              </a:rPr>
              <a:t>Его благородство сильнее моих слов</a:t>
            </a:r>
            <a:br>
              <a:rPr kumimoji="0" lang="ce-Cyrl-RU" sz="1800" b="1" i="0" u="none" strike="noStrike" kern="1200" cap="none" spc="0" normalizeH="0" baseline="0" noProof="0" dirty="0">
                <a:ln>
                  <a:noFill/>
                </a:ln>
                <a:solidFill>
                  <a:schemeClr val="tx1"/>
                </a:solidFill>
                <a:effectLst/>
                <a:uLnTx/>
                <a:uFillTx/>
                <a:latin typeface="+mn-lt"/>
                <a:ea typeface="+mn-ea"/>
                <a:cs typeface="+mn-cs"/>
              </a:rPr>
            </a:br>
            <a:endParaRPr kumimoji="0" lang="ru-RU" sz="1800" b="1" i="0" u="none" strike="noStrike" kern="1200" cap="none" spc="0" normalizeH="0" baseline="0" noProof="0" dirty="0">
              <a:ln>
                <a:noFill/>
              </a:ln>
              <a:solidFill>
                <a:schemeClr val="tx1"/>
              </a:solidFill>
              <a:effectLst/>
              <a:uLnTx/>
              <a:uFillTx/>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1800" b="0" i="0" u="none" strike="noStrike" kern="1200" cap="none" spc="0" normalizeH="0" baseline="0" noProof="0" dirty="0">
                <a:ln>
                  <a:noFill/>
                </a:ln>
                <a:solidFill>
                  <a:schemeClr val="tx1"/>
                </a:solidFill>
                <a:effectLst/>
                <a:uLnTx/>
                <a:uFillTx/>
                <a:latin typeface="+mn-lt"/>
                <a:ea typeface="+mn-ea"/>
                <a:cs typeface="+mn-cs"/>
              </a:rPr>
              <a:t>В одном доме собрались люди. Они сидели и беседовали. В это время вошел пророк Мухаммед. Все встали, приветствуя его. Пророк попросил их сесть, и тогда все сели. Один юноша продолжал стоять. Пророк повторно предложил ему сесть. Юноша продолжал стоять. На него зашикали: “Садись, тебе говорят. Для тебя слово пророка ничто не значит?”. Тогда Мухаммед-пророк сказал:</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1800" b="0" i="0" u="none" strike="noStrike" kern="1200" cap="none" spc="0" normalizeH="0" baseline="0" noProof="0" dirty="0">
                <a:ln>
                  <a:noFill/>
                </a:ln>
                <a:solidFill>
                  <a:schemeClr val="tx1"/>
                </a:solidFill>
                <a:effectLst/>
                <a:uLnTx/>
                <a:uFillTx/>
                <a:latin typeface="+mn-lt"/>
                <a:ea typeface="+mn-ea"/>
                <a:cs typeface="+mn-cs"/>
              </a:rPr>
              <a:t>“Не обижайте юношу. Благородство, впитавшееся в его душу, сильнее моих слов”.</a:t>
            </a:r>
            <a:r>
              <a:rPr kumimoji="0" lang="ce-Cyrl-RU" sz="1800" b="0" i="0" u="none" strike="noStrike" kern="1200" cap="none" spc="0" normalizeH="0" baseline="0" noProof="0" dirty="0">
                <a:ln>
                  <a:noFill/>
                </a:ln>
                <a:solidFill>
                  <a:schemeClr val="tx1"/>
                </a:solidFill>
                <a:effectLst/>
                <a:uLnTx/>
                <a:uFillTx/>
                <a:latin typeface="+mn-lt"/>
                <a:ea typeface="+mn-ea"/>
                <a:cs typeface="+mn-cs"/>
              </a:rPr>
              <a:t> </a:t>
            </a:r>
            <a:endParaRPr kumimoji="0" lang="nl-BE" sz="1800" b="0" i="0" u="none" strike="noStrike" kern="1200" cap="none" spc="0" normalizeH="0" baseline="0" noProof="0" dirty="0">
              <a:ln>
                <a:noFill/>
              </a:ln>
              <a:solidFill>
                <a:schemeClr val="tx1"/>
              </a:solidFill>
              <a:effectLst/>
              <a:uLnTx/>
              <a:uFillTx/>
              <a:latin typeface="+mn-lt"/>
              <a:ea typeface="+mn-ea"/>
              <a:cs typeface="+mn-cs"/>
            </a:endParaRPr>
          </a:p>
        </p:txBody>
      </p:sp>
      <p:sp>
        <p:nvSpPr>
          <p:cNvPr id="8" name="Title 7">
            <a:extLst>
              <a:ext uri="{FF2B5EF4-FFF2-40B4-BE49-F238E27FC236}">
                <a16:creationId xmlns:a16="http://schemas.microsoft.com/office/drawing/2014/main" id="{0443C54C-441A-C5BB-DBFD-00B50500ACB0}"/>
              </a:ext>
            </a:extLst>
          </p:cNvPr>
          <p:cNvSpPr txBox="1">
            <a:spLocks noGrp="1"/>
          </p:cNvSpPr>
          <p:nvPr>
            <p:ph type="title" idx="4294967295"/>
          </p:nvPr>
        </p:nvSpPr>
        <p:spPr>
          <a:xfrm>
            <a:off x="3435531" y="857983"/>
            <a:ext cx="5068389"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a:t>
            </a:r>
            <a:r>
              <a:rPr kumimoji="0" lang="ru-RU" sz="2400" b="1" i="0" u="none" strike="noStrike" kern="1200" cap="none" spc="0" normalizeH="0" baseline="0" noProof="0" dirty="0">
                <a:ln>
                  <a:noFill/>
                </a:ln>
                <a:solidFill>
                  <a:schemeClr val="tx1"/>
                </a:solidFill>
                <a:effectLst/>
                <a:uLnTx/>
                <a:uFillTx/>
                <a:latin typeface="+mn-lt"/>
                <a:ea typeface="+mn-ea"/>
                <a:cs typeface="+mn-cs"/>
              </a:rPr>
              <a:t>Са дешал ч1оаг</a:t>
            </a:r>
            <a:r>
              <a:rPr kumimoji="0" lang="nl-BE"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аг</a:t>
            </a:r>
            <a:r>
              <a:rPr kumimoji="0" lang="nl-BE" sz="2400" b="1" i="0" u="none" strike="noStrike" kern="1200" cap="none" spc="0" normalizeH="0" baseline="0" noProof="0" dirty="0">
                <a:ln>
                  <a:noFill/>
                </a:ln>
                <a:solidFill>
                  <a:schemeClr val="tx1"/>
                </a:solidFill>
                <a:effectLst/>
                <a:uLnTx/>
                <a:uFillTx/>
                <a:latin typeface="+mn-lt"/>
                <a:ea typeface="+mn-ea"/>
                <a:cs typeface="+mn-cs"/>
              </a:rPr>
              <a:t>I </a:t>
            </a:r>
            <a:r>
              <a:rPr kumimoji="0" lang="ru-RU" sz="2400" b="1" i="0" u="none" strike="noStrike" kern="1200" cap="none" spc="0" normalizeH="0" baseline="0" noProof="0" dirty="0">
                <a:ln>
                  <a:noFill/>
                </a:ln>
                <a:solidFill>
                  <a:schemeClr val="tx1"/>
                </a:solidFill>
                <a:effectLst/>
                <a:uLnTx/>
                <a:uFillTx/>
                <a:latin typeface="+mn-lt"/>
                <a:ea typeface="+mn-ea"/>
                <a:cs typeface="+mn-cs"/>
              </a:rPr>
              <a:t>да цун эздел</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352826899"/>
      </p:ext>
    </p:extLst>
  </p:cSld>
  <p:clrMapOvr>
    <a:masterClrMapping/>
  </p:clrMapOvr>
  <mc:AlternateContent xmlns:mc="http://schemas.openxmlformats.org/markup-compatibility/2006" xmlns:p14="http://schemas.microsoft.com/office/powerpoint/2010/main">
    <mc:Choice Requires="p14">
      <p:transition spd="med" p14:dur="700" advTm="41000">
        <p:fade/>
      </p:transition>
    </mc:Choice>
    <mc:Fallback xmlns="">
      <p:transition spd="med" advTm="41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3E228-0DFB-EEF1-2338-3AD6B9EA92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BEDB9C-78AC-CAD6-9DEC-DD7DD284558F}"/>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en-US" sz="1600" b="1" dirty="0"/>
              <a:t>ENGLISH</a:t>
            </a:r>
            <a:endParaRPr lang="nl-BE" sz="1600" dirty="0"/>
          </a:p>
        </p:txBody>
      </p:sp>
      <p:sp>
        <p:nvSpPr>
          <p:cNvPr id="9" name="TextBox 8">
            <a:extLst>
              <a:ext uri="{FF2B5EF4-FFF2-40B4-BE49-F238E27FC236}">
                <a16:creationId xmlns:a16="http://schemas.microsoft.com/office/drawing/2014/main" id="{896AE75D-6FB0-0CE2-7060-2DE8ECBECE3C}"/>
              </a:ext>
            </a:extLst>
          </p:cNvPr>
          <p:cNvSpPr txBox="1"/>
          <p:nvPr/>
        </p:nvSpPr>
        <p:spPr>
          <a:xfrm>
            <a:off x="906294" y="2035371"/>
            <a:ext cx="10379413" cy="3046988"/>
          </a:xfrm>
          <a:prstGeom prst="rect">
            <a:avLst/>
          </a:prstGeom>
          <a:noFill/>
        </p:spPr>
        <p:txBody>
          <a:bodyPr wrap="square" rtlCol="0">
            <a:spAutoFit/>
          </a:bodyPr>
          <a:lstStyle/>
          <a:p>
            <a:r>
              <a:rPr lang="en-US" sz="2400" dirty="0"/>
              <a:t>A group of people had gathered in a house. They were sitting and chatting. At that moment, the Prophet Muhammad entered. Everyone stood up to greet him. The Prophet asked them to sit down, and they all sat down. One young man remained standing. The Prophet asked him again to sit down. The young man remained standing. They hissed at him: “Sit down, we’re telling you. Does the Prophet’s word mean nothing to you?” Then the Prophet Muhammad said:</a:t>
            </a:r>
          </a:p>
          <a:p>
            <a:r>
              <a:rPr lang="en-US" sz="2400" dirty="0"/>
              <a:t>- Do not offend the young man. The nobility ingrained in his soul is stronger than my words.</a:t>
            </a:r>
            <a:endParaRPr lang="nl-BE" sz="2400" dirty="0"/>
          </a:p>
        </p:txBody>
      </p:sp>
      <p:sp>
        <p:nvSpPr>
          <p:cNvPr id="2" name="Title 1">
            <a:extLst>
              <a:ext uri="{FF2B5EF4-FFF2-40B4-BE49-F238E27FC236}">
                <a16:creationId xmlns:a16="http://schemas.microsoft.com/office/drawing/2014/main" id="{FC9D6F66-8A53-46AC-84C3-415E9E7A949F}"/>
              </a:ext>
            </a:extLst>
          </p:cNvPr>
          <p:cNvSpPr txBox="1">
            <a:spLocks noGrp="1"/>
          </p:cNvSpPr>
          <p:nvPr>
            <p:ph type="title" idx="4294967295"/>
          </p:nvPr>
        </p:nvSpPr>
        <p:spPr>
          <a:xfrm>
            <a:off x="1894114" y="1332415"/>
            <a:ext cx="7968343"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His nobility speaks louder than my words</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3912258381"/>
      </p:ext>
    </p:extLst>
  </p:cSld>
  <p:clrMapOvr>
    <a:masterClrMapping/>
  </p:clrMapOvr>
  <mc:AlternateContent xmlns:mc="http://schemas.openxmlformats.org/markup-compatibility/2006" xmlns:p14="http://schemas.microsoft.com/office/powerpoint/2010/main">
    <mc:Choice Requires="p14">
      <p:transition spd="med" p14:dur="700" advTm="3000">
        <p:fade/>
      </p:transition>
    </mc:Choice>
    <mc:Fallback xmlns="">
      <p:transition spd="med" advTm="3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386A-E652-F092-4302-9A5564B64EE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3E2E525-A17F-4826-347D-F47A09EB0F54}"/>
              </a:ext>
            </a:extLst>
          </p:cNvPr>
          <p:cNvSpPr txBox="1"/>
          <p:nvPr/>
        </p:nvSpPr>
        <p:spPr>
          <a:xfrm>
            <a:off x="906294" y="2090006"/>
            <a:ext cx="10379413" cy="3323987"/>
          </a:xfrm>
          <a:prstGeom prst="rect">
            <a:avLst/>
          </a:prstGeom>
          <a:noFill/>
        </p:spPr>
        <p:txBody>
          <a:bodyPr wrap="square" rtlCol="0">
            <a:spAutoFit/>
          </a:bodyPr>
          <a:lstStyle/>
          <a:p>
            <a:r>
              <a:rPr lang="ru-RU" sz="2400" dirty="0"/>
              <a:t>Гулбелла нах бохкучу цӀен чохь Мохьмад-пайхмар (Делера салам-маршал хуьлда цунна) чуваьлча, массо а гӀеттина. Пайхамаро охьаховша а аьлла, уьш охьахевшича, цхьа жима стаг лаьтташ висна. Пайхамаро шозлагӀа а аьлла цуьнга, охьахаа. ТӀаккха а хиъна вац. Пайхамаро бохург хӀунда дац ахьа, охьахаа боху хьоьга, олуш, бехкаш даха нах болабелча, Мохьмад-пайхамаро (Делера салам-маршал хуьлда цунна) аьлла:</a:t>
            </a:r>
          </a:p>
          <a:p>
            <a:endParaRPr lang="ru-RU" sz="2400" dirty="0"/>
          </a:p>
          <a:p>
            <a:r>
              <a:rPr lang="ru-RU" sz="2400" dirty="0"/>
              <a:t>“Бехкаш ма даха цунах. Сан дашал чӀогӀах йу цуьнан сих йоллу оьздангалла”.</a:t>
            </a:r>
          </a:p>
          <a:p>
            <a:pPr algn="ctr"/>
            <a:endParaRPr lang="ru-RU" b="1" dirty="0"/>
          </a:p>
        </p:txBody>
      </p:sp>
      <p:sp>
        <p:nvSpPr>
          <p:cNvPr id="5" name="TextBox 4">
            <a:extLst>
              <a:ext uri="{FF2B5EF4-FFF2-40B4-BE49-F238E27FC236}">
                <a16:creationId xmlns:a16="http://schemas.microsoft.com/office/drawing/2014/main" id="{B62501EA-A4E5-78D0-3E04-F3E2BF5DAC77}"/>
              </a:ext>
            </a:extLst>
          </p:cNvPr>
          <p:cNvSpPr txBox="1"/>
          <p:nvPr/>
        </p:nvSpPr>
        <p:spPr>
          <a:xfrm>
            <a:off x="5108642" y="583660"/>
            <a:ext cx="1974716" cy="369332"/>
          </a:xfrm>
          <a:prstGeom prst="rect">
            <a:avLst/>
          </a:prstGeom>
          <a:solidFill>
            <a:srgbClr val="00B050"/>
          </a:solidFill>
        </p:spPr>
        <p:txBody>
          <a:bodyPr wrap="square" rtlCol="0">
            <a:spAutoFit/>
          </a:bodyPr>
          <a:lstStyle/>
          <a:p>
            <a:pPr algn="ctr"/>
            <a:r>
              <a:rPr lang="ce-Cyrl-RU" b="1" dirty="0"/>
              <a:t>НОХЧИЙН</a:t>
            </a:r>
            <a:endParaRPr lang="nl-BE" dirty="0"/>
          </a:p>
        </p:txBody>
      </p:sp>
      <p:sp>
        <p:nvSpPr>
          <p:cNvPr id="2" name="Title 1">
            <a:extLst>
              <a:ext uri="{FF2B5EF4-FFF2-40B4-BE49-F238E27FC236}">
                <a16:creationId xmlns:a16="http://schemas.microsoft.com/office/drawing/2014/main" id="{FA938F8D-88FC-1422-D03E-F577C0401877}"/>
              </a:ext>
            </a:extLst>
          </p:cNvPr>
          <p:cNvSpPr txBox="1">
            <a:spLocks noGrp="1"/>
          </p:cNvSpPr>
          <p:nvPr>
            <p:ph type="title" idx="4294967295"/>
          </p:nvPr>
        </p:nvSpPr>
        <p:spPr>
          <a:xfrm>
            <a:off x="2817223" y="1306286"/>
            <a:ext cx="6557554"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1. </a:t>
            </a:r>
            <a:r>
              <a:rPr kumimoji="0" lang="ru-RU" sz="2400" b="1" i="0" u="none" strike="noStrike" kern="1200" cap="none" spc="0" normalizeH="0" baseline="0" noProof="0" dirty="0">
                <a:ln>
                  <a:noFill/>
                </a:ln>
                <a:solidFill>
                  <a:schemeClr val="tx1"/>
                </a:solidFill>
                <a:effectLst/>
                <a:uLnTx/>
                <a:uFillTx/>
                <a:latin typeface="+mn-lt"/>
                <a:ea typeface="+mn-ea"/>
                <a:cs typeface="+mn-cs"/>
              </a:rPr>
              <a:t>Сан дашал ч</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ог</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ах йу цуьнан оьздангалла</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4293172063"/>
      </p:ext>
    </p:extLst>
  </p:cSld>
  <p:clrMapOvr>
    <a:masterClrMapping/>
  </p:clrMapOvr>
  <mc:AlternateContent xmlns:mc="http://schemas.openxmlformats.org/markup-compatibility/2006" xmlns:p14="http://schemas.microsoft.com/office/powerpoint/2010/main">
    <mc:Choice Requires="p14">
      <p:transition spd="med" p14:dur="700" advTm="3000">
        <p:fade/>
      </p:transition>
    </mc:Choice>
    <mc:Fallback xmlns="">
      <p:transition spd="med" advTm="3000">
        <p:fade/>
      </p:transition>
    </mc:Fallback>
  </mc:AlternateContent>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Gallery</Template>
  <TotalTime>0</TotalTime>
  <Words>459</Words>
  <Application>Microsoft Office PowerPoint</Application>
  <PresentationFormat>Widescreen</PresentationFormat>
  <Paragraphs>22</Paragraphs>
  <Slides>7</Slides>
  <Notes>0</Notes>
  <HiddenSlides>0</HiddenSlides>
  <MMClips>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Alasassy Caps</vt:lpstr>
      <vt:lpstr>Arial</vt:lpstr>
      <vt:lpstr>Gill Sans MT</vt:lpstr>
      <vt:lpstr>Gallery</vt:lpstr>
      <vt:lpstr>Опыт изучения ингушского языка</vt:lpstr>
      <vt:lpstr>Мудрые наставления наших предков из ингушского фольклора И.А. Дахкильгов, 2000г.</vt:lpstr>
      <vt:lpstr>предисловие</vt:lpstr>
      <vt:lpstr>Са дешал чIоагIагI да цун эздел </vt:lpstr>
      <vt:lpstr>1. Са дешал ч1оагIагI да цун эздел</vt:lpstr>
      <vt:lpstr>1. His nobility speaks louder than my words</vt:lpstr>
      <vt:lpstr>1. Сан дашал чIогIах йу цуьнан оьздангалла</vt:lpstr>
    </vt:vector>
  </TitlesOfParts>
  <Company>FPS Public Health Belgium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Abdulvakhid Shoudouev (FOD VVVL - SPF SPSCAE)</dc:creator>
  <cp:lastModifiedBy>Abdulvakhid Shoudouev (FOD VVVL - SPF SPSCAE)</cp:lastModifiedBy>
  <cp:revision>62</cp:revision>
  <dcterms:created xsi:type="dcterms:W3CDTF">2026-06-01T18:53:02Z</dcterms:created>
  <dcterms:modified xsi:type="dcterms:W3CDTF">2026-06-09T20:31:21Z</dcterms:modified>
</cp:coreProperties>
</file>