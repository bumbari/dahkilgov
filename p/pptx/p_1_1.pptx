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71558" autoAdjust="0"/>
  </p:normalViewPr>
  <p:slideViewPr>
    <p:cSldViewPr snapToGrid="0">
      <p:cViewPr varScale="1">
        <p:scale>
          <a:sx n="68" d="100"/>
          <a:sy n="68" d="100"/>
        </p:scale>
        <p:origin x="1219" y="62"/>
      </p:cViewPr>
      <p:guideLst/>
    </p:cSldViewPr>
  </p:slideViewPr>
  <p:outlineViewPr>
    <p:cViewPr>
      <p:scale>
        <a:sx n="33" d="100"/>
        <a:sy n="33" d="100"/>
      </p:scale>
      <p:origin x="0" y="0"/>
    </p:cViewPr>
  </p:outlin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15/06/2026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Эздел – ключевое слово, не случайно первая притча об этом.</a:t>
            </a:r>
            <a:br>
              <a:rPr lang="ce-Cyrl-RU" dirty="0"/>
            </a:br>
            <a:r>
              <a:rPr lang="ce-Cyrl-RU" dirty="0"/>
              <a:t>Ч1ог1аг1 – сильнее, “ч1ог1ах” на чеч. Если в чеч. здесь конечная глухая “х”, то в инг. это произносится твердо, как “г1”. </a:t>
            </a:r>
            <a:br>
              <a:rPr lang="ce-Cyrl-RU" dirty="0"/>
            </a:br>
            <a:r>
              <a:rPr lang="ce-Cyrl-RU" dirty="0"/>
              <a:t>Ц1аг1а – “в доме”. У меня, как у чеченца, возникли сложности с этим словом. Если перевести буквально на чеченский, то получается “ц1ахь”, но тогда это переводится как “у себя дома”. Я бы перевел это как “ц1енна чохь” – “в доме” (“ц1енна чухь” на ингушском), со словом “ц1а” в дательном падеже.</a:t>
            </a:r>
            <a:r>
              <a:rPr lang="ru-RU" dirty="0"/>
              <a:t> </a:t>
            </a:r>
            <a:r>
              <a:rPr lang="ce-Cyrl-RU" dirty="0"/>
              <a:t>Но, п</a:t>
            </a:r>
            <a:r>
              <a:rPr lang="ru-RU" dirty="0"/>
              <a:t>охоже, здесь слово ц1а в местном падеже</a:t>
            </a:r>
            <a:r>
              <a:rPr lang="ce-Cyrl-RU" dirty="0"/>
              <a:t>, показывает, что пророк шел по направлению к этому дому.</a:t>
            </a:r>
            <a:r>
              <a:rPr lang="ru-RU" dirty="0"/>
              <a:t> </a:t>
            </a:r>
            <a:r>
              <a:rPr lang="ce-Cyrl-RU" dirty="0"/>
              <a:t>В ингушском, по сравнению с чеченским, гораздо чаще используются различные формы местных падежей, для выражения всех нюансов пространственных отношений. Слово “ц1аг1а” нам еще будет встречаться в других притчах, я надеюсь, что в дальнейшем для меня самого употребление этого слова будет понятнее.</a:t>
            </a:r>
            <a:br>
              <a:rPr lang="en-US" dirty="0"/>
            </a:br>
            <a:r>
              <a:rPr lang="ce-Cyrl-RU" dirty="0"/>
              <a:t>Берригаш - по-чеченски есть слово “берриш”, но оно редко употребляется. </a:t>
            </a:r>
            <a:br>
              <a:rPr lang="ce-Cyrl-RU" dirty="0"/>
            </a:br>
            <a:r>
              <a:rPr lang="ce-Cyrl-RU" dirty="0"/>
              <a:t>Веррига – весь человек, берригаш – все люди. </a:t>
            </a:r>
            <a:r>
              <a:rPr lang="ce-Cyrl-RU"/>
              <a:t>(спрягается по классам – деррига, и т.д.)</a:t>
            </a:r>
          </a:p>
          <a:p>
            <a:r>
              <a:rPr lang="ru-RU" sz="1200" dirty="0"/>
              <a:t>Латтийсав</a:t>
            </a:r>
            <a:r>
              <a:rPr lang="ce-Cyrl-RU" sz="1200" dirty="0"/>
              <a:t> – опечатка, должно быть “латта висав”.</a:t>
            </a:r>
            <a:br>
              <a:rPr lang="ce-Cyrl-RU" sz="1200" dirty="0"/>
            </a:br>
            <a:r>
              <a:rPr lang="ce-Cyrl-RU" sz="1200" dirty="0"/>
              <a:t>1оха – во мн. числе 1оховша. </a:t>
            </a:r>
            <a:r>
              <a:rPr lang="ru-RU" sz="1200" dirty="0"/>
              <a:t>П</a:t>
            </a:r>
            <a:r>
              <a:rPr lang="ce-Cyrl-RU" sz="1200" dirty="0"/>
              <a:t>о-ингушски “1о”, по-чеченски “охьа”, на самом деле звук, похожий на “</a:t>
            </a:r>
            <a:r>
              <a:rPr lang="en-US" sz="1200" dirty="0" err="1"/>
              <a:t>wa</a:t>
            </a:r>
            <a:r>
              <a:rPr lang="en-US" sz="1200" dirty="0"/>
              <a:t>”</a:t>
            </a:r>
            <a:r>
              <a:rPr lang="ce-Cyrl-RU" sz="1200" dirty="0"/>
              <a:t>.</a:t>
            </a:r>
            <a:br>
              <a:rPr lang="ce-Cyrl-RU" sz="1200" dirty="0"/>
            </a:br>
            <a:r>
              <a:rPr lang="ru-RU" sz="1200" dirty="0"/>
              <a:t>Б</a:t>
            </a:r>
            <a:r>
              <a:rPr lang="ce-Cyrl-RU" sz="1200" dirty="0"/>
              <a:t>ехк баккха, бехкаш даха, бехк ба, бехкаш да – класс (б,д). </a:t>
            </a:r>
            <a:r>
              <a:rPr lang="ru-RU" sz="1200" dirty="0"/>
              <a:t>Б</a:t>
            </a:r>
            <a:r>
              <a:rPr lang="ce-Cyrl-RU" sz="1200" dirty="0"/>
              <a:t>ехк баккха – буквально “вытаскивать вину”, “чкъаьра баккха”. </a:t>
            </a:r>
          </a:p>
          <a:p>
            <a:r>
              <a:rPr lang="ce-Cyrl-RU" sz="1200" dirty="0"/>
              <a:t>Сий – сих, вещественный падеж</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a:t>
            </a:r>
            <a:r>
              <a:rPr lang="nl-BE" dirty="0"/>
              <a:t>U+04C0 – </a:t>
            </a:r>
            <a:r>
              <a:rPr lang="ce-Cyrl-RU" dirty="0"/>
              <a:t>код заглавной буквы, </a:t>
            </a:r>
            <a:r>
              <a:rPr lang="nl-BE" dirty="0"/>
              <a:t>U+04CF </a:t>
            </a:r>
            <a:r>
              <a:rPr lang="en-US" dirty="0"/>
              <a:t>- </a:t>
            </a:r>
            <a:r>
              <a:rPr lang="ce-Cyrl-RU" dirty="0"/>
              <a:t>код строчной буквы), но его нет ни в русской раскладке клавиатуры, ни в английской. </a:t>
            </a:r>
            <a:br>
              <a:rPr lang="ce-Cyrl-RU" dirty="0"/>
            </a:br>
            <a:r>
              <a:rPr lang="ce-Cyrl-RU" dirty="0"/>
              <a:t>Клавиши “Вертикальная палочка” и заглавная английская буква “</a:t>
            </a:r>
            <a:r>
              <a:rPr lang="en-US" dirty="0"/>
              <a:t>I</a:t>
            </a:r>
            <a:r>
              <a:rPr lang="ce-Cyrl-RU" dirty="0"/>
              <a:t>”</a:t>
            </a:r>
            <a:r>
              <a:rPr lang="en-US" dirty="0"/>
              <a:t> </a:t>
            </a:r>
            <a:r>
              <a:rPr lang="ce-Cyrl-RU" dirty="0"/>
              <a:t>имеют другой код.</a:t>
            </a:r>
            <a:br>
              <a:rPr lang="ce-Cyrl-RU" dirty="0"/>
            </a:br>
            <a:r>
              <a:rPr lang="ce-Cyrl-RU" dirty="0"/>
              <a:t>Раньше на печатных машинках цифра “1” и английская “</a:t>
            </a:r>
            <a:r>
              <a:rPr lang="en-US" dirty="0"/>
              <a:t>I” </a:t>
            </a:r>
            <a:r>
              <a:rPr lang="ce-Cyrl-RU" dirty="0"/>
              <a:t>выглядели одинаково, поэтому раньше такой проблемы не было. На практике люди часто используют цифру “1”. Латинская буква </a:t>
            </a:r>
            <a:r>
              <a:rPr lang="en-US" dirty="0"/>
              <a:t>“I” </a:t>
            </a:r>
            <a:r>
              <a:rPr lang="ce-Cyrl-RU" dirty="0"/>
              <a:t>больше похожа на кириллическую палочку, но для этого надо специально для этой буквы временно переключаться на английскую раскладку.</a:t>
            </a:r>
            <a:br>
              <a:rPr lang="en-US" dirty="0"/>
            </a:br>
            <a:r>
              <a:rPr lang="ce-Cyrl-RU" dirty="0"/>
              <a:t>ОЬ: хьога – хьоьга;</a:t>
            </a:r>
            <a:br>
              <a:rPr lang="ce-Cyrl-RU" dirty="0"/>
            </a:br>
            <a:r>
              <a:rPr lang="ce-Cyrl-RU" dirty="0"/>
              <a:t>УЬ: цун, цунга – цуьнан, цуьнга; уж – уьш: </a:t>
            </a:r>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br>
              <a:rPr lang="ce-Cyrl-RU" dirty="0"/>
            </a:br>
            <a:r>
              <a:rPr lang="ce-Cyrl-RU" dirty="0"/>
              <a:t>Ф: языки без звука “ф” в исконных словах – русский, персидский, грузинский, чеченский; языки без звука “п” – арабский. Похоже, что в исконно ингушских словах есть оба этих звука. Интересно турецкое слово “фес” (феска, тюбетейка). В чеч. оно трансформировалось в “пес”, в инг. звук “ф” сохранился : “фазиг”.</a:t>
            </a:r>
            <a:br>
              <a:rPr lang="ce-Cyrl-RU" dirty="0"/>
            </a:br>
            <a:r>
              <a:rPr lang="ce-Cyrl-RU" dirty="0"/>
              <a:t>Е: г1айттаб – г1еттина; 1охайшача – охьахевшича;</a:t>
            </a:r>
            <a:br>
              <a:rPr lang="ce-Cyrl-RU" dirty="0"/>
            </a:br>
            <a:r>
              <a:rPr lang="ce-Cyrl-RU" dirty="0"/>
              <a:t>Назальные звуки: в чеч. назальный звук “н” пишется в некоторых односложных словах : дин, ан, г1ан, и в родительном падеже : сан, стаган, ... </a:t>
            </a:r>
            <a:br>
              <a:rPr lang="ce-Cyrl-RU" dirty="0"/>
            </a:br>
            <a:r>
              <a:rPr lang="ce-Cyrl-RU" dirty="0"/>
              <a:t>Назальный звук в ингушском выявляется при образовании мн. числа, там он теряет назальность:</a:t>
            </a:r>
            <a:br>
              <a:rPr lang="ce-Cyrl-RU" dirty="0"/>
            </a:br>
            <a:r>
              <a:rPr lang="ce-Cyrl-RU" dirty="0"/>
              <a:t>ди – динаш, а – анаш, г1а – г1анаш</a:t>
            </a:r>
            <a:br>
              <a:rPr lang="ce-Cyrl-RU" dirty="0"/>
            </a:br>
            <a:r>
              <a:rPr lang="ce-Cyrl-RU" dirty="0"/>
              <a:t>Ж, З: аналогичная ситуация, например, с английским – Джек, Джон, Дзорро.</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15/06/2026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15/06/2026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15/06/2026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15/06/2026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15/06/2026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15/06/2026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15/06/2026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15/06/2026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438400" y="221474"/>
            <a:ext cx="5043185" cy="489726"/>
          </a:xfrm>
        </p:spPr>
        <p:txBody>
          <a:bodyPr>
            <a:normAutofit fontScale="90000"/>
          </a:bodyPr>
          <a:lstStyle/>
          <a:p>
            <a:r>
              <a:rPr lang="ru-RU" dirty="0"/>
              <a:t>Г</a:t>
            </a:r>
            <a:r>
              <a:rPr lang="ce-Cyrl-RU" dirty="0"/>
              <a:t>рамматика : АЛФАВИТ</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Буквы,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dirty="0">
                <a:solidFill>
                  <a:prstClr val="black"/>
                </a:solidFill>
              </a:rPr>
              <a:t>I </a:t>
            </a:r>
            <a:r>
              <a:rPr lang="ce-Cyrl-RU" dirty="0">
                <a:solidFill>
                  <a:prstClr val="black"/>
                </a:solidFill>
              </a:rPr>
              <a:t>или цифрой </a:t>
            </a:r>
            <a:r>
              <a:rPr lang="ce-Cyrl-RU" dirty="0">
                <a:solidFill>
                  <a:prstClr val="black"/>
                </a:solidFill>
                <a:latin typeface="Times New Roman" panose="02020603050405020304" pitchFamily="18" charset="0"/>
              </a:rPr>
              <a:t>1</a:t>
            </a:r>
            <a:r>
              <a:rPr lang="ce-Cyrl-RU" dirty="0">
                <a:solidFill>
                  <a:prstClr val="black"/>
                </a:solidFill>
              </a:rPr>
              <a:t>.</a:t>
            </a:r>
            <a:endParaRPr kumimoji="0" lang="en-US" sz="1800" b="0" i="1"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она есть,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чеч.</a:t>
            </a:r>
            <a:r>
              <a:rPr kumimoji="0" lang="ce-Cyrl-RU" sz="1800" b="0" i="0" u="none" strike="noStrike" kern="1200" cap="none" spc="0" normalizeH="0" noProof="0" dirty="0">
                <a:ln>
                  <a:noFill/>
                </a:ln>
                <a:solidFill>
                  <a:prstClr val="black"/>
                </a:solidFill>
                <a:effectLst/>
                <a:uLnTx/>
                <a:uFillTx/>
                <a:ea typeface="+mn-ea"/>
                <a:cs typeface="+mn-cs"/>
              </a:rPr>
              <a:t> “Дела реза хуьлда” и инг. “Даьла раьза хилда”.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Назальных звуков меньше, чем в чеченском, в письме они никак не отображаются.</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“ш” на конце обычно произносится звонко, как “ж” (ср. чеч. “уьш” – инг. “уж”)</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1528</Words>
  <Application>Microsoft Office PowerPoint</Application>
  <PresentationFormat>Widescreen</PresentationFormat>
  <Paragraphs>52</Paragraphs>
  <Slides>10</Slides>
  <Notes>3</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113</cp:revision>
  <dcterms:created xsi:type="dcterms:W3CDTF">2026-06-01T18:53:02Z</dcterms:created>
  <dcterms:modified xsi:type="dcterms:W3CDTF">2026-06-15T20:56:52Z</dcterms:modified>
</cp:coreProperties>
</file>