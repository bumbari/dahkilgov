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62" r:id="rId4"/>
    <p:sldId id="258" r:id="rId5"/>
    <p:sldId id="259" r:id="rId6"/>
    <p:sldId id="260" r:id="rId7"/>
    <p:sldId id="261" r:id="rId8"/>
    <p:sldId id="263" r:id="rId9"/>
    <p:sldId id="266"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94688" autoAdjust="0"/>
  </p:normalViewPr>
  <p:slideViewPr>
    <p:cSldViewPr snapToGrid="0">
      <p:cViewPr varScale="1">
        <p:scale>
          <a:sx n="90" d="100"/>
          <a:sy n="90" d="100"/>
        </p:scale>
        <p:origin x="355" y="67"/>
      </p:cViewPr>
      <p:guideLst/>
    </p:cSldViewPr>
  </p:slideViewPr>
  <p:outlineViewPr>
    <p:cViewPr>
      <p:scale>
        <a:sx n="33" d="100"/>
        <a:sy n="33" d="100"/>
      </p:scale>
      <p:origin x="0" y="0"/>
    </p:cViewPr>
  </p:outlin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11/06/2026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11/06/2026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11/06/2026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11/06/2026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11/06/2026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11/06/2026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11/06/2026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11/06/2026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11/06/2026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11/06/2026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11/06/2026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11/06/2026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4"/>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1477328"/>
          </a:xfrm>
          <a:prstGeom prst="rect">
            <a:avLst/>
          </a:prstGeom>
          <a:noFill/>
        </p:spPr>
        <p:txBody>
          <a:bodyPr wrap="square" rtlCol="0">
            <a:spAutoFit/>
          </a:bodyPr>
          <a:lstStyle/>
          <a:p>
            <a:r>
              <a:rPr lang="ru-RU" dirty="0"/>
              <a:t>Гулбенна нах багӀача цӀагӀа Мохьмад-пайхамар чуваьлча, берригаш гӀайттаб. Пайхамара Ӏоха а аьнна, уж Ӏохайшача, цхьа зӀамига саг латтийсав. Пайхамара шозлагӀа а а</a:t>
            </a:r>
            <a:r>
              <a:rPr lang="ce-Cyrl-RU" dirty="0"/>
              <a:t>ь</a:t>
            </a:r>
            <a:r>
              <a:rPr lang="ru-RU"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dirty="0"/>
              <a:t>- Бехкаш ма даха цох. Са дешал чӀоагӀагӀа да цун сих доалла эздел.</a:t>
            </a:r>
            <a:endParaRPr lang="nl-BE" dirty="0"/>
          </a:p>
        </p:txBody>
      </p:sp>
      <p:sp>
        <p:nvSpPr>
          <p:cNvPr id="9" name="Title 8">
            <a:extLst>
              <a:ext uri="{FF2B5EF4-FFF2-40B4-BE49-F238E27FC236}">
                <a16:creationId xmlns:a16="http://schemas.microsoft.com/office/drawing/2014/main" id="{3AA59CDE-27B2-5D45-7DA2-B9D987E3C5BA}"/>
              </a:ext>
            </a:extLst>
          </p:cNvPr>
          <p:cNvSpPr txBox="1">
            <a:spLocks/>
          </p:cNvSpPr>
          <p:nvPr/>
        </p:nvSpPr>
        <p:spPr>
          <a:xfrm>
            <a:off x="885217" y="3784060"/>
            <a:ext cx="10379413" cy="203132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1800" b="1" i="0" u="none" strike="noStrike" kern="1200" cap="none" spc="0" normalizeH="0" baseline="0" noProof="0" dirty="0">
                <a:ln>
                  <a:noFill/>
                </a:ln>
                <a:solidFill>
                  <a:schemeClr val="tx1"/>
                </a:solidFill>
                <a:effectLst/>
                <a:uLnTx/>
                <a:uFillTx/>
                <a:latin typeface="+mn-lt"/>
                <a:ea typeface="+mn-ea"/>
                <a:cs typeface="+mn-cs"/>
              </a:rPr>
              <a:t>Его благородство сильнее моих слов</a:t>
            </a:r>
            <a:br>
              <a:rPr kumimoji="0" lang="ce-Cyrl-RU" sz="1800" b="1" i="0" u="none" strike="noStrike" kern="1200" cap="none" spc="0" normalizeH="0" baseline="0" noProof="0" dirty="0">
                <a:ln>
                  <a:noFill/>
                </a:ln>
                <a:solidFill>
                  <a:schemeClr val="tx1"/>
                </a:solidFill>
                <a:effectLst/>
                <a:uLnTx/>
                <a:uFillTx/>
                <a:latin typeface="+mn-lt"/>
                <a:ea typeface="+mn-ea"/>
                <a:cs typeface="+mn-cs"/>
              </a:rPr>
            </a:br>
            <a:endParaRPr kumimoji="0" lang="ru-RU" sz="1800" b="1" i="0" u="none" strike="noStrike" kern="1200" cap="none" spc="0" normalizeH="0" baseline="0" noProof="0" dirty="0">
              <a:ln>
                <a:noFill/>
              </a:ln>
              <a:solidFill>
                <a:schemeClr val="tx1"/>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1800" b="0" i="0" u="none" strike="noStrike" kern="1200" cap="none" spc="0" normalizeH="0" baseline="0" noProof="0" dirty="0">
                <a:ln>
                  <a:noFill/>
                </a:ln>
                <a:solidFill>
                  <a:schemeClr val="tx1"/>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1800" b="0" i="0" u="none" strike="noStrike" kern="1200" cap="none" spc="0" normalizeH="0" baseline="0" noProof="0" dirty="0">
                <a:ln>
                  <a:noFill/>
                </a:ln>
                <a:solidFill>
                  <a:schemeClr val="tx1"/>
                </a:solidFill>
                <a:effectLst/>
                <a:uLnTx/>
                <a:uFillTx/>
                <a:latin typeface="+mn-lt"/>
                <a:ea typeface="+mn-ea"/>
                <a:cs typeface="+mn-cs"/>
              </a:rPr>
              <a:t> </a:t>
            </a:r>
            <a:r>
              <a:rPr kumimoji="0" lang="ru-RU" sz="1800" b="0" i="0" u="none" strike="noStrike" kern="1200" cap="none" spc="0" normalizeH="0" baseline="0" noProof="0" dirty="0">
                <a:ln>
                  <a:noFill/>
                </a:ln>
                <a:solidFill>
                  <a:schemeClr val="tx1"/>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1800" b="0" i="0" u="none" strike="noStrike" kern="1200" cap="none" spc="0" normalizeH="0" baseline="0" noProof="0" dirty="0">
                <a:ln>
                  <a:noFill/>
                </a:ln>
                <a:solidFill>
                  <a:schemeClr val="tx1"/>
                </a:solidFill>
                <a:effectLst/>
                <a:uLnTx/>
                <a:uFillTx/>
                <a:latin typeface="+mn-lt"/>
                <a:ea typeface="+mn-ea"/>
                <a:cs typeface="+mn-cs"/>
              </a:rPr>
              <a:t>“Не обижайте юношу. Благородство, впитавшееся в его душу, сильнее моих слов”.</a:t>
            </a:r>
            <a:r>
              <a:rPr kumimoji="0" lang="ce-Cyrl-RU" sz="1800" b="0" i="0" u="none" strike="noStrike" kern="1200" cap="none" spc="0" normalizeH="0" baseline="0" noProof="0" dirty="0">
                <a:ln>
                  <a:noFill/>
                </a:ln>
                <a:solidFill>
                  <a:schemeClr val="tx1"/>
                </a:solidFill>
                <a:effectLst/>
                <a:uLnTx/>
                <a:uFillTx/>
                <a:latin typeface="+mn-lt"/>
                <a:ea typeface="+mn-ea"/>
                <a:cs typeface="+mn-cs"/>
              </a:rPr>
              <a:t> </a:t>
            </a:r>
            <a:endParaRPr kumimoji="0" lang="nl-BE" sz="1800" b="0" i="0" u="none" strike="noStrike" kern="1200" cap="none" spc="0" normalizeH="0" baseline="0" noProof="0" dirty="0">
              <a:ln>
                <a:noFill/>
              </a:ln>
              <a:solidFill>
                <a:schemeClr val="tx1"/>
              </a:solidFill>
              <a:effectLst/>
              <a:uLnTx/>
              <a:uFillTx/>
              <a:latin typeface="+mn-lt"/>
              <a:ea typeface="+mn-ea"/>
              <a:cs typeface="+mn-cs"/>
            </a:endParaRPr>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3435531" y="857983"/>
            <a:ext cx="5068389"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3000">
        <p:fade/>
      </p:transition>
    </mc:Choice>
    <mc:Fallback xmlns="">
      <p:transition spd="med" advTm="3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 чохь Мохьмад-пайхмар (Делера салам-маршал хуьлда цунна) чуваьлча, </a:t>
            </a:r>
            <a:r>
              <a:rPr lang="ce-Cyrl-RU" sz="2400"/>
              <a:t>берриш</a:t>
            </a:r>
            <a:r>
              <a:rPr lang="ru-RU" sz="2400"/>
              <a:t> </a:t>
            </a:r>
            <a:r>
              <a:rPr lang="ru-RU" sz="2400" dirty="0"/>
              <a:t>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3000">
        <p:fade/>
      </p:transition>
    </mc:Choice>
    <mc:Fallback xmlns="">
      <p:transition spd="med" advTm="3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450477" y="1317812"/>
            <a:ext cx="6676464" cy="461665"/>
          </a:xfrm>
          <a:prstGeom prst="rect">
            <a:avLst/>
          </a:prstGeom>
          <a:noFill/>
        </p:spPr>
        <p:txBody>
          <a:bodyPr wrap="square" rtlCol="0">
            <a:spAutoFit/>
          </a:bodyPr>
          <a:lstStyle/>
          <a:p>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4710415" y="221474"/>
            <a:ext cx="2771170" cy="489726"/>
          </a:xfrm>
        </p:spPr>
        <p:txBody>
          <a:bodyPr>
            <a:normAutofit fontScale="90000"/>
          </a:bodyPr>
          <a:lstStyle/>
          <a:p>
            <a:r>
              <a:rPr lang="ce-Cyrl-RU" dirty="0"/>
              <a:t>грамматика</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61950" y="711200"/>
            <a:ext cx="9095317" cy="5909310"/>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которых нет в русском :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endParaRPr kumimoji="0" lang="en-US" sz="1800" b="0" i="1"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Присутствует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a:t>
            </a:r>
            <a:r>
              <a:rPr kumimoji="0" lang="ru-RU" sz="1800" b="1" i="0" u="none" strike="noStrike" kern="1200" cap="none" spc="0" normalizeH="0" baseline="0" noProof="0" dirty="0">
                <a:ln>
                  <a:noFill/>
                </a:ln>
                <a:solidFill>
                  <a:prstClr val="black"/>
                </a:solidFill>
                <a:effectLst/>
                <a:uLnTx/>
                <a:uFillTx/>
                <a:ea typeface="+mn-ea"/>
                <a:cs typeface="+mn-cs"/>
              </a:rPr>
              <a:t>Ӏ</a:t>
            </a:r>
            <a:r>
              <a:rPr kumimoji="0" lang="ce-Cyrl-RU" sz="1800" b="0" i="0" u="none" strike="noStrike" kern="1200" cap="none" spc="0" normalizeH="0" baseline="0" noProof="0" dirty="0">
                <a:ln>
                  <a:noFill/>
                </a:ln>
                <a:solidFill>
                  <a:prstClr val="black"/>
                </a:solidFill>
                <a:effectLst/>
                <a:uLnTx/>
                <a:uFillTx/>
                <a:ea typeface="+mn-ea"/>
                <a:cs typeface="+mn-cs"/>
              </a:rPr>
              <a:t> (кирилл. палочка), на практике ее заменяют латинской </a:t>
            </a:r>
            <a:r>
              <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rPr>
              <a:t>I </a:t>
            </a:r>
            <a:r>
              <a:rPr kumimoji="0" lang="ce-Cyrl-RU" sz="1800" b="0" i="0" u="none" strike="noStrike" kern="1200" cap="none" spc="0" normalizeH="0" baseline="0" noProof="0" dirty="0">
                <a:ln>
                  <a:noFill/>
                </a:ln>
                <a:solidFill>
                  <a:prstClr val="black"/>
                </a:solidFill>
                <a:effectLst/>
                <a:uLnTx/>
                <a:uFillTx/>
                <a:ea typeface="+mn-ea"/>
                <a:cs typeface="+mn-cs"/>
              </a:rPr>
              <a:t>или цифрой </a:t>
            </a:r>
            <a:r>
              <a:rPr kumimoji="0" lang="ce-Cyrl-RU"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mn-cs"/>
              </a:rPr>
              <a:t>1</a:t>
            </a:r>
            <a:r>
              <a:rPr kumimoji="0" lang="ce-Cyrl-RU" sz="1800" b="0" i="0" u="none" strike="noStrike" kern="1200" cap="none" spc="0" normalizeH="0" baseline="0" noProof="0" dirty="0">
                <a:ln>
                  <a:noFill/>
                </a:ln>
                <a:solidFill>
                  <a:prstClr val="black"/>
                </a:solidFill>
                <a:effectLst/>
                <a:uLnTx/>
                <a:uFillTx/>
                <a:ea typeface="+mn-ea"/>
                <a:cs typeface="+mn-cs"/>
              </a:rPr>
              <a:t>.</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Не свойственно наличие двух или более согласных в начале слова: </a:t>
            </a:r>
            <a:r>
              <a:rPr kumimoji="0" lang="ce-Cyrl-RU" sz="1800" b="0" i="1" u="none" strike="noStrike" kern="1200" cap="none" spc="0" normalizeH="0" baseline="0" noProof="0" dirty="0">
                <a:ln>
                  <a:noFill/>
                </a:ln>
                <a:solidFill>
                  <a:prstClr val="black"/>
                </a:solidFill>
                <a:effectLst/>
                <a:uLnTx/>
                <a:uFillTx/>
                <a:ea typeface="+mn-ea"/>
                <a:cs typeface="+mn-cs"/>
              </a:rPr>
              <a:t>школа – ишкол, стол – истол</a:t>
            </a:r>
            <a:r>
              <a:rPr kumimoji="0" lang="ce-Cyrl-RU" sz="1800" b="0" i="0" u="none" strike="noStrike" kern="1200" cap="none" spc="0" normalizeH="0" baseline="0" noProof="0" dirty="0">
                <a:ln>
                  <a:noFill/>
                </a:ln>
                <a:solidFill>
                  <a:prstClr val="black"/>
                </a:solidFill>
                <a:effectLst/>
                <a:uLnTx/>
                <a:uFillTx/>
                <a:ea typeface="+mn-ea"/>
                <a:cs typeface="+mn-cs"/>
              </a:rPr>
              <a:t>. Исключение - </a:t>
            </a:r>
            <a:r>
              <a:rPr kumimoji="0" lang="ce-Cyrl-RU" sz="1800" b="0" i="1" u="none" strike="noStrike" kern="1200" cap="none" spc="0" normalizeH="0" baseline="0" noProof="0" dirty="0">
                <a:ln>
                  <a:noFill/>
                </a:ln>
                <a:solidFill>
                  <a:prstClr val="black"/>
                </a:solidFill>
                <a:effectLst/>
                <a:uLnTx/>
                <a:uFillTx/>
                <a:ea typeface="+mn-ea"/>
                <a:cs typeface="+mn-cs"/>
              </a:rPr>
              <a:t>1, х, хь, къ</a:t>
            </a:r>
            <a:r>
              <a:rPr kumimoji="0" lang="ce-Cyrl-RU" sz="1800" b="0" i="0" u="none" strike="noStrike" kern="1200" cap="none" spc="0" normalizeH="0" baseline="0" noProof="0" dirty="0">
                <a:ln>
                  <a:noFill/>
                </a:ln>
                <a:solidFill>
                  <a:prstClr val="black"/>
                </a:solidFill>
                <a:effectLst/>
                <a:uLnTx/>
                <a:uFillTx/>
                <a:ea typeface="+mn-ea"/>
                <a:cs typeface="+mn-cs"/>
              </a:rPr>
              <a:t> – </a:t>
            </a:r>
            <a:r>
              <a:rPr kumimoji="0" lang="ce-Cyrl-RU" sz="1800" b="0" i="1" u="none" strike="noStrike" kern="1200" cap="none" spc="0" normalizeH="0" baseline="0" noProof="0" dirty="0">
                <a:ln>
                  <a:noFill/>
                </a:ln>
                <a:solidFill>
                  <a:prstClr val="black"/>
                </a:solidFill>
                <a:effectLst/>
                <a:uLnTx/>
                <a:uFillTx/>
                <a:ea typeface="+mn-ea"/>
                <a:cs typeface="+mn-cs"/>
              </a:rPr>
              <a:t>м1ара, тха, цхьайтта, ткъо</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Чеченский допускает</a:t>
            </a:r>
            <a:r>
              <a:rPr kumimoji="0" lang="ce-Cyrl-RU" sz="1800" b="0" i="0" u="none" strike="noStrike" kern="1200" cap="none" spc="0" normalizeH="0" noProof="0" dirty="0">
                <a:ln>
                  <a:noFill/>
                </a:ln>
                <a:solidFill>
                  <a:prstClr val="black"/>
                </a:solidFill>
                <a:effectLst/>
                <a:uLnTx/>
                <a:uFillTx/>
                <a:ea typeface="+mn-ea"/>
                <a:cs typeface="+mn-cs"/>
              </a:rPr>
              <a:t> “ст” в начале, ср. “саг” (стаг), “сирг1а” (старг1а), “сома” (стомма).</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присутствует в исконно ингушских словах – 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чеч.</a:t>
            </a:r>
            <a:r>
              <a:rPr kumimoji="0" lang="ce-Cyrl-RU" sz="1800" b="0" i="0" u="none" strike="noStrike" kern="1200" cap="none" spc="0" normalizeH="0" noProof="0" dirty="0">
                <a:ln>
                  <a:noFill/>
                </a:ln>
                <a:solidFill>
                  <a:prstClr val="black"/>
                </a:solidFill>
                <a:effectLst/>
                <a:uLnTx/>
                <a:uFillTx/>
                <a:ea typeface="+mn-ea"/>
                <a:cs typeface="+mn-cs"/>
              </a:rPr>
              <a:t> “Дела реза хуьлда” и инг. “Даьла раьза хилда”.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Назальных звуков меньше, чем в чеченском, в письме они никак не отображаются.</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“ш” на конце обычно произносится звонко, как “ж” (ср. чеч. “уьш” – инг. “уж”)</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9">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0</TotalTime>
  <Words>927</Words>
  <Application>Microsoft Office PowerPoint</Application>
  <PresentationFormat>Widescreen</PresentationFormat>
  <Paragraphs>45</Paragraphs>
  <Slides>9</Slides>
  <Notes>0</Notes>
  <HiddenSlides>0</HiddenSlides>
  <MMClips>2</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Alasassy Caps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1. His nobility speaks louder than my words</vt:lpstr>
      <vt:lpstr>1. Сан дашал чIогIах йу цуьнан оьздангалла</vt:lpstr>
      <vt:lpstr>Лексика</vt:lpstr>
      <vt:lpstr>грамматика</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88</cp:revision>
  <dcterms:created xsi:type="dcterms:W3CDTF">2026-06-01T18:53:02Z</dcterms:created>
  <dcterms:modified xsi:type="dcterms:W3CDTF">2026-06-11T18:14:37Z</dcterms:modified>
</cp:coreProperties>
</file>