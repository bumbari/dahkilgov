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2"/>
  </p:notesMasterIdLst>
  <p:sldIdLst>
    <p:sldId id="256" r:id="rId2"/>
    <p:sldId id="257" r:id="rId3"/>
    <p:sldId id="262" r:id="rId4"/>
    <p:sldId id="258" r:id="rId5"/>
    <p:sldId id="259" r:id="rId6"/>
    <p:sldId id="267" r:id="rId7"/>
    <p:sldId id="260" r:id="rId8"/>
    <p:sldId id="261" r:id="rId9"/>
    <p:sldId id="263"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ru" id="{EC7CF159-B613-4BB0-A71F-6A447E7D2288}">
          <p14:sldIdLst>
            <p14:sldId id="267"/>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71558" autoAdjust="0"/>
  </p:normalViewPr>
  <p:slideViewPr>
    <p:cSldViewPr snapToGrid="0">
      <p:cViewPr varScale="1">
        <p:scale>
          <a:sx n="114" d="100"/>
          <a:sy n="114" d="100"/>
        </p:scale>
        <p:origin x="2028" y="96"/>
      </p:cViewPr>
      <p:guideLst/>
    </p:cSldViewPr>
  </p:slideViewPr>
  <p:outlineViewPr>
    <p:cViewPr>
      <p:scale>
        <a:sx n="33" d="100"/>
        <a:sy n="33" d="100"/>
      </p:scale>
      <p:origin x="0" y="0"/>
    </p:cViewPr>
  </p:outlin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0EF0D-C0AE-4057-9FB9-5976587F9AED}" type="datetimeFigureOut">
              <a:rPr lang="nl-BE" smtClean="0"/>
              <a:t>16/06/2026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988EC9-9D06-45FD-A085-36D14FED115C}" type="slidenum">
              <a:rPr lang="nl-BE" smtClean="0"/>
              <a:t>‹#›</a:t>
            </a:fld>
            <a:endParaRPr lang="nl-BE"/>
          </a:p>
        </p:txBody>
      </p:sp>
    </p:spTree>
    <p:extLst>
      <p:ext uri="{BB962C8B-B14F-4D97-AF65-F5344CB8AC3E}">
        <p14:creationId xmlns:p14="http://schemas.microsoft.com/office/powerpoint/2010/main" val="1553455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e-Cyrl-RU" dirty="0"/>
              <a:t>Де дика хилда шо, добрый день. Меня зовут Абдулвахид Шудуев. Я сам чеченец, в данной серии видео я хочу поделиться с вами своим опытом изучения ингушского языка. Идея изучить этот язык у меня возникла примерно двадцать лет назад, когда мой старший товарищ и друг, ингуш, принес мне почитать книгу Ибрагима Дахкильгова “Мудрые наставления наших предков”. Тогда я оцифровал эту книгу и опубликовал ее в интернете, она до сих пор там находится, по адресу </a:t>
            </a:r>
            <a:r>
              <a:rPr lang="en-US" dirty="0"/>
              <a:t>orga.narod.ru</a:t>
            </a:r>
            <a:r>
              <a:rPr lang="ce-Cyrl-RU" dirty="0"/>
              <a:t> , там же немного ранее я опубликовал книгу Шарани Джамбекова с чеченским фольклором. У ингушей и чеченцев много общего в фольклоре, оба автора, Джамбеков и Дахкильгов, знали друг друга, сотрудничали друг с другом. В двухтомнике Мусы Гешаева “Знаменитые ингуши” есть статья про Дахкильгова. </a:t>
            </a:r>
          </a:p>
          <a:p>
            <a:r>
              <a:rPr lang="ce-Cyrl-RU" dirty="0"/>
              <a:t>Цитата из этой статьи:</a:t>
            </a:r>
            <a:br>
              <a:rPr lang="ce-Cyrl-RU" dirty="0"/>
            </a:br>
            <a:r>
              <a:rPr lang="ce-Cyrl-RU" dirty="0"/>
              <a:t>“Фольклор связывает народы. Это язык не вражды, но взаимопонимания. Сказка – исток песни. Как родник берет свое начало в горах, так народные слово и мудрость проистекают из корневой системы жизни народов. Счастлив тот, кто взрастил и взлелеял все эти мудрости бытия в сердце, и кто делится этим сердечным прозрением с другими.”</a:t>
            </a:r>
          </a:p>
          <a:p>
            <a:r>
              <a:rPr lang="ce-Cyrl-RU" dirty="0"/>
              <a:t>Дала гештдойла Дахкильгов Ибрах1имна, Джамбеков Ша1ранина, Гешаев Мусана, жаль, что они и люди их поколения ушли, это были люди, много трудившиеся, много сделавшие для своих народов. </a:t>
            </a:r>
          </a:p>
          <a:p>
            <a:r>
              <a:rPr lang="ce-Cyrl-RU" dirty="0"/>
              <a:t>Дахкильгов, кстати, является также автором ингушского флага с этим красивым солярным знаком.</a:t>
            </a:r>
          </a:p>
          <a:p>
            <a:r>
              <a:rPr lang="ce-Cyrl-RU" dirty="0"/>
              <a:t>Так вот, сейчас, через двадцать лет, я решил вернуться к этой книге. Она интересна тем, что там, во-первых, очень богатая лексика с архаичными словами, а во-вторых, автор приводит там перевод на русский язык. Причем перевод сделан очень сбалансированно, без излишнего увлечения выразительными свойствами русского языка, с целью максимального сохранения смысла и красоты ингушского текста. Для желающих изучить ингушский язык такая книга, несомненно, является очень ценной. Да и само содержание книги, конечно, очень красивое, глубокомысленное, часто юмористичное. Книга состоит из двух основных частей – пословицы и притчи. В данном курсе видео я расскажу о притчах, возможно, в дальнейшем, Дала аьннад Далахь, рассмотрю и пословицы. Всего в книге 171 притча, я планирую записать одно видео на притчу. Длительность видео – 10-15 минут. Каждое видео состоит из короткого вступления, затем будет слайд с ингушским текстом и с озвучкой, далее три коротких слайда на несколько секунд с русским переводом Дахкильгова, с машинным переводом с русского на английский, и с моим переводом с ингушского на чеченский. Желающие могут поставить видео на паузу и ознакомиться с текстом переводов. Затем будет два слайда, каждый на несколько минут, с объяснением лексики и грамматики из данной притчи. </a:t>
            </a:r>
            <a:br>
              <a:rPr lang="ce-Cyrl-RU" dirty="0"/>
            </a:br>
            <a:r>
              <a:rPr lang="ce-Cyrl-RU" dirty="0"/>
              <a:t>Сейчас, когда я записываю это видео, работа еще далеко не закончена. Я буду излагать свой опыт изучения языка, при этом я, возможно, буду слишком увлекаться сравнением с чеченским, это потому, что чеченский является для меня родным, и, естественно, при изучении нового языка я сравниваю его со своим родным.</a:t>
            </a:r>
            <a:br>
              <a:rPr lang="ce-Cyrl-RU" dirty="0"/>
            </a:br>
            <a:r>
              <a:rPr lang="ce-Cyrl-RU"/>
              <a:t>Мы постараемся двигаться от простого к сложному – сначала алфавит и произношение, ближе к концу - различные типы падежных окончаний.</a:t>
            </a:r>
            <a:endParaRPr lang="ce-Cyrl-RU" dirty="0"/>
          </a:p>
          <a:p>
            <a:r>
              <a:rPr lang="ce-Cyrl-RU" dirty="0"/>
              <a:t>Слайды сделаны </a:t>
            </a:r>
            <a:r>
              <a:rPr lang="en-US" dirty="0"/>
              <a:t>c </a:t>
            </a:r>
            <a:r>
              <a:rPr lang="ce-Cyrl-RU" dirty="0"/>
              <a:t>помощью программы </a:t>
            </a:r>
            <a:r>
              <a:rPr lang="en-US" dirty="0"/>
              <a:t>PowerPoint</a:t>
            </a:r>
            <a:r>
              <a:rPr lang="ce-Cyrl-RU" dirty="0"/>
              <a:t> от </a:t>
            </a:r>
            <a:r>
              <a:rPr lang="en-US" dirty="0"/>
              <a:t>Microsoft. </a:t>
            </a:r>
            <a:r>
              <a:rPr lang="ce-Cyrl-RU" dirty="0"/>
              <a:t>Для разнообразия я сгенерировал иллюстрации к притчам используя </a:t>
            </a:r>
            <a:r>
              <a:rPr lang="en-US" dirty="0"/>
              <a:t>Gemini </a:t>
            </a:r>
            <a:r>
              <a:rPr lang="ce-Cyrl-RU" dirty="0"/>
              <a:t>от </a:t>
            </a:r>
            <a:r>
              <a:rPr lang="en-US" dirty="0"/>
              <a:t>Google</a:t>
            </a:r>
            <a:r>
              <a:rPr lang="ce-Cyrl-RU" dirty="0"/>
              <a:t>. </a:t>
            </a:r>
            <a:br>
              <a:rPr lang="ce-Cyrl-RU" dirty="0"/>
            </a:br>
            <a:r>
              <a:rPr lang="ce-Cyrl-RU" dirty="0"/>
              <a:t>Содержание этих притч, с текстами на разных языках, опубликовано на </a:t>
            </a:r>
            <a:r>
              <a:rPr lang="en-US" dirty="0" err="1"/>
              <a:t>github</a:t>
            </a:r>
            <a:r>
              <a:rPr lang="ce-Cyrl-RU" dirty="0"/>
              <a:t>, адрес в описании к этому видео. </a:t>
            </a:r>
            <a:br>
              <a:rPr lang="ce-Cyrl-RU" dirty="0"/>
            </a:br>
            <a:r>
              <a:rPr lang="en-US" dirty="0"/>
              <a:t>https://bumbari.github.io/dahkilgov/p/original/d1.htm</a:t>
            </a:r>
          </a:p>
          <a:p>
            <a:r>
              <a:rPr lang="ce-Cyrl-RU" dirty="0"/>
              <a:t>По мере записи очередных видео я буду добавлять туда ссылки на </a:t>
            </a:r>
            <a:r>
              <a:rPr lang="en-US" dirty="0" err="1"/>
              <a:t>youtube</a:t>
            </a:r>
            <a:r>
              <a:rPr lang="en-US" dirty="0"/>
              <a:t> </a:t>
            </a:r>
            <a:r>
              <a:rPr lang="ce-Cyrl-RU" dirty="0"/>
              <a:t>видео.</a:t>
            </a:r>
          </a:p>
          <a:p>
            <a:r>
              <a:rPr lang="ce-Cyrl-RU" dirty="0"/>
              <a:t>При работе над этими видео я постоянно пользуюсь сводным словарем ингушского языка из интернета, платформа</a:t>
            </a:r>
            <a:r>
              <a:rPr lang="ce-Cyrl-RU" b="0" dirty="0"/>
              <a:t> </a:t>
            </a:r>
            <a:r>
              <a:rPr lang="nl-BE" b="0" dirty="0" err="1"/>
              <a:t>PaydaDosh</a:t>
            </a:r>
            <a:r>
              <a:rPr lang="ce-Cyrl-RU" dirty="0"/>
              <a:t>:</a:t>
            </a:r>
            <a:br>
              <a:rPr lang="ce-Cyrl-RU" dirty="0"/>
            </a:br>
            <a:r>
              <a:rPr lang="nl-BE" dirty="0"/>
              <a:t>https://ghalghay.vercel.app/doshlorg.html</a:t>
            </a:r>
            <a:br>
              <a:rPr lang="ce-Cyrl-RU" dirty="0"/>
            </a:br>
            <a:r>
              <a:rPr lang="ce-Cyrl-RU" dirty="0"/>
              <a:t>А также словарями чеченского языка на сайте </a:t>
            </a:r>
            <a:br>
              <a:rPr lang="ce-Cyrl-RU" dirty="0"/>
            </a:br>
            <a:r>
              <a:rPr lang="en-US" dirty="0"/>
              <a:t>https://dikdosham.ru/ru/</a:t>
            </a:r>
            <a:br>
              <a:rPr lang="ce-Cyrl-RU" dirty="0"/>
            </a:br>
            <a:r>
              <a:rPr lang="ce-Cyrl-RU" dirty="0"/>
              <a:t>Большое спасибо авторам этих сайтов, они проделали огромную работу. </a:t>
            </a:r>
            <a:br>
              <a:rPr lang="ce-Cyrl-RU" dirty="0"/>
            </a:br>
            <a:r>
              <a:rPr lang="ce-Cyrl-RU" dirty="0"/>
              <a:t>Также я пользуюсь следующими учебными материалами:</a:t>
            </a:r>
            <a:br>
              <a:rPr lang="ce-Cyrl-RU" dirty="0"/>
            </a:br>
            <a:r>
              <a:rPr lang="ce-Cyrl-RU" dirty="0"/>
              <a:t>Мальсагов З.К. “Грамматика ингушского языка”, 1963 года издания.</a:t>
            </a:r>
            <a:br>
              <a:rPr lang="ce-Cyrl-RU" dirty="0"/>
            </a:br>
            <a:r>
              <a:rPr lang="ce-Cyrl-RU" dirty="0"/>
              <a:t>Долакова Р.И. “Краткая грамматика ингушского языка”</a:t>
            </a:r>
            <a:br>
              <a:rPr lang="ce-Cyrl-RU" dirty="0"/>
            </a:br>
            <a:r>
              <a:rPr lang="ce-Cyrl-RU" dirty="0"/>
              <a:t>Оздоев И.А. “Ингушский язык”, 1970 г.</a:t>
            </a:r>
            <a:br>
              <a:rPr lang="ce-Cyrl-RU" dirty="0"/>
            </a:br>
            <a:r>
              <a:rPr lang="ce-Cyrl-RU" dirty="0"/>
              <a:t>Ахриева Р.И, Оздоева Ф.Г., Мальсагова Л.Д., Бекова П.Х. “Современный ингушский язык”, 1972 г. </a:t>
            </a:r>
            <a:br>
              <a:rPr lang="ce-Cyrl-RU" dirty="0"/>
            </a:br>
            <a:r>
              <a:rPr lang="ce-Cyrl-RU" dirty="0"/>
              <a:t>Аушева Э.А. “Типы склонения в ингушском языке”, 2019</a:t>
            </a:r>
            <a:br>
              <a:rPr lang="ce-Cyrl-RU" dirty="0"/>
            </a:br>
            <a:r>
              <a:rPr lang="ce-Cyrl-RU" dirty="0"/>
              <a:t>Полные названия в описании к данному видео.</a:t>
            </a:r>
          </a:p>
          <a:p>
            <a:endParaRPr lang="ce-Cyrl-RU" dirty="0"/>
          </a:p>
          <a:p>
            <a:r>
              <a:rPr lang="ce-Cyrl-RU" dirty="0"/>
              <a:t>Бисмиллах1и рахьманир рахьим</a:t>
            </a:r>
          </a:p>
        </p:txBody>
      </p:sp>
      <p:sp>
        <p:nvSpPr>
          <p:cNvPr id="4" name="Slide Number Placeholder 3"/>
          <p:cNvSpPr>
            <a:spLocks noGrp="1"/>
          </p:cNvSpPr>
          <p:nvPr>
            <p:ph type="sldNum" sz="quarter" idx="5"/>
          </p:nvPr>
        </p:nvSpPr>
        <p:spPr/>
        <p:txBody>
          <a:bodyPr/>
          <a:lstStyle/>
          <a:p>
            <a:fld id="{E5988EC9-9D06-45FD-A085-36D14FED115C}" type="slidenum">
              <a:rPr lang="nl-BE" smtClean="0"/>
              <a:t>3</a:t>
            </a:fld>
            <a:endParaRPr lang="nl-BE"/>
          </a:p>
        </p:txBody>
      </p:sp>
    </p:spTree>
    <p:extLst>
      <p:ext uri="{BB962C8B-B14F-4D97-AF65-F5344CB8AC3E}">
        <p14:creationId xmlns:p14="http://schemas.microsoft.com/office/powerpoint/2010/main" val="105736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5</a:t>
            </a:fld>
            <a:endParaRPr lang="nl-BE"/>
          </a:p>
        </p:txBody>
      </p:sp>
    </p:spTree>
    <p:extLst>
      <p:ext uri="{BB962C8B-B14F-4D97-AF65-F5344CB8AC3E}">
        <p14:creationId xmlns:p14="http://schemas.microsoft.com/office/powerpoint/2010/main" val="14401544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e-Cyrl-RU" dirty="0"/>
              <a:t>Притча 1 имеет типичный размер. Хоть она и небольшая, но содержит интересную лексику и грамматические формы. Здесь мы поговорим о лексике, чуть позже, в этом же видео, о грамматике – об алфавите и особенностях произношения. </a:t>
            </a:r>
            <a:br>
              <a:rPr lang="ce-Cyrl-RU" dirty="0"/>
            </a:br>
            <a:r>
              <a:rPr lang="ce-Cyrl-RU" dirty="0"/>
              <a:t>Здесь есть падежи, которых нет в русском – местный (ц1аг1а), сравнительный (дешал), вещественный (сих), эргативный (Пайхамара). Есть причастие (доалла), деепричастие (баг1а) – все это мы будем рассматривать в отдельных видео.</a:t>
            </a:r>
            <a:br>
              <a:rPr lang="en-US" dirty="0"/>
            </a:br>
            <a:r>
              <a:rPr lang="ce-Cyrl-RU" dirty="0"/>
              <a:t>Эздел – ключевое слово в ингушской этике, не случайно первая притча об этом.</a:t>
            </a:r>
          </a:p>
          <a:p>
            <a:r>
              <a:rPr lang="ce-Cyrl-RU" dirty="0"/>
              <a:t>Дош – дешал, сравнительный падеж.</a:t>
            </a:r>
            <a:br>
              <a:rPr lang="ce-Cyrl-RU" dirty="0"/>
            </a:br>
            <a:r>
              <a:rPr lang="ce-Cyrl-RU" dirty="0"/>
              <a:t>Ч1ог1аг1 – сильнее, “ч1ог1ах” на чеч. Если в чеч. здесь конечная глухая “х”, то в инг. это произносится твердо, как “г1”. </a:t>
            </a:r>
            <a:br>
              <a:rPr lang="ce-Cyrl-RU" dirty="0"/>
            </a:br>
            <a:r>
              <a:rPr lang="ce-Cyrl-RU" dirty="0"/>
              <a:t>Ц1аг1а – “в доме”, местный падеж. У меня, как у чеченца, возникли сложности с этим словом. В чеченском местный падеж это “ц1ийне”. Я бы перевел это как “ц1енна чуваьлча” – со словом “ц1а” в дательном падеже.</a:t>
            </a:r>
            <a:r>
              <a:rPr lang="ru-RU" dirty="0"/>
              <a:t> </a:t>
            </a:r>
            <a:r>
              <a:rPr lang="ce-Cyrl-RU" dirty="0"/>
              <a:t>Но, п</a:t>
            </a:r>
            <a:r>
              <a:rPr lang="ru-RU" dirty="0"/>
              <a:t>охоже, </a:t>
            </a:r>
            <a:r>
              <a:rPr lang="ce-Cyrl-RU" dirty="0"/>
              <a:t>что </a:t>
            </a:r>
            <a:r>
              <a:rPr lang="ru-RU" dirty="0"/>
              <a:t>здесь местн</a:t>
            </a:r>
            <a:r>
              <a:rPr lang="ce-Cyrl-RU" dirty="0"/>
              <a:t>ый</a:t>
            </a:r>
            <a:r>
              <a:rPr lang="ru-RU" dirty="0"/>
              <a:t> падеж</a:t>
            </a:r>
            <a:r>
              <a:rPr lang="ce-Cyrl-RU" dirty="0"/>
              <a:t> указывает на то, что пророк шел по направлению к этому дому.</a:t>
            </a:r>
            <a:r>
              <a:rPr lang="ru-RU" dirty="0"/>
              <a:t> </a:t>
            </a:r>
            <a:r>
              <a:rPr lang="ce-Cyrl-RU" dirty="0"/>
              <a:t>В ингушском, по сравнению с чеченским, гораздо чаще используются различные формы местных падежей, для выражения всех нюансов пространственных отношений. Слово “ц1аг1а” нам еще будет встречаться в других притчах, я надеюсь, что в дальнейшем и вам и мне это слово станет привычнее.</a:t>
            </a:r>
            <a:br>
              <a:rPr lang="en-US" dirty="0"/>
            </a:br>
            <a:r>
              <a:rPr lang="ce-Cyrl-RU" dirty="0"/>
              <a:t>Берригаш – интересное слово, означает все люди, по-чеченски “берриш”. </a:t>
            </a:r>
            <a:br>
              <a:rPr lang="ce-Cyrl-RU" dirty="0"/>
            </a:br>
            <a:r>
              <a:rPr lang="ce-Cyrl-RU" dirty="0"/>
              <a:t>Веррига – весь человек, берригаш – все люди. (спрягается по классам – деррига, и т.д.)</a:t>
            </a:r>
          </a:p>
          <a:p>
            <a:r>
              <a:rPr lang="ce-Cyrl-RU" sz="1200" dirty="0"/>
              <a:t>1оха – во мн. числе 1оховша. </a:t>
            </a:r>
            <a:r>
              <a:rPr lang="ru-RU" sz="1200" dirty="0"/>
              <a:t>П</a:t>
            </a:r>
            <a:r>
              <a:rPr lang="ce-Cyrl-RU" sz="1200" dirty="0"/>
              <a:t>ространственная приставка “1о”, по-чеченски “охьа”, означает “вниз”. Опять-таки, мы планируем разбирать их в отдельном видео.</a:t>
            </a:r>
            <a:br>
              <a:rPr lang="ce-Cyrl-RU" sz="1200" dirty="0"/>
            </a:br>
            <a:r>
              <a:rPr lang="ru-RU" sz="1200" dirty="0"/>
              <a:t>Латтийсав</a:t>
            </a:r>
            <a:r>
              <a:rPr lang="ce-Cyrl-RU" sz="1200" dirty="0"/>
              <a:t> – опечатка, должно быть “латта висав”.</a:t>
            </a:r>
            <a:br>
              <a:rPr lang="ce-Cyrl-RU" sz="1200" dirty="0"/>
            </a:br>
            <a:r>
              <a:rPr lang="ce-Cyrl-RU" sz="1200" dirty="0"/>
              <a:t>Хайнавац – не сел. Интересно, что в чеченском “вац” пишется раздельно – хиъна вац. В ингушском каждый глагол имеет отрицательную форму, эта форма считается отдельным словом, и поэтому пишется вместе. Про отрицательные формы глаголов мы тоже будем говорить отдельно.</a:t>
            </a:r>
            <a:br>
              <a:rPr lang="ce-Cyrl-RU" sz="1200" dirty="0"/>
            </a:br>
            <a:r>
              <a:rPr lang="ru-RU" sz="1200" dirty="0"/>
              <a:t>Б</a:t>
            </a:r>
            <a:r>
              <a:rPr lang="ce-Cyrl-RU" sz="1200" dirty="0"/>
              <a:t>ехк баккха, бехкаш даха, бехк ба, бехкаш да – класс (б,д). </a:t>
            </a:r>
            <a:r>
              <a:rPr lang="ru-RU" sz="1200" dirty="0"/>
              <a:t>Б</a:t>
            </a:r>
            <a:r>
              <a:rPr lang="ce-Cyrl-RU" sz="1200" dirty="0"/>
              <a:t>ехк баккха – буквально “вытаскивать вину”, “чкъаьра баккха”. </a:t>
            </a:r>
          </a:p>
          <a:p>
            <a:r>
              <a:rPr lang="ce-Cyrl-RU" sz="1200" dirty="0"/>
              <a:t>Цох, сих - вещественный падеж от из, са.</a:t>
            </a: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9</a:t>
            </a:fld>
            <a:endParaRPr lang="nl-BE"/>
          </a:p>
        </p:txBody>
      </p:sp>
    </p:spTree>
    <p:extLst>
      <p:ext uri="{BB962C8B-B14F-4D97-AF65-F5344CB8AC3E}">
        <p14:creationId xmlns:p14="http://schemas.microsoft.com/office/powerpoint/2010/main" val="40455455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Gill Sans MT" panose="020B0502020104020203" pitchFamily="34" charset="0"/>
              </a:rPr>
              <a:t>I : </a:t>
            </a:r>
            <a:r>
              <a:rPr lang="ce-Cyrl-RU" dirty="0"/>
              <a:t>источник технических проблем для всех северокавказских языков с кириллическим алфавитом. Строго говоря, надо использовать знак “кириллическая палочка” (код </a:t>
            </a:r>
            <a:r>
              <a:rPr lang="nl-BE" dirty="0">
                <a:latin typeface="Gill Sans MT" panose="020B0502020104020203" pitchFamily="34" charset="0"/>
              </a:rPr>
              <a:t>U+04C0</a:t>
            </a:r>
            <a:r>
              <a:rPr lang="ce-Cyrl-RU" dirty="0"/>
              <a:t>), но его нет ни в русской раскладке клавиатуры, ни в английской. </a:t>
            </a:r>
            <a:br>
              <a:rPr lang="ce-Cyrl-RU" dirty="0"/>
            </a:br>
            <a:r>
              <a:rPr lang="ce-Cyrl-RU" dirty="0"/>
              <a:t>Заглавная английская буква “</a:t>
            </a:r>
            <a:r>
              <a:rPr lang="en-US" dirty="0">
                <a:latin typeface="Gill Sans MT" panose="020B0502020104020203" pitchFamily="34" charset="0"/>
              </a:rPr>
              <a:t>I</a:t>
            </a:r>
            <a:r>
              <a:rPr lang="ce-Cyrl-RU" dirty="0"/>
              <a:t>”</a:t>
            </a:r>
            <a:r>
              <a:rPr lang="en-US" dirty="0">
                <a:latin typeface="Gill Sans MT" panose="020B0502020104020203" pitchFamily="34" charset="0"/>
              </a:rPr>
              <a:t> </a:t>
            </a:r>
            <a:r>
              <a:rPr lang="ce-Cyrl-RU" dirty="0"/>
              <a:t>внешне похожа на кириллическую палочку, но имеет другой код, к тому же, чтобы ее напечатать надо временно переключиться на английскую раскладку, что непрактично.</a:t>
            </a:r>
            <a:br>
              <a:rPr lang="ce-Cyrl-RU" dirty="0"/>
            </a:br>
            <a:r>
              <a:rPr lang="ce-Cyrl-RU" dirty="0"/>
              <a:t>Раньше на печатных машинках цифра “1” и английская “</a:t>
            </a:r>
            <a:r>
              <a:rPr lang="en-US" dirty="0">
                <a:latin typeface="Gill Sans MT" panose="020B0502020104020203" pitchFamily="34" charset="0"/>
              </a:rPr>
              <a:t>I” </a:t>
            </a:r>
            <a:r>
              <a:rPr lang="ce-Cyrl-RU" dirty="0"/>
              <a:t>выглядели одинаково, поэтому раньше такой проблемы не было. </a:t>
            </a:r>
            <a:br>
              <a:rPr lang="en-US" dirty="0">
                <a:latin typeface="Gill Sans MT" panose="020B0502020104020203" pitchFamily="34" charset="0"/>
              </a:rPr>
            </a:br>
            <a:r>
              <a:rPr lang="ce-Cyrl-RU" dirty="0"/>
              <a:t>ОЬ: хьога – хьоьга;</a:t>
            </a:r>
            <a:br>
              <a:rPr lang="ce-Cyrl-RU" dirty="0"/>
            </a:br>
            <a:r>
              <a:rPr lang="ce-Cyrl-RU" dirty="0"/>
              <a:t>УЬ: цун, цунга – цуьнан, цуьнга; уж – уьш: </a:t>
            </a:r>
            <a:br>
              <a:rPr lang="ce-Cyrl-RU" dirty="0"/>
            </a:br>
            <a:r>
              <a:rPr lang="ce-Cyrl-RU" dirty="0"/>
              <a:t>ЮЬ: юрта - юьртан</a:t>
            </a:r>
            <a:br>
              <a:rPr lang="ce-Cyrl-RU" dirty="0"/>
            </a:br>
            <a:r>
              <a:rPr lang="ce-Cyrl-RU" dirty="0"/>
              <a:t>ОА: оалаш – олуш; ч1</a:t>
            </a:r>
            <a:r>
              <a:rPr lang="ce-Cyrl-RU" b="1" dirty="0"/>
              <a:t>оа</a:t>
            </a:r>
            <a:r>
              <a:rPr lang="ce-Cyrl-RU" dirty="0"/>
              <a:t>г1аг1 – ч1</a:t>
            </a:r>
            <a:r>
              <a:rPr lang="ce-Cyrl-RU" b="1" dirty="0"/>
              <a:t>о</a:t>
            </a:r>
            <a:r>
              <a:rPr lang="ce-Cyrl-RU" dirty="0"/>
              <a:t>г1ах; доалла – долла</a:t>
            </a:r>
            <a:br>
              <a:rPr lang="ce-Cyrl-RU" dirty="0"/>
            </a:br>
            <a:r>
              <a:rPr lang="ce-Cyrl-RU" dirty="0"/>
              <a:t>Ф: языки без звука “ф” в исконных словах – русский, персидский, грузинский, чеченский; языки без звука “п” – арабский. Похоже, что в исконно ингушских словах есть оба этих звука. Интересно турецкое слово “фес” (феска, тюбетейка). В чеч. оно трансформировалось в “пес”, в инг. звук “ф” сохранился : “фазиг”.</a:t>
            </a:r>
            <a:br>
              <a:rPr lang="ce-Cyrl-RU" dirty="0"/>
            </a:br>
            <a:r>
              <a:rPr lang="ce-Cyrl-RU" dirty="0"/>
              <a:t>Е: г1айттаб – г1еттина; 1охайшача – охьахевшича;</a:t>
            </a:r>
            <a:br>
              <a:rPr lang="ce-Cyrl-RU" dirty="0"/>
            </a:br>
            <a:r>
              <a:rPr lang="ce-Cyrl-RU" dirty="0"/>
              <a:t>Ж, З: аналогичная ситуация, например, с английским – Джек, Джон, Дзорро.</a:t>
            </a:r>
            <a:endParaRPr lang="nl-BE" dirty="0">
              <a:latin typeface="Gill Sans MT" panose="020B0502020104020203" pitchFamily="34" charset="0"/>
            </a:endParaRPr>
          </a:p>
        </p:txBody>
      </p:sp>
      <p:sp>
        <p:nvSpPr>
          <p:cNvPr id="4" name="Slide Number Placeholder 3"/>
          <p:cNvSpPr>
            <a:spLocks noGrp="1"/>
          </p:cNvSpPr>
          <p:nvPr>
            <p:ph type="sldNum" sz="quarter" idx="5"/>
          </p:nvPr>
        </p:nvSpPr>
        <p:spPr/>
        <p:txBody>
          <a:bodyPr/>
          <a:lstStyle/>
          <a:p>
            <a:fld id="{E5988EC9-9D06-45FD-A085-36D14FED115C}" type="slidenum">
              <a:rPr lang="nl-BE" smtClean="0"/>
              <a:t>10</a:t>
            </a:fld>
            <a:endParaRPr lang="nl-BE"/>
          </a:p>
        </p:txBody>
      </p:sp>
    </p:spTree>
    <p:extLst>
      <p:ext uri="{BB962C8B-B14F-4D97-AF65-F5344CB8AC3E}">
        <p14:creationId xmlns:p14="http://schemas.microsoft.com/office/powerpoint/2010/main" val="33604087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16/06/2026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16/06/2026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16/06/2026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16/06/2026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16/06/2026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16/06/2026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16/06/2026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16/06/2026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16/06/2026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16/06/2026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16/06/2026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16/06/2026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2308324"/>
          </a:xfrm>
          <a:prstGeom prst="rect">
            <a:avLst/>
          </a:prstGeom>
          <a:noFill/>
        </p:spPr>
        <p:txBody>
          <a:bodyPr wrap="square" rtlCol="0">
            <a:spAutoFit/>
          </a:bodyPr>
          <a:lstStyle/>
          <a:p>
            <a:r>
              <a:rPr lang="ru-RU" sz="2400" dirty="0"/>
              <a:t>Гулбенна нах багӀача цӀагӀа Мохьмад-пайхамар чуваьлча, берригаш гӀайттаб. Пайхамара Ӏоха а аьнна, уж Ӏохайшача, цхьа зӀамига саг латт</a:t>
            </a:r>
            <a:r>
              <a:rPr lang="ce-Cyrl-RU" sz="2400" dirty="0"/>
              <a:t>а в</a:t>
            </a:r>
            <a:r>
              <a:rPr lang="ru-RU" sz="2400" dirty="0"/>
              <a:t>исав. Пайхамара шозлагӀа а а</a:t>
            </a:r>
            <a:r>
              <a:rPr lang="ce-Cyrl-RU" sz="2400" dirty="0"/>
              <a:t>ь</a:t>
            </a:r>
            <a:r>
              <a:rPr lang="ru-RU" sz="2400"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sz="2400" dirty="0"/>
              <a:t>- Бехкаш ма даха цох. Са дешал чӀоагӀагӀа да цун сих доалла эздел.</a:t>
            </a:r>
            <a:endParaRPr lang="nl-BE" sz="2400" dirty="0"/>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1797051" y="857983"/>
            <a:ext cx="67068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DF90C-729C-3B9C-4997-1D0EDCAB43B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1F4E762B-BE22-34F4-37FC-54D7F596ABD9}"/>
              </a:ext>
            </a:extLst>
          </p:cNvPr>
          <p:cNvSpPr txBox="1">
            <a:spLocks/>
          </p:cNvSpPr>
          <p:nvPr/>
        </p:nvSpPr>
        <p:spPr>
          <a:xfrm>
            <a:off x="869004" y="1275810"/>
            <a:ext cx="10379413" cy="378565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mn-lt"/>
                <a:ea typeface="+mn-ea"/>
                <a:cs typeface="+mn-cs"/>
              </a:rPr>
              <a:t>1. </a:t>
            </a:r>
            <a:r>
              <a:rPr kumimoji="0" lang="ru-RU" sz="2400" b="1" i="0" u="none" strike="noStrike" kern="1200" cap="none" spc="0" normalizeH="0" baseline="0" noProof="0" dirty="0">
                <a:ln>
                  <a:noFill/>
                </a:ln>
                <a:solidFill>
                  <a:prstClr val="black"/>
                </a:solidFill>
                <a:effectLst/>
                <a:uLnTx/>
                <a:uFillTx/>
                <a:latin typeface="+mn-lt"/>
                <a:ea typeface="+mn-ea"/>
                <a:cs typeface="+mn-cs"/>
              </a:rPr>
              <a:t>Его благородство сильнее моих слов</a:t>
            </a:r>
            <a:br>
              <a:rPr kumimoji="0" lang="ce-Cyrl-RU" sz="2400" b="1" i="0" u="none" strike="noStrike" kern="1200" cap="none" spc="0" normalizeH="0" baseline="0" noProof="0" dirty="0">
                <a:ln>
                  <a:noFill/>
                </a:ln>
                <a:solidFill>
                  <a:prstClr val="black"/>
                </a:solidFill>
                <a:effectLst/>
                <a:uLnTx/>
                <a:uFillTx/>
                <a:latin typeface="+mn-lt"/>
                <a:ea typeface="+mn-ea"/>
                <a:cs typeface="+mn-cs"/>
              </a:rPr>
            </a:br>
            <a:endParaRPr kumimoji="0" lang="ru-RU" sz="24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2400" b="0" i="0" u="none" strike="noStrike" kern="1200" cap="none" spc="0" normalizeH="0" baseline="0" noProof="0" dirty="0">
                <a:ln>
                  <a:noFill/>
                </a:ln>
                <a:solidFill>
                  <a:prstClr val="black"/>
                </a:solidFill>
                <a:effectLst/>
                <a:uLnTx/>
                <a:uFillTx/>
                <a:latin typeface="Gill Sans MT" panose="020B0502020104020203"/>
                <a:ea typeface="+mn-ea"/>
                <a:cs typeface="+mn-cs"/>
              </a:rPr>
              <a:t> </a:t>
            </a:r>
            <a:r>
              <a:rPr kumimoji="0" lang="ru-RU" sz="2400" b="0" i="0" u="none" strike="noStrike" kern="1200" cap="none" spc="0" normalizeH="0" baseline="0" noProof="0" dirty="0">
                <a:ln>
                  <a:noFill/>
                </a:ln>
                <a:solidFill>
                  <a:prstClr val="black"/>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“Не обижайте юношу. Благородство, впитавшееся в его душу, сильнее моих слов”.</a:t>
            </a:r>
            <a:r>
              <a:rPr kumimoji="0" lang="ce-Cyrl-RU" sz="2400" b="0" i="0" u="none" strike="noStrike" kern="1200" cap="none" spc="0" normalizeH="0" baseline="0" noProof="0" dirty="0">
                <a:ln>
                  <a:noFill/>
                </a:ln>
                <a:solidFill>
                  <a:prstClr val="black"/>
                </a:solidFill>
                <a:effectLst/>
                <a:uLnTx/>
                <a:uFillTx/>
                <a:latin typeface="+mn-lt"/>
                <a:ea typeface="+mn-ea"/>
                <a:cs typeface="+mn-cs"/>
              </a:rPr>
              <a:t> </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2" name="TextBox 1">
            <a:extLst>
              <a:ext uri="{FF2B5EF4-FFF2-40B4-BE49-F238E27FC236}">
                <a16:creationId xmlns:a16="http://schemas.microsoft.com/office/drawing/2014/main" id="{DD79485C-8E5D-861C-BF82-F93A3D3B61D5}"/>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ce-Cyrl-RU" sz="1600" b="1" dirty="0"/>
              <a:t>РУССКИЙ</a:t>
            </a:r>
            <a:endParaRPr lang="nl-BE" sz="1600" dirty="0"/>
          </a:p>
        </p:txBody>
      </p:sp>
    </p:spTree>
    <p:extLst>
      <p:ext uri="{BB962C8B-B14F-4D97-AF65-F5344CB8AC3E}">
        <p14:creationId xmlns:p14="http://schemas.microsoft.com/office/powerpoint/2010/main" val="1265090629"/>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a:t>
            </a:r>
            <a:r>
              <a:rPr lang="ce-Cyrl-RU" sz="2400"/>
              <a:t>на</a:t>
            </a:r>
            <a:r>
              <a:rPr lang="ru-RU" sz="2400"/>
              <a:t> </a:t>
            </a:r>
            <a:r>
              <a:rPr lang="ru-RU" sz="2400" dirty="0"/>
              <a:t>чохь Мохьмад-пайхмар (Делера салам-маршал хуьлда цунна) чуваьлча, </a:t>
            </a:r>
            <a:r>
              <a:rPr lang="ce-Cyrl-RU" sz="2400" dirty="0"/>
              <a:t>берриш</a:t>
            </a:r>
            <a:r>
              <a:rPr lang="ru-RU" sz="2400" dirty="0"/>
              <a:t>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3722034" y="1317812"/>
            <a:ext cx="4747932" cy="461665"/>
          </a:xfrm>
          <a:prstGeom prst="rect">
            <a:avLst/>
          </a:prstGeom>
          <a:noFill/>
        </p:spPr>
        <p:txBody>
          <a:bodyPr wrap="square" rtlCol="0">
            <a:spAutoFit/>
          </a:bodyPr>
          <a:lstStyle/>
          <a:p>
            <a:pPr algn="ctr"/>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2283204" y="221474"/>
            <a:ext cx="7625592" cy="489726"/>
          </a:xfrm>
        </p:spPr>
        <p:txBody>
          <a:bodyPr>
            <a:normAutofit fontScale="90000"/>
          </a:bodyPr>
          <a:lstStyle/>
          <a:p>
            <a:r>
              <a:rPr lang="ru-RU" dirty="0"/>
              <a:t>Г</a:t>
            </a:r>
            <a:r>
              <a:rPr lang="ce-Cyrl-RU" dirty="0"/>
              <a:t>рамматика : АЛФАВИТ и произношение</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23851" y="895350"/>
            <a:ext cx="8928100" cy="5355312"/>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Всего 46 букв. 13 букв, которых нет в русском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гласные</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согласные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p>
          <a:p>
            <a:pPr marL="285750" indent="-285750">
              <a:buFont typeface="Arial" panose="020B0604020202020204" pitchFamily="34" charset="0"/>
              <a:buChar char="•"/>
              <a:defRPr/>
            </a:pPr>
            <a:r>
              <a:rPr lang="ce-Cyrl-RU" dirty="0">
                <a:solidFill>
                  <a:prstClr val="black"/>
                </a:solidFill>
              </a:rPr>
              <a:t>Буква </a:t>
            </a:r>
            <a:r>
              <a:rPr lang="ru-RU" b="1" dirty="0">
                <a:solidFill>
                  <a:prstClr val="black"/>
                </a:solidFill>
              </a:rPr>
              <a:t>Ӏ</a:t>
            </a:r>
            <a:r>
              <a:rPr lang="ce-Cyrl-RU" dirty="0">
                <a:solidFill>
                  <a:prstClr val="black"/>
                </a:solidFill>
              </a:rPr>
              <a:t> (кирилл. палочка) - на практике ее заменяют латинской </a:t>
            </a:r>
            <a:r>
              <a:rPr lang="en-US" b="1" dirty="0">
                <a:solidFill>
                  <a:prstClr val="black"/>
                </a:solidFill>
              </a:rPr>
              <a:t>I</a:t>
            </a:r>
            <a:r>
              <a:rPr lang="en-US" dirty="0">
                <a:solidFill>
                  <a:prstClr val="black"/>
                </a:solidFill>
              </a:rPr>
              <a:t> </a:t>
            </a:r>
            <a:r>
              <a:rPr lang="ce-Cyrl-RU" dirty="0">
                <a:solidFill>
                  <a:prstClr val="black"/>
                </a:solidFill>
              </a:rPr>
              <a:t>или цифрой </a:t>
            </a:r>
            <a:r>
              <a:rPr lang="ce-Cyrl-RU" b="1" dirty="0">
                <a:solidFill>
                  <a:prstClr val="black"/>
                </a:solidFill>
                <a:latin typeface="Times New Roman" panose="02020603050405020304" pitchFamily="18" charset="0"/>
              </a:rPr>
              <a:t>1</a:t>
            </a:r>
            <a:r>
              <a:rPr lang="ce-Cyrl-RU" dirty="0">
                <a:solidFill>
                  <a:prstClr val="black"/>
                </a:solidFill>
              </a:rPr>
              <a:t>.</a:t>
            </a:r>
            <a:br>
              <a:rPr lang="ce-Cyrl-RU" dirty="0">
                <a:solidFill>
                  <a:prstClr val="black"/>
                </a:solidFill>
              </a:rPr>
            </a:br>
            <a:r>
              <a:rPr lang="ce-Cyrl-RU" dirty="0">
                <a:solidFill>
                  <a:prstClr val="black"/>
                </a:solidFill>
              </a:rPr>
              <a:t>другой вариант – использовать шрифт </a:t>
            </a:r>
            <a:r>
              <a:rPr lang="en-US" dirty="0">
                <a:solidFill>
                  <a:prstClr val="black"/>
                </a:solidFill>
              </a:rPr>
              <a:t>Gill Sans</a:t>
            </a:r>
            <a:r>
              <a:rPr lang="ce-Cyrl-RU" dirty="0">
                <a:solidFill>
                  <a:prstClr val="black"/>
                </a:solidFill>
              </a:rPr>
              <a:t>, в котором </a:t>
            </a:r>
            <a:r>
              <a:rPr lang="ce-Cyrl-RU" b="1" dirty="0">
                <a:solidFill>
                  <a:prstClr val="black"/>
                </a:solidFill>
                <a:latin typeface="Times New Roman" panose="02020603050405020304" pitchFamily="18" charset="0"/>
              </a:rPr>
              <a:t>1</a:t>
            </a:r>
            <a:r>
              <a:rPr lang="en-US" b="1" dirty="0">
                <a:solidFill>
                  <a:prstClr val="black"/>
                </a:solidFill>
                <a:latin typeface="Times New Roman" panose="02020603050405020304" pitchFamily="18" charset="0"/>
              </a:rPr>
              <a:t> </a:t>
            </a:r>
            <a:r>
              <a:rPr lang="ce-Cyrl-RU" dirty="0">
                <a:solidFill>
                  <a:prstClr val="black"/>
                </a:solidFill>
              </a:rPr>
              <a:t>похожа на </a:t>
            </a:r>
            <a:r>
              <a:rPr lang="en-US" b="1" dirty="0">
                <a:solidFill>
                  <a:prstClr val="black"/>
                </a:solidFill>
              </a:rPr>
              <a:t>I (</a:t>
            </a:r>
            <a:r>
              <a:rPr lang="en-US" b="1" dirty="0">
                <a:solidFill>
                  <a:prstClr val="black"/>
                </a:solidFill>
                <a:latin typeface="Gill Sans MT" panose="020B0502020104020203" pitchFamily="34" charset="0"/>
              </a:rPr>
              <a:t>1 - </a:t>
            </a:r>
            <a:r>
              <a:rPr lang="en-US" b="1" dirty="0">
                <a:solidFill>
                  <a:prstClr val="black"/>
                </a:solidFill>
              </a:rPr>
              <a:t>I)</a:t>
            </a:r>
            <a:endParaRPr kumimoji="0" lang="en-US" sz="1800" b="1" i="1" u="none" strike="noStrike" kern="1200" cap="none" spc="0" normalizeH="0" baseline="0" noProof="0" dirty="0">
              <a:ln>
                <a:noFill/>
              </a:ln>
              <a:solidFill>
                <a:prstClr val="black"/>
              </a:solidFill>
              <a:effectLst/>
              <a:uLnTx/>
              <a:uFillTx/>
              <a:latin typeface="Gill Sans MT" panose="020B0502020104020203"/>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Часто встречается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встречается чаще, чем в чеченском: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Звук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lang="ce-Cyrl-RU" dirty="0">
                <a:solidFill>
                  <a:prstClr val="black"/>
                </a:solidFill>
              </a:rPr>
              <a:t>там, где есть буква Е, она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инг. </a:t>
            </a:r>
            <a:r>
              <a:rPr lang="ce-Cyrl-RU" dirty="0">
                <a:solidFill>
                  <a:prstClr val="black"/>
                </a:solidFill>
              </a:rPr>
              <a:t>“Даьла раьза хилда” и чеч.  </a:t>
            </a:r>
            <a:r>
              <a:rPr kumimoji="0" lang="ce-Cyrl-RU" sz="1800" b="0" i="0" u="none" strike="noStrike" kern="1200" cap="none" spc="0" normalizeH="0" noProof="0" dirty="0">
                <a:ln>
                  <a:noFill/>
                </a:ln>
                <a:solidFill>
                  <a:prstClr val="black"/>
                </a:solidFill>
                <a:effectLst/>
                <a:uLnTx/>
                <a:uFillTx/>
                <a:ea typeface="+mn-ea"/>
                <a:cs typeface="+mn-cs"/>
              </a:rPr>
              <a:t>“Дела реза хуьлда”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“ш” на конце обычно произносится звонко, как “ж” (ср. чеч. “уьш” – инг. “уж”)</a:t>
            </a: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0</TotalTime>
  <Words>2399</Words>
  <Application>Microsoft Office PowerPoint</Application>
  <PresentationFormat>Widescreen</PresentationFormat>
  <Paragraphs>63</Paragraphs>
  <Slides>10</Slides>
  <Notes>4</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Alasassy Caps</vt:lpstr>
      <vt:lpstr>Aptos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PowerPoint Presentation</vt:lpstr>
      <vt:lpstr>1. His nobility speaks louder than my words</vt:lpstr>
      <vt:lpstr>1. Сан дашал чIогIах йу цуьнан оьздангалла</vt:lpstr>
      <vt:lpstr>Лексика</vt:lpstr>
      <vt:lpstr>Грамматика : АЛФАВИТ и произношение</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125</cp:revision>
  <dcterms:created xsi:type="dcterms:W3CDTF">2026-06-01T18:53:02Z</dcterms:created>
  <dcterms:modified xsi:type="dcterms:W3CDTF">2026-06-16T21:00:40Z</dcterms:modified>
</cp:coreProperties>
</file>