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</p14:sldIdLst>
        </p14:section>
        <p14:section name="story_name" id="{3529E971-8119-4829-BD88-A7D2789F4180}">
          <p14:sldIdLst>
            <p14:sldId id="258"/>
          </p14:sldIdLst>
        </p14:section>
        <p14:section name="Story_text_inh" id="{9FE4DF01-14C5-45CE-ACA8-0B0B0612A66C}">
          <p14:sldIdLst>
            <p14:sldId id="259"/>
          </p14:sldIdLst>
        </p14:section>
        <p14:section name="Story_text_ru" id="{EC7CF159-B613-4BB0-A71F-6A447E7D2288}">
          <p14:sldIdLst>
            <p14:sldId id="267"/>
          </p14:sldIdLst>
        </p14:section>
        <p14:section name="story_text_eng" id="{1F75236F-9138-4460-9D2C-69429F04EC38}">
          <p14:sldIdLst>
            <p14:sldId id="260"/>
          </p14:sldIdLst>
        </p14:section>
        <p14:section name="story_text_che" id="{0754FFD2-BC67-43BD-9920-805D43719411}">
          <p14:sldIdLst>
            <p14:sldId id="261"/>
            <p14:sldId id="263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48588" autoAdjust="0"/>
  </p:normalViewPr>
  <p:slideViewPr>
    <p:cSldViewPr snapToGrid="0">
      <p:cViewPr varScale="1">
        <p:scale>
          <a:sx n="46" d="100"/>
          <a:sy n="46" d="100"/>
        </p:scale>
        <p:origin x="2050" y="4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9BEDC-71F1-4F49-90B8-16EFC5E7B3B1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D47A7F-F974-4A33-92EE-C6FCDE25A5E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054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Интересна трансформация арабского “ФираIУн” (фараон) в ПирIон (или наоборот, пир1он в фира1ун, мы не будем углубляться в дебаты о том, какие слова древнее): Ф переходит в П, ударение смещается на первый слог, безударная буква “а” в середине выпадает, “у” в середине переходит в “о”.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ХIаллакьхилар – погибель, буквально – “становление разрушенным”, переход в состояние разрушения, эвфемизм для смерти. К табуированным словам и их заменителям, эвфемизмам, мы планируем вернуться позже, в Притче 38 “Са даьй мохк ба ер”. Хилар – становление, масдар, отглагольное существительное от глагола “хила” - становиться. “Хиларах” – вещественный падеж от “хилар”. К масдарам и падежам мы вернемся позже.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Гез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латунь,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«желтая медь»,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“моажа ц1аста”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сплав меди с цинком. «Красная медь», или просто медь, обозначается словом ц1аста.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Кхоале, кхоаленаш (й, й) – навес. Кхалар – навес из соломы, глины. Тхов – крыша.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Аналогичные чеченские слова – раг1у, кхало, тхов.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Пед (педаш) (й,й) – бочка, кадка, кадушка.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Похожие слова – бешка, черма.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(Аналогичные слова на чеченском – черма, шелиг).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Поговорка: “Пхо йоаца пед хьалбиза йиш яц” – “Бездонную бочку не наполнить”.</a:t>
            </a:r>
          </a:p>
          <a:p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“догӀа делхийташ” -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делха» - дождь плачет. Неправильно будет сказать 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даха» (дождь идет).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Есть также слово “с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ерс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 серсаш йа – на улице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моросит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Аналогично со снегом – «лоа делха», но не «ло даха».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в случае со снегом говорят «ло дуьллу» - покрывается снегом.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Зе-зулам – вред-зло, зловредие.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Ларх1а – уважать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Хьаста – ласкать, но хоаставе – хвалить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 – зерно, злаки, хлеб на корню.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дуаш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веце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живет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настояшей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жизнью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кто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растит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Долчох хьурмат дар – быть бережливым, похожие слова – кходар, хам бар, лорадар.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йисте</a:t>
            </a:r>
            <a:r>
              <a:rPr lang="nl-BE" dirty="0"/>
              <a:t> </a:t>
            </a:r>
            <a:r>
              <a:rPr lang="nl-BE" dirty="0" err="1"/>
              <a:t>вахе</a:t>
            </a:r>
            <a:r>
              <a:rPr lang="nl-BE" dirty="0"/>
              <a:t> а </a:t>
            </a:r>
            <a:r>
              <a:rPr lang="nl-BE" dirty="0" err="1"/>
              <a:t>хина</a:t>
            </a:r>
            <a:r>
              <a:rPr lang="nl-BE" dirty="0"/>
              <a:t> </a:t>
            </a:r>
            <a:r>
              <a:rPr lang="nl-BE" dirty="0" err="1"/>
              <a:t>хьурмат</a:t>
            </a:r>
            <a:r>
              <a:rPr lang="nl-BE" dirty="0"/>
              <a:t> </a:t>
            </a:r>
            <a:r>
              <a:rPr lang="nl-BE" dirty="0" err="1"/>
              <a:t>де</a:t>
            </a:r>
            <a:r>
              <a:rPr lang="nl-BE" dirty="0"/>
              <a:t> (</a:t>
            </a:r>
            <a:r>
              <a:rPr lang="nl-BE" dirty="0" err="1"/>
              <a:t>кхом</a:t>
            </a:r>
            <a:r>
              <a:rPr lang="nl-BE" dirty="0"/>
              <a:t> </a:t>
            </a:r>
            <a:r>
              <a:rPr lang="nl-BE" dirty="0" err="1"/>
              <a:t>бе</a:t>
            </a:r>
            <a:r>
              <a:rPr lang="nl-BE" dirty="0"/>
              <a:t>).</a:t>
            </a:r>
            <a:r>
              <a:rPr lang="ce-Cyrl-RU" dirty="0"/>
              <a:t> - </a:t>
            </a:r>
            <a:r>
              <a:rPr lang="nl-BE" dirty="0" err="1"/>
              <a:t>Даже</a:t>
            </a:r>
            <a:r>
              <a:rPr lang="nl-BE" dirty="0"/>
              <a:t> </a:t>
            </a:r>
            <a:r>
              <a:rPr lang="nl-BE" dirty="0" err="1"/>
              <a:t>живя</a:t>
            </a:r>
            <a:r>
              <a:rPr lang="nl-BE" dirty="0"/>
              <a:t> у </a:t>
            </a:r>
            <a:r>
              <a:rPr lang="nl-BE" dirty="0" err="1"/>
              <a:t>реки</a:t>
            </a:r>
            <a:r>
              <a:rPr lang="nl-BE" dirty="0"/>
              <a:t>, </a:t>
            </a:r>
            <a:r>
              <a:rPr lang="nl-BE" dirty="0" err="1"/>
              <a:t>воду</a:t>
            </a:r>
            <a:r>
              <a:rPr lang="nl-BE" dirty="0"/>
              <a:t> </a:t>
            </a:r>
            <a:r>
              <a:rPr lang="nl-BE" dirty="0" err="1"/>
              <a:t>береги</a:t>
            </a:r>
            <a:r>
              <a:rPr lang="nl-BE" dirty="0"/>
              <a:t> (</a:t>
            </a:r>
            <a:r>
              <a:rPr lang="nl-BE" dirty="0" err="1"/>
              <a:t>цени</a:t>
            </a:r>
            <a:r>
              <a:rPr lang="nl-BE" dirty="0"/>
              <a:t>).</a:t>
            </a:r>
            <a:endParaRPr lang="ce-Cyrl-RU" dirty="0"/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Г1амсилг «да», а не «йа» (также нускал «да») – по правилу, слова, обозначающие женщин, имеют показатель класса «йа», но эти два слова являются исключением.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(то же самое в чеченском, «г1ам ду», «нускал ду»). Классы более подробно в Притче 3.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Мурбенна – так говорят о прогнившей древесине, не пригодной для огня.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Сий дар – чествовать, уважать.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Мераж – нос, сопли.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чеченской орфографии здесь делается различие, в том числе между ед. и мн. числом: нос – мара, марош; сопли – марш, маршаш.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Ц1аьрмата – скупой. Синонимы – сутара, б1армеца, пис, самеца.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«ц1аьрмат» означает «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уродливый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мерзкий».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Мекх – хлеб (чеч. бепиг, кхаллар)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Юхкаш – огрызки (чеч. юьхкаш)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Зирталгаш – крошки (чеч. цуьргаш)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Хьаошалг1а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вахача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модзаца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мара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молаш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ший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ц1аг1а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маькха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бац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гостях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пьет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медом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хотя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дома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нет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хлебной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крошки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1алак а хинна – погибнув, деепричастный оборот с союзом “а”, очень распостранены в ингушском и чеченском языках, мы рассмотрим их позже.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17867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Н</a:t>
            </a:r>
            <a:r>
              <a:rPr lang="ce-Cyrl-RU">
                <a:effectLst/>
              </a:rPr>
              <a:t>аписание йу</a:t>
            </a:r>
            <a:r>
              <a:rPr lang="ce-Cyrl-RU" dirty="0">
                <a:effectLst/>
              </a:rPr>
              <a:t>, йа в чеченском по правилом новой орфографии обязательно.</a:t>
            </a:r>
          </a:p>
          <a:p>
            <a:br>
              <a:rPr lang="ce-Cyrl-RU" dirty="0">
                <a:effectLst/>
              </a:rPr>
            </a:br>
            <a:r>
              <a:rPr lang="ru-RU" dirty="0">
                <a:effectLst/>
              </a:rPr>
              <a:t>Твердый знак ъ </a:t>
            </a:r>
            <a:r>
              <a:rPr lang="ce-Cyrl-RU" dirty="0">
                <a:effectLst/>
              </a:rPr>
              <a:t>после гласных </a:t>
            </a:r>
            <a:r>
              <a:rPr lang="ru-RU" dirty="0">
                <a:effectLst/>
              </a:rPr>
              <a:t>служит </a:t>
            </a:r>
            <a:r>
              <a:rPr lang="ce-Cyrl-RU" dirty="0">
                <a:effectLst/>
              </a:rPr>
              <a:t>также</a:t>
            </a:r>
            <a:r>
              <a:rPr lang="ru-RU" dirty="0">
                <a:effectLst/>
              </a:rPr>
              <a:t> для обозначения межсвязочного смыка, твердого приступа. Произн</a:t>
            </a:r>
            <a:r>
              <a:rPr lang="ce-Cyrl-RU" dirty="0">
                <a:effectLst/>
              </a:rPr>
              <a:t>осится как </a:t>
            </a:r>
            <a:r>
              <a:rPr lang="ru-RU" dirty="0">
                <a:effectLst/>
              </a:rPr>
              <a:t>в слове О’ОН</a:t>
            </a:r>
            <a:r>
              <a:rPr lang="ce-Cyrl-RU" dirty="0">
                <a:effectLst/>
              </a:rPr>
              <a:t>. </a:t>
            </a:r>
            <a:br>
              <a:rPr lang="ce-Cyrl-RU" dirty="0">
                <a:effectLst/>
              </a:rPr>
            </a:br>
            <a:r>
              <a:rPr lang="ce-Cyrl-RU" dirty="0">
                <a:effectLst/>
              </a:rPr>
              <a:t>шиъ, кхоъ</a:t>
            </a:r>
            <a:r>
              <a:rPr lang="ru-RU" dirty="0">
                <a:effectLst/>
              </a:rPr>
              <a:t>; </a:t>
            </a:r>
            <a:r>
              <a:rPr lang="ce-Cyrl-RU" dirty="0">
                <a:effectLst/>
              </a:rPr>
              <a:t>то</a:t>
            </a:r>
            <a:r>
              <a:rPr lang="ru-RU" dirty="0">
                <a:effectLst/>
              </a:rPr>
              <a:t>ъал </a:t>
            </a:r>
            <a:r>
              <a:rPr lang="ce-Cyrl-RU" dirty="0">
                <a:effectLst/>
              </a:rPr>
              <a:t>- достаточно</a:t>
            </a:r>
            <a:r>
              <a:rPr lang="ru-RU" dirty="0">
                <a:effectLst/>
              </a:rPr>
              <a:t>.. </a:t>
            </a:r>
            <a:endParaRPr lang="ce-Cyrl-RU" dirty="0">
              <a:effectLst/>
            </a:endParaRPr>
          </a:p>
          <a:p>
            <a:br>
              <a:rPr lang="ce-Cyrl-RU" dirty="0">
                <a:effectLst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Составные географические названия также пишутся через дефис: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Нана-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Наьсаре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Шолж-Г1ала.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418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55A86-9B17-54B9-2CE5-8916635CDC73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D7826-67D3-570C-DC2E-EC5B60B640A7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E0B99-DB1E-7DFC-9C7B-70FA11250A1B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30/06/2026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977621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ce-Cyrl-RU" dirty="0"/>
              <a:t>ингушские притчи </a:t>
            </a:r>
            <a:br>
              <a:rPr lang="ce-Cyrl-RU" dirty="0"/>
            </a:br>
            <a:r>
              <a:rPr lang="ce-Cyrl-RU" dirty="0"/>
              <a:t>с переводом на русский, чеченский и Английский языки.</a:t>
            </a:r>
            <a:br>
              <a:rPr lang="ce-Cyrl-RU" dirty="0"/>
            </a:br>
            <a:r>
              <a:rPr lang="ru-RU" dirty="0"/>
              <a:t>Р</a:t>
            </a:r>
            <a:r>
              <a:rPr lang="ce-Cyrl-RU" dirty="0"/>
              <a:t>азбор лексики и грамматики.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rmAutofit fontScale="90000"/>
          </a:bodyPr>
          <a:lstStyle/>
          <a:p>
            <a:pPr algn="ctr"/>
            <a:r>
              <a:rPr lang="ce-Cyrl-RU" dirty="0"/>
              <a:t>Мудрые наставления наших предков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171671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171671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768955"/>
            <a:ext cx="8637072" cy="843945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dirty="0"/>
              <a:t>Из ингушского фольклора</a:t>
            </a:r>
            <a:br>
              <a:rPr lang="ce-Cyrl-RU" dirty="0"/>
            </a:br>
            <a:r>
              <a:rPr lang="ce-Cyrl-RU" dirty="0"/>
              <a:t>И.А. Дахкильгов, 2000 г.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алак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ь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хиларах 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2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Гибель Пиръона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 Downfall of the Pharaoh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770917" y="910779"/>
            <a:ext cx="105253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r>
              <a:rPr lang="ru-RU" sz="1600" dirty="0"/>
              <a:t>- Со а веций ды къувкъадеш, догӀа делхийташ. Со а веций даьла? – оалаш хиннад цо.</a:t>
            </a:r>
          </a:p>
          <a:p>
            <a:endParaRPr lang="ru-RU" sz="1600" dirty="0"/>
          </a:p>
          <a:p>
            <a:r>
              <a:rPr lang="ru-RU" sz="1600" dirty="0"/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ПирӀон воаве дагадеад гӀамсилга. ПирӀонна дӀатӀа а даха, аьннад цо:</a:t>
            </a:r>
          </a:p>
          <a:p>
            <a:r>
              <a:rPr lang="ru-RU" sz="1600" dirty="0"/>
              <a:t>- ПирӀон, хьайха нах белаш болга хой хьона?</a:t>
            </a:r>
          </a:p>
          <a:p>
            <a:r>
              <a:rPr lang="ru-RU" sz="1600" dirty="0"/>
              <a:t>- Сох хӀана бел? – аьнна, хьаттад цо.</a:t>
            </a:r>
          </a:p>
          <a:p>
            <a:r>
              <a:rPr lang="ru-RU" sz="1600" dirty="0"/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r>
              <a:rPr lang="ru-RU" sz="1600" dirty="0"/>
              <a:t>- Долче, хьа духьа из дитар аз, - аьннад ПирӀона.</a:t>
            </a:r>
          </a:p>
          <a:p>
            <a:r>
              <a:rPr lang="ru-RU" sz="1600" dirty="0"/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r>
              <a:rPr lang="ru-RU" sz="1600" dirty="0"/>
              <a:t>- Иштта из долче, хьа духьа из а дут аз, - аьлар ПирӀона.</a:t>
            </a:r>
          </a:p>
          <a:p>
            <a:r>
              <a:rPr lang="ru-RU" sz="1600" dirty="0"/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r>
              <a:rPr lang="ru-RU" sz="1600" dirty="0"/>
              <a:t>- ДӀахо дӀайодача хана из а кхы дергдоацаш дут аз, - жоп деннад ПирӀона.</a:t>
            </a:r>
          </a:p>
          <a:p>
            <a:endParaRPr lang="ru-RU" sz="1600" dirty="0"/>
          </a:p>
          <a:p>
            <a:r>
              <a:rPr lang="ru-RU" sz="1600" dirty="0"/>
              <a:t>Из аьнна воаллашехьа хӀалак а хинна, вайна дӀаваьлар ПирӀон.</a:t>
            </a:r>
            <a:endParaRPr lang="nl-BE" sz="1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443C54C-441A-C5BB-DBFD-00B50500AC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742565" y="311883"/>
            <a:ext cx="67068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алакахиларах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906292" y="551289"/>
            <a:ext cx="10379413" cy="575542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2.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Гибель Пиръона</a:t>
            </a:r>
            <a:br>
              <a:rPr kumimoji="0" lang="ce-Cyrl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Пиръон был неправедный человек. Где-то на краю света из латуни и меди он сделал своды в виде небес. По ним он с грохотом катал бочки и лил из них воду.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Я ли не могу греметь громом? Я ли не могу лить дождь? Я ли не являюсь богом? – говорил он при этом.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Жил Пиръон пятьсот лет. Хотя все это время он и пытался соперничать с самим Всевышним, но Бог не причинял ему никакого вреда, потому что Пиръон соблюдал три хороших обычая: уважал старших, любил детей, свято относился к пище.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Некая гамсилг – ведьма – решила погубить Пиръона. Пришла она к нему и сказала: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Знаешь ли ты, Пиръон, что люди смеются над тобою?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почему они смеются надо мною? – спросил 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Смеются потому, что ты уважаешь старых людей, которые столь дряхлы и непригодны в этой жизни, что их впору класть в могилы.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Ладно, ради тебя я этого больше делать не буду.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еще люди смеются, - продолжала гамсилг, - что ты ласкаешь грязных и сопливых детей.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Раз так и этого ради тебя я более не буду делать, - сказал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Также люди смеются над тобой, говоря, что ты жаден настолько, что собираешь хлебные крошки и огрызки, - сказала гамсилг.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Далее и этого я не буду делать, - ответил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После этих слов Пиръон сразу же сгинул со света.</a:t>
            </a:r>
            <a:endParaRPr kumimoji="0" lang="nl-B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1" y="17836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3E228-0DFB-EEF1-2338-3AD6B9EA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BEDB9C-78AC-CAD6-9DEC-DD7DD284558F}"/>
              </a:ext>
            </a:extLst>
          </p:cNvPr>
          <p:cNvSpPr txBox="1"/>
          <p:nvPr/>
        </p:nvSpPr>
        <p:spPr>
          <a:xfrm>
            <a:off x="5108642" y="10741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ENGLISH</a:t>
            </a:r>
            <a:endParaRPr lang="nl-BE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AE75D-6FB0-0CE2-7060-2DE8ECBECE3C}"/>
              </a:ext>
            </a:extLst>
          </p:cNvPr>
          <p:cNvSpPr txBox="1"/>
          <p:nvPr/>
        </p:nvSpPr>
        <p:spPr>
          <a:xfrm>
            <a:off x="906293" y="661864"/>
            <a:ext cx="10379413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2. The Downfall of the Pharaoh</a:t>
            </a:r>
            <a:endParaRPr lang="en-US" sz="1600" b="1" dirty="0"/>
          </a:p>
          <a:p>
            <a:endParaRPr lang="en-US" sz="1600" b="1" dirty="0"/>
          </a:p>
          <a:p>
            <a:r>
              <a:rPr lang="en-US" sz="1600" dirty="0"/>
              <a:t>The Pharaoh was a wicked man. Somewhere at the edge of the world, he fashioned vaults of brass and copper to resemble the heavens. Along these vaults he rolled barrels with a clatter, pouring water from them.</a:t>
            </a:r>
          </a:p>
          <a:p>
            <a:r>
              <a:rPr lang="en-US" sz="1600" dirty="0"/>
              <a:t>‘Am I not able to make thunder roar? Am I not able to make rain fall?’ Am I not a god?’ he would say as he did so.</a:t>
            </a:r>
          </a:p>
          <a:p>
            <a:endParaRPr lang="en-US" sz="1600" dirty="0"/>
          </a:p>
          <a:p>
            <a:r>
              <a:rPr lang="en-US" sz="1600" dirty="0"/>
              <a:t>Pharaoh lived for five hundred years. Although all this time he tried to rival the Almighty himself, God did him no harm, because Pharaoh observed three good customs: he respected his elders, loved children, and treated food with reverence.</a:t>
            </a:r>
          </a:p>
          <a:p>
            <a:endParaRPr lang="en-US" sz="1600" dirty="0"/>
          </a:p>
          <a:p>
            <a:r>
              <a:rPr lang="en-US" sz="1600" dirty="0"/>
              <a:t>A certain </a:t>
            </a:r>
            <a:r>
              <a:rPr lang="en-US" sz="1600" dirty="0" err="1"/>
              <a:t>hamsilg</a:t>
            </a:r>
            <a:r>
              <a:rPr lang="en-US" sz="1600" dirty="0"/>
              <a:t> – a witch – decided to destroy Pharaoh. She came to him and said:</a:t>
            </a:r>
          </a:p>
          <a:p>
            <a:r>
              <a:rPr lang="en-US" sz="1600" dirty="0"/>
              <a:t>‘Do you know, Pharaoh, that people are laughing at you?’</a:t>
            </a:r>
          </a:p>
          <a:p>
            <a:r>
              <a:rPr lang="en-US" sz="1600" dirty="0"/>
              <a:t>‘And why are they laughing at me?’ he asked.</a:t>
            </a:r>
          </a:p>
          <a:p>
            <a:r>
              <a:rPr lang="en-US" sz="1600" dirty="0"/>
              <a:t>‘They laugh because you respect old people who are so decrepit and useless in this life that they ought to be put in their graves.’</a:t>
            </a:r>
          </a:p>
          <a:p>
            <a:r>
              <a:rPr lang="en-US" sz="1600" dirty="0"/>
              <a:t>‘All right, for your sake I won’t do that anymore.’</a:t>
            </a:r>
          </a:p>
          <a:p>
            <a:r>
              <a:rPr lang="en-US" sz="1600" dirty="0"/>
              <a:t>‘And people also laugh,’ continued the </a:t>
            </a:r>
            <a:r>
              <a:rPr lang="en-US" sz="1600" dirty="0" err="1"/>
              <a:t>gamsilg</a:t>
            </a:r>
            <a:r>
              <a:rPr lang="en-US" sz="1600" dirty="0"/>
              <a:t>, ‘that you caress dirty, snotty children.’</a:t>
            </a:r>
          </a:p>
          <a:p>
            <a:r>
              <a:rPr lang="en-US" sz="1600" dirty="0"/>
              <a:t>‘In that case, for your sake, I shall stop doing that too,’ said Pharaoh.</a:t>
            </a:r>
          </a:p>
          <a:p>
            <a:r>
              <a:rPr lang="en-US" sz="1600" dirty="0"/>
              <a:t>‘People also laugh at you, saying that you are so greedy that you gather breadcrumbs and scraps,’ said the </a:t>
            </a:r>
            <a:r>
              <a:rPr lang="en-US" sz="1600" dirty="0" err="1"/>
              <a:t>gamsilg</a:t>
            </a:r>
            <a:r>
              <a:rPr lang="en-US" sz="1600" dirty="0"/>
              <a:t>.</a:t>
            </a:r>
          </a:p>
          <a:p>
            <a:r>
              <a:rPr lang="en-US" sz="1600" dirty="0"/>
              <a:t>‘I shall stop doing that as well,’ replied Pharaoh.</a:t>
            </a:r>
          </a:p>
          <a:p>
            <a:endParaRPr lang="en-US" sz="1600" dirty="0"/>
          </a:p>
          <a:p>
            <a:r>
              <a:rPr lang="en-US" sz="1600" dirty="0"/>
              <a:t>After these words, Pharaoh vanished from the face of the earth at once.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3912258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386A-E652-F092-4302-9A5564B6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E2E525-A17F-4826-347D-F47A09EB0F54}"/>
              </a:ext>
            </a:extLst>
          </p:cNvPr>
          <p:cNvSpPr txBox="1"/>
          <p:nvPr/>
        </p:nvSpPr>
        <p:spPr>
          <a:xfrm>
            <a:off x="906293" y="553306"/>
            <a:ext cx="10379413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2. </a:t>
            </a:r>
            <a:r>
              <a:rPr lang="ru-RU" sz="1600" b="1" dirty="0"/>
              <a:t>Пир</a:t>
            </a:r>
            <a:r>
              <a:rPr lang="nl-BE" sz="1600" b="1" dirty="0"/>
              <a:t>l</a:t>
            </a:r>
            <a:r>
              <a:rPr lang="ru-RU" sz="1600" b="1" dirty="0"/>
              <a:t>ун х</a:t>
            </a:r>
            <a:r>
              <a:rPr lang="nl-BE" sz="1600" b="1" dirty="0"/>
              <a:t>l</a:t>
            </a:r>
            <a:r>
              <a:rPr lang="ru-RU" sz="1600" b="1" dirty="0"/>
              <a:t>аллакьхиларах</a:t>
            </a:r>
            <a:endParaRPr lang="en-US" sz="1600" b="1" dirty="0"/>
          </a:p>
          <a:p>
            <a:r>
              <a:rPr lang="ru-RU" sz="1600" dirty="0"/>
              <a:t>ПирӀун харцхьа стаг хилла. Цхьанхьа дуьненна йистехь гезах цхьа стигалан хьесапе кхалонаш йина цо. Царна тӀехула черманаш хоьхкуш, татанаш деш, тӀера хи Ӏенадеш хилла иза.</a:t>
            </a:r>
          </a:p>
          <a:p>
            <a:r>
              <a:rPr lang="ru-RU" sz="1600" dirty="0"/>
              <a:t>- Со а вац стигал къовкъайеш, догӀа доьлхуьйтуш. Со а вац дела? – олуш хилла цо.</a:t>
            </a:r>
          </a:p>
          <a:p>
            <a:endParaRPr lang="ru-RU" sz="1600" dirty="0"/>
          </a:p>
          <a:p>
            <a:r>
              <a:rPr lang="ru-RU" sz="1600" dirty="0"/>
              <a:t>Вехаш пхи бӀе шо даьккхина ПирӀуно. Харцачу хӀуманна тӀехь иза воллушехь а, зен-зулам хуьлуш хилла дац цунна, хӀунда аьлча, цунах доллуш дар дика кхоъ хӀума – баккхий нах ларар, бераш хьоьстуш хилар, йалтина а дуучунна молучунна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ПирӀун вохаван дагадеан гӀоман. ПирӀунна тӀе а дахна, аьлла цо:</a:t>
            </a:r>
          </a:p>
          <a:p>
            <a:r>
              <a:rPr lang="ru-RU" sz="1600" dirty="0"/>
              <a:t>- ПирӀун, хьайх нах боьлуш болий хаьий хьуна?</a:t>
            </a:r>
          </a:p>
          <a:p>
            <a:r>
              <a:rPr lang="ru-RU" sz="1600" dirty="0"/>
              <a:t>- Сох хӀунда боьлу? – аьлла, хаьттина цо.</a:t>
            </a:r>
          </a:p>
          <a:p>
            <a:r>
              <a:rPr lang="ru-RU" sz="1600" dirty="0"/>
              <a:t>- Къанбелла, мурбоьлла, хӀуманна пайден боцачу, коше бахка бен мегар боцачу баккхийчу нехан ахь сий дарех боьлу, - аьлла.</a:t>
            </a:r>
          </a:p>
          <a:p>
            <a:r>
              <a:rPr lang="ru-RU" sz="1600" dirty="0"/>
              <a:t>- Делахь, хьан дуьхьа иза дитира ас, - аьлла ПирӀуно.</a:t>
            </a:r>
          </a:p>
          <a:p>
            <a:r>
              <a:rPr lang="ru-RU" sz="1600" dirty="0"/>
              <a:t>- Кхин а боьлу хьох нах, - кхидӀа дийцина гӀомо, - модех дохку, мераш охьаоьху бераш хьестадо ахь, бохуш, боьлу хьох нах.</a:t>
            </a:r>
          </a:p>
          <a:p>
            <a:r>
              <a:rPr lang="ru-RU" sz="1600" dirty="0"/>
              <a:t>- Иштта иза делахь, хьан дуьхьа иза а дуьту ас, - элира ПирӀуно.</a:t>
            </a:r>
          </a:p>
          <a:p>
            <a:r>
              <a:rPr lang="ru-RU" sz="1600" dirty="0"/>
              <a:t>- ХӀета, кхин а нах боьлу хьох. Наха боху хьо сутара ву, баьпкан йуьхкаш дӀайохкуш, цуьргаш гулдеш ву, бах цара, - аьлла гӀомо.</a:t>
            </a:r>
          </a:p>
          <a:p>
            <a:r>
              <a:rPr lang="ru-RU" sz="1600" dirty="0"/>
              <a:t>- КхидӀа дӀайоьдучу хенахь иза а кхин дийра доцуш дуьту ас, - жоп делла ПирӀуно.</a:t>
            </a:r>
          </a:p>
          <a:p>
            <a:endParaRPr lang="ru-RU" sz="1600" dirty="0"/>
          </a:p>
          <a:p>
            <a:r>
              <a:rPr lang="ru-RU" sz="1600" dirty="0"/>
              <a:t>Иза аьлла воллушехь хӀаллак а хилла, вайна дӀавелир ПирӀун.</a:t>
            </a:r>
            <a:endParaRPr lang="ru-RU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501EA-A4E5-78D0-3E04-F3E2BF5DAC77}"/>
              </a:ext>
            </a:extLst>
          </p:cNvPr>
          <p:cNvSpPr txBox="1"/>
          <p:nvPr/>
        </p:nvSpPr>
        <p:spPr>
          <a:xfrm>
            <a:off x="5108642" y="113760"/>
            <a:ext cx="1974716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b="1" dirty="0"/>
              <a:t>НОХЧИЙН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9317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5353" y="164324"/>
            <a:ext cx="2021294" cy="580936"/>
          </a:xfrm>
        </p:spPr>
        <p:txBody>
          <a:bodyPr>
            <a:normAutofit/>
          </a:bodyPr>
          <a:lstStyle/>
          <a:p>
            <a:r>
              <a:rPr lang="ce-Cyrl-RU" dirty="0"/>
              <a:t>Лексика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79155C-CF26-7137-7DDB-1E5F0CAF8B18}"/>
              </a:ext>
            </a:extLst>
          </p:cNvPr>
          <p:cNvSpPr txBox="1"/>
          <p:nvPr/>
        </p:nvSpPr>
        <p:spPr>
          <a:xfrm>
            <a:off x="516030" y="1183629"/>
            <a:ext cx="853272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 а веций ды къувкъадеш, догӀа делхийташ. Со а веций даьла? – оалаш хиннад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ПирӀон воаве дагадеад гӀамсилга. ПирӀонна дӀатӀа а даха, аьннад цо: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ПирӀон, хьайха нах белаш болга хой хьона?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Сох хӀана бел? – аьнна, хьаттад цо.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Долче, хьа духьа из дитар аз, - аьннад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Иштта из долче, хьа духьа из а дут аз, - аьлар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- ДӀахо дӀайодача хана из а кхы дергдоацаш дут аз, - жоп деннад ПирӀона.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Из аьнна воаллашехьа хӀалак а хинна, вайна дӀаваьлар ПирӀон.</a:t>
            </a:r>
            <a:endParaRPr kumimoji="0" lang="nl-BE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7DCDC-5205-92F6-7AED-35748EF0811E}"/>
              </a:ext>
            </a:extLst>
          </p:cNvPr>
          <p:cNvSpPr txBox="1"/>
          <p:nvPr/>
        </p:nvSpPr>
        <p:spPr>
          <a:xfrm>
            <a:off x="3722034" y="656122"/>
            <a:ext cx="4747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2. </a:t>
            </a:r>
            <a:r>
              <a:rPr lang="ru-RU" sz="2400" b="1" dirty="0"/>
              <a:t>Пир</a:t>
            </a:r>
            <a:r>
              <a:rPr lang="en-US" sz="2400" b="1" dirty="0"/>
              <a:t>l</a:t>
            </a:r>
            <a:r>
              <a:rPr lang="ru-RU" sz="2400" b="1" dirty="0"/>
              <a:t>он</a:t>
            </a:r>
            <a:r>
              <a:rPr lang="ce-Cyrl-RU" sz="2400" b="1" dirty="0"/>
              <a:t> </a:t>
            </a:r>
            <a:r>
              <a:rPr lang="ru-RU" sz="2400" b="1" dirty="0"/>
              <a:t>х</a:t>
            </a:r>
            <a:r>
              <a:rPr lang="en-US" sz="2400" b="1" dirty="0"/>
              <a:t>l</a:t>
            </a:r>
            <a:r>
              <a:rPr lang="ru-RU" sz="2400" b="1" dirty="0"/>
              <a:t>алак</a:t>
            </a:r>
            <a:r>
              <a:rPr lang="ce-Cyrl-RU" sz="2400" b="1" dirty="0"/>
              <a:t>ь</a:t>
            </a:r>
            <a:r>
              <a:rPr lang="ru-RU" sz="2400" b="1" dirty="0"/>
              <a:t>хиларах</a:t>
            </a:r>
            <a:endParaRPr lang="nl-BE" sz="24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2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4" dur="indefinite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9167" y="221474"/>
            <a:ext cx="8593667" cy="489726"/>
          </a:xfrm>
        </p:spPr>
        <p:txBody>
          <a:bodyPr>
            <a:normAutofit/>
          </a:bodyPr>
          <a:lstStyle/>
          <a:p>
            <a:r>
              <a:rPr lang="ru-RU" sz="2400" dirty="0"/>
              <a:t>Г</a:t>
            </a:r>
            <a:r>
              <a:rPr lang="ce-Cyrl-RU" sz="2400" dirty="0"/>
              <a:t>рамматика : двойные буквы, составные слова</a:t>
            </a:r>
            <a:endParaRPr lang="nl-BE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7791449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встречаются подряд две двойные </a:t>
            </a:r>
            <a:r>
              <a:rPr lang="ce-Cyrl-RU" dirty="0">
                <a:solidFill>
                  <a:prstClr val="black"/>
                </a:solidFill>
              </a:rPr>
              <a:t>согласные </a:t>
            </a:r>
            <a:r>
              <a:rPr lang="ru-RU" dirty="0">
                <a:solidFill>
                  <a:prstClr val="black"/>
                </a:solidFill>
              </a:rPr>
              <a:t>буквы, то первая в письме сокращается: </a:t>
            </a:r>
            <a:br>
              <a:rPr lang="ru-RU" dirty="0">
                <a:solidFill>
                  <a:prstClr val="black"/>
                </a:solidFill>
              </a:rPr>
            </a:br>
            <a:r>
              <a:rPr lang="ru-RU" strike="sngStrike" dirty="0">
                <a:solidFill>
                  <a:prstClr val="black"/>
                </a:solidFill>
              </a:rPr>
              <a:t>докхкха</a:t>
            </a:r>
            <a:r>
              <a:rPr lang="ru-RU" dirty="0">
                <a:solidFill>
                  <a:prstClr val="black"/>
                </a:solidFill>
              </a:rPr>
              <a:t> - доккха, </a:t>
            </a:r>
            <a:r>
              <a:rPr lang="ru-RU" strike="sngStrike" dirty="0">
                <a:solidFill>
                  <a:prstClr val="black"/>
                </a:solidFill>
              </a:rPr>
              <a:t>цIкъа</a:t>
            </a:r>
            <a:r>
              <a:rPr lang="ru-RU" dirty="0">
                <a:solidFill>
                  <a:prstClr val="black"/>
                </a:solidFill>
              </a:rPr>
              <a:t> - цкъа, </a:t>
            </a:r>
            <a:r>
              <a:rPr lang="ru-RU" strike="sngStrike" dirty="0">
                <a:solidFill>
                  <a:prstClr val="black"/>
                </a:solidFill>
              </a:rPr>
              <a:t>тIкъ</a:t>
            </a:r>
            <a:r>
              <a:rPr lang="ce-Cyrl-RU" strike="sngStrike" dirty="0">
                <a:solidFill>
                  <a:prstClr val="black"/>
                </a:solidFill>
              </a:rPr>
              <a:t>о</a:t>
            </a:r>
            <a:r>
              <a:rPr lang="ru-RU" dirty="0">
                <a:solidFill>
                  <a:prstClr val="black"/>
                </a:solidFill>
              </a:rPr>
              <a:t> – ткъ</a:t>
            </a:r>
            <a:r>
              <a:rPr lang="ce-Cyrl-RU" dirty="0">
                <a:solidFill>
                  <a:prstClr val="black"/>
                </a:solidFill>
              </a:rPr>
              <a:t>о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Если двойные буквы принадлежат разным частям составного слова, то они не сокращаются :  юхьк1оал (лицемерие).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Гласные ю, я, яь могут передаваться как: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йу – ю, йа – я, йаь – яь</a:t>
            </a:r>
            <a:endParaRPr lang="ce-Cyrl-RU" dirty="0">
              <a:solidFill>
                <a:prstClr val="black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Составные слова – два слова с разными корнями, или корень с приставками и окончаниями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Общее правило :  если первая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часть слова заканчивается на согласный, а вторая – на гласный, то между ними ставится Ъ – твердый знак.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lang="ru-RU" dirty="0">
                <a:solidFill>
                  <a:prstClr val="black"/>
                </a:solidFill>
              </a:rPr>
              <a:t>хьалъолла – повесить</a:t>
            </a:r>
            <a:r>
              <a:rPr lang="ce-Cyrl-RU" dirty="0">
                <a:solidFill>
                  <a:prstClr val="black"/>
                </a:solidFill>
              </a:rPr>
              <a:t>, </a:t>
            </a:r>
            <a:r>
              <a:rPr lang="ce-Cyrl-RU" dirty="0"/>
              <a:t>чакхъяккха – закончить, шелъеннай – замерзла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</a:t>
            </a:r>
            <a:r>
              <a:rPr lang="ce-Cyrl-RU" dirty="0">
                <a:solidFill>
                  <a:prstClr val="black"/>
                </a:solidFill>
              </a:rPr>
              <a:t>при этом</a:t>
            </a:r>
            <a:r>
              <a:rPr lang="ru-RU" dirty="0">
                <a:solidFill>
                  <a:prstClr val="black"/>
                </a:solidFill>
              </a:rPr>
              <a:t> первая часть заканчивается на согласную </a:t>
            </a:r>
            <a:r>
              <a:rPr lang="ru-RU" i="1" dirty="0">
                <a:solidFill>
                  <a:prstClr val="black"/>
                </a:solidFill>
              </a:rPr>
              <a:t>г, хь, к</a:t>
            </a:r>
            <a:r>
              <a:rPr lang="ru-RU" dirty="0">
                <a:solidFill>
                  <a:prstClr val="black"/>
                </a:solidFill>
              </a:rPr>
              <a:t>, то между ними ставится Ь: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яхьаргья – принесу, кагье – ломай, Яхьья – имя, шокьеттарг – свистящий.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Специальный случай : если первая часть составного слова оканчивается на «к», а вторая начинается с «х», то между ними надо ставить мягкий знак</a:t>
            </a:r>
            <a:r>
              <a:rPr lang="ce-Cyrl-RU" dirty="0">
                <a:solidFill>
                  <a:prstClr val="black"/>
                </a:solidFill>
              </a:rPr>
              <a:t>.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>
                <a:solidFill>
                  <a:prstClr val="black"/>
                </a:solidFill>
              </a:rPr>
              <a:t>Без разделительного знака “к” и “х” слились бы в букву “кх”, а с твердым знаком получилась бы буква “къ”.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2415</Words>
  <Application>Microsoft Office PowerPoint</Application>
  <PresentationFormat>Widescreen</PresentationFormat>
  <Paragraphs>124</Paragraphs>
  <Slides>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Alasassy Caps</vt:lpstr>
      <vt:lpstr>Aptos</vt:lpstr>
      <vt:lpstr>Arial</vt:lpstr>
      <vt:lpstr>Gill Sans MT</vt:lpstr>
      <vt:lpstr>Gallery</vt:lpstr>
      <vt:lpstr>Опыт изучения ингушского языка</vt:lpstr>
      <vt:lpstr>Мудрые наставления наших предков</vt:lpstr>
      <vt:lpstr>Пирlон хlалакьхиларах  </vt:lpstr>
      <vt:lpstr>2. Пирlон хlалакахиларах</vt:lpstr>
      <vt:lpstr>PowerPoint Presentation</vt:lpstr>
      <vt:lpstr>PowerPoint Presentation</vt:lpstr>
      <vt:lpstr>PowerPoint Presentation</vt:lpstr>
      <vt:lpstr>Лексика</vt:lpstr>
      <vt:lpstr>Грамматика : двойные буквы, составные слова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129</cp:revision>
  <dcterms:created xsi:type="dcterms:W3CDTF">2026-06-01T18:53:02Z</dcterms:created>
  <dcterms:modified xsi:type="dcterms:W3CDTF">2026-06-29T22:38:07Z</dcterms:modified>
</cp:coreProperties>
</file>