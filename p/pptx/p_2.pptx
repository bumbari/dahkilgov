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3" ContentType="audio/m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7" r:id="rId3"/>
    <p:sldId id="258" r:id="rId4"/>
    <p:sldId id="259" r:id="rId5"/>
    <p:sldId id="267" r:id="rId6"/>
    <p:sldId id="260" r:id="rId7"/>
    <p:sldId id="261" r:id="rId8"/>
    <p:sldId id="263" r:id="rId9"/>
    <p:sldId id="266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D185C242-68B7-4DC8-A407-97B28E6BAFC5}">
          <p14:sldIdLst>
            <p14:sldId id="256"/>
          </p14:sldIdLst>
        </p14:section>
        <p14:section name="book_cover" id="{FEE08EA0-157C-42D5-9554-D7F4899B98FD}">
          <p14:sldIdLst>
            <p14:sldId id="257"/>
          </p14:sldIdLst>
        </p14:section>
        <p14:section name="story_name" id="{3529E971-8119-4829-BD88-A7D2789F4180}">
          <p14:sldIdLst>
            <p14:sldId id="258"/>
          </p14:sldIdLst>
        </p14:section>
        <p14:section name="Story_text_inh" id="{9FE4DF01-14C5-45CE-ACA8-0B0B0612A66C}">
          <p14:sldIdLst>
            <p14:sldId id="259"/>
          </p14:sldIdLst>
        </p14:section>
        <p14:section name="Story_text_ru" id="{EC7CF159-B613-4BB0-A71F-6A447E7D2288}">
          <p14:sldIdLst>
            <p14:sldId id="267"/>
          </p14:sldIdLst>
        </p14:section>
        <p14:section name="story_text_eng" id="{1F75236F-9138-4460-9D2C-69429F04EC38}">
          <p14:sldIdLst>
            <p14:sldId id="260"/>
          </p14:sldIdLst>
        </p14:section>
        <p14:section name="story_text_che" id="{0754FFD2-BC67-43BD-9920-805D43719411}">
          <p14:sldIdLst>
            <p14:sldId id="261"/>
            <p14:sldId id="263"/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933"/>
    <a:srgbClr val="CC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9" autoAdjust="0"/>
    <p:restoredTop sz="94688" autoAdjust="0"/>
  </p:normalViewPr>
  <p:slideViewPr>
    <p:cSldViewPr snapToGrid="0">
      <p:cViewPr varScale="1">
        <p:scale>
          <a:sx n="150" d="100"/>
          <a:sy n="150" d="100"/>
        </p:scale>
        <p:origin x="630" y="13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13/06/2026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F455A86-9B17-54B9-2CE5-8916635CDC73}"/>
              </a:ext>
            </a:extLst>
          </p:cNvPr>
          <p:cNvSpPr txBox="1"/>
          <p:nvPr userDrawn="1"/>
        </p:nvSpPr>
        <p:spPr>
          <a:xfrm>
            <a:off x="419054" y="6299200"/>
            <a:ext cx="198224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b="1" dirty="0">
                <a:solidFill>
                  <a:srgbClr val="CC6600"/>
                </a:solidFill>
              </a:rPr>
              <a:t>@LADUGA_LADOGA</a:t>
            </a:r>
            <a:endParaRPr lang="nl-BE" sz="1200" b="1" dirty="0">
              <a:solidFill>
                <a:srgbClr val="CC66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D0D7826-67D3-570C-DC2E-EC5B60B640A7}"/>
              </a:ext>
            </a:extLst>
          </p:cNvPr>
          <p:cNvSpPr txBox="1"/>
          <p:nvPr userDrawn="1"/>
        </p:nvSpPr>
        <p:spPr>
          <a:xfrm>
            <a:off x="3832529" y="6299200"/>
            <a:ext cx="78638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ea typeface="+mn-ea"/>
                <a:cs typeface="+mn-cs"/>
              </a:rPr>
              <a:t>И.А. </a:t>
            </a:r>
            <a:r>
              <a:rPr lang="ru-RU" sz="1400" b="1" kern="1200" noProof="0" dirty="0">
                <a:solidFill>
                  <a:srgbClr val="CC6600"/>
                </a:solidFill>
                <a:latin typeface="+mn-lt"/>
                <a:ea typeface="+mn-ea"/>
                <a:cs typeface="+mn-cs"/>
              </a:rPr>
              <a:t>Дахкильгов</a:t>
            </a:r>
            <a:r>
              <a:rPr kumimoji="0" lang="ru-RU" sz="1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ea typeface="+mn-ea"/>
                <a:cs typeface="+mn-cs"/>
              </a:rPr>
              <a:t>. Хьехаме дувцарш - поучительные рассказы-притчи.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ea typeface="+mn-ea"/>
                <a:cs typeface="+mn-cs"/>
              </a:rPr>
              <a:t> </a:t>
            </a:r>
            <a:r>
              <a:rPr kumimoji="0" lang="ru-RU" sz="1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ea typeface="+mn-ea"/>
                <a:cs typeface="+mn-cs"/>
              </a:rPr>
              <a:t>Из ингушского фольклора.</a:t>
            </a:r>
            <a:endParaRPr lang="nl-BE" sz="1400" b="1" dirty="0">
              <a:solidFill>
                <a:srgbClr val="CC66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86729059"/>
      </p:ext>
    </p:extLst>
  </p:cSld>
  <p:clrMapOvr>
    <a:masterClrMapping/>
  </p:clrMapOvr>
  <p:transition spd="slow">
    <p:cover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13/06/2026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2F62EAB-314F-C75A-21DD-AB2C064388D5}"/>
              </a:ext>
            </a:extLst>
          </p:cNvPr>
          <p:cNvSpPr txBox="1"/>
          <p:nvPr userDrawn="1"/>
        </p:nvSpPr>
        <p:spPr>
          <a:xfrm>
            <a:off x="419054" y="6299200"/>
            <a:ext cx="198224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b="1" dirty="0">
                <a:solidFill>
                  <a:srgbClr val="CC6600"/>
                </a:solidFill>
              </a:rPr>
              <a:t>@LADUGA_LADOGA</a:t>
            </a:r>
            <a:endParaRPr lang="nl-BE" sz="1200" b="1" dirty="0">
              <a:solidFill>
                <a:srgbClr val="CC66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EE0B99-DB1E-7DFC-9C7B-70FA11250A1B}"/>
              </a:ext>
            </a:extLst>
          </p:cNvPr>
          <p:cNvSpPr txBox="1"/>
          <p:nvPr userDrawn="1"/>
        </p:nvSpPr>
        <p:spPr>
          <a:xfrm>
            <a:off x="3832529" y="6299200"/>
            <a:ext cx="78638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ea typeface="+mn-ea"/>
                <a:cs typeface="+mn-cs"/>
              </a:rPr>
              <a:t>И.А. </a:t>
            </a:r>
            <a:r>
              <a:rPr lang="ru-RU" sz="1400" b="1" kern="1200" noProof="0" dirty="0">
                <a:solidFill>
                  <a:srgbClr val="CC6600"/>
                </a:solidFill>
                <a:latin typeface="+mn-lt"/>
                <a:ea typeface="+mn-ea"/>
                <a:cs typeface="+mn-cs"/>
              </a:rPr>
              <a:t>Дахкильгов</a:t>
            </a:r>
            <a:r>
              <a:rPr kumimoji="0" lang="ru-RU" sz="1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ea typeface="+mn-ea"/>
                <a:cs typeface="+mn-cs"/>
              </a:rPr>
              <a:t>. Хьехаме дувцарш - поучительные рассказы-притчи.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ea typeface="+mn-ea"/>
                <a:cs typeface="+mn-cs"/>
              </a:rPr>
              <a:t> </a:t>
            </a:r>
            <a:r>
              <a:rPr kumimoji="0" lang="ru-RU" sz="1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ea typeface="+mn-ea"/>
                <a:cs typeface="+mn-cs"/>
              </a:rPr>
              <a:t>Из ингушского фольклора.</a:t>
            </a:r>
            <a:endParaRPr lang="nl-BE" sz="1400" b="1" dirty="0">
              <a:solidFill>
                <a:srgbClr val="CC66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05231634"/>
      </p:ext>
    </p:extLst>
  </p:cSld>
  <p:clrMapOvr>
    <a:masterClrMapping/>
  </p:clrMapOvr>
  <p:transition spd="slow">
    <p:cover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13/06/2026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00083104"/>
      </p:ext>
    </p:extLst>
  </p:cSld>
  <p:clrMapOvr>
    <a:masterClrMapping/>
  </p:clrMapOvr>
  <p:transition spd="slow">
    <p:cover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13/06/2026</a:t>
            </a:fld>
            <a:endParaRPr lang="nl-B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59756922"/>
      </p:ext>
    </p:extLst>
  </p:cSld>
  <p:clrMapOvr>
    <a:masterClrMapping/>
  </p:clrMapOvr>
  <p:transition spd="slow">
    <p:cover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13/06/2026</a:t>
            </a:fld>
            <a:endParaRPr lang="nl-B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22309565"/>
      </p:ext>
    </p:extLst>
  </p:cSld>
  <p:clrMapOvr>
    <a:masterClrMapping/>
  </p:clrMapOvr>
  <p:transition spd="slow">
    <p:cover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13/06/2026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57941629"/>
      </p:ext>
    </p:extLst>
  </p:cSld>
  <p:clrMapOvr>
    <a:masterClrMapping/>
  </p:clrMapOvr>
  <p:transition spd="slow">
    <p:cover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13/06/2026</a:t>
            </a:fld>
            <a:endParaRPr lang="nl-B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47484124"/>
      </p:ext>
    </p:extLst>
  </p:cSld>
  <p:clrMapOvr>
    <a:masterClrMapping/>
  </p:clrMapOvr>
  <p:transition spd="slow">
    <p:cover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13/06/2026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48654808"/>
      </p:ext>
    </p:extLst>
  </p:cSld>
  <p:clrMapOvr>
    <a:masterClrMapping/>
  </p:clrMapOvr>
  <p:transition spd="slow">
    <p:cover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9D986570-2C26-4E5F-9D28-4D18F9BAC427}" type="datetimeFigureOut">
              <a:rPr lang="nl-BE" smtClean="0"/>
              <a:t>13/06/2026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71820353"/>
      </p:ext>
    </p:extLst>
  </p:cSld>
  <p:clrMapOvr>
    <a:masterClrMapping/>
  </p:clrMapOvr>
  <p:transition spd="slow">
    <p:cover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13/06/2026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799009"/>
      </p:ext>
    </p:extLst>
  </p:cSld>
  <p:clrMapOvr>
    <a:masterClrMapping/>
  </p:clrMapOvr>
  <p:transition spd="slow">
    <p:cover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13/06/2026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36273344"/>
      </p:ext>
    </p:extLst>
  </p:cSld>
  <p:clrMapOvr>
    <a:masterClrMapping/>
  </p:clrMapOvr>
  <p:transition spd="slow">
    <p:cover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2">
                <a:tint val="94000"/>
                <a:satMod val="80000"/>
                <a:lumMod val="94000"/>
                <a:lumOff val="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986570-2C26-4E5F-9D28-4D18F9BAC427}" type="datetimeFigureOut">
              <a:rPr lang="nl-BE" smtClean="0"/>
              <a:t>13/06/2026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75E9C3EB-3209-46C0-A1BF-04B855C83966}" type="slidenum">
              <a:rPr lang="nl-BE" smtClean="0"/>
              <a:t>‹#›</a:t>
            </a:fld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10319495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ransition spd="slow">
    <p:cover/>
  </p:transition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microsoft.com/office/2007/relationships/media" Target="../media/media1.mp3"/><Relationship Id="rId1" Type="http://schemas.openxmlformats.org/officeDocument/2006/relationships/audio" Target="NULL" TargetMode="Externa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Narodnaya_Ingushskaya">
            <a:hlinkClick r:id="" action="ppaction://media"/>
            <a:extLst>
              <a:ext uri="{FF2B5EF4-FFF2-40B4-BE49-F238E27FC236}">
                <a16:creationId xmlns:a16="http://schemas.microsoft.com/office/drawing/2014/main" id="{6AA5EB36-CCC9-D90B-7C25-A280071F8536}"/>
              </a:ext>
            </a:extLst>
          </p:cNvPr>
          <p:cNvPicPr>
            <a:picLocks noChangeAspect="1"/>
          </p:cNvPicPr>
          <p:nvPr>
            <a:audioFile r:link="rId1"/>
            <p:extLst>
              <p:ext uri="{DAA4B4D4-6D71-4841-9C94-3DE7FCFB9230}">
                <p14:media xmlns:p14="http://schemas.microsoft.com/office/powerpoint/2010/main" r:embed="rId2">
                  <p14:trim st="5602" end="133226.9375"/>
                  <p14:fade out="1000"/>
                </p14:media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800332" y="5626500"/>
            <a:ext cx="487363" cy="4873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60B9045-3109-7F3D-3F6E-A237CA6F24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84425" y="802299"/>
            <a:ext cx="8623151" cy="1991144"/>
          </a:xfrm>
        </p:spPr>
        <p:txBody>
          <a:bodyPr/>
          <a:lstStyle/>
          <a:p>
            <a:pPr algn="ctr"/>
            <a:r>
              <a:rPr lang="ce-Cyrl-RU" dirty="0"/>
              <a:t>Опыт изучения ингушского языка</a:t>
            </a:r>
            <a:endParaRPr lang="nl-BE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DA53427-5985-4E85-8EC8-645334CA8C0A}"/>
              </a:ext>
            </a:extLst>
          </p:cNvPr>
          <p:cNvCxnSpPr>
            <a:cxnSpLocks/>
          </p:cNvCxnSpPr>
          <p:nvPr/>
        </p:nvCxnSpPr>
        <p:spPr>
          <a:xfrm>
            <a:off x="1307876" y="3234447"/>
            <a:ext cx="9576248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2CFFAA4-007A-6284-7B95-54B3559E4A1E}"/>
              </a:ext>
            </a:extLst>
          </p:cNvPr>
          <p:cNvCxnSpPr>
            <a:cxnSpLocks/>
          </p:cNvCxnSpPr>
          <p:nvPr/>
        </p:nvCxnSpPr>
        <p:spPr>
          <a:xfrm>
            <a:off x="1307876" y="5342107"/>
            <a:ext cx="9576248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Subtitle 7">
            <a:extLst>
              <a:ext uri="{FF2B5EF4-FFF2-40B4-BE49-F238E27FC236}">
                <a16:creationId xmlns:a16="http://schemas.microsoft.com/office/drawing/2014/main" id="{2CFAA90A-62ED-E505-101E-911AC776E6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77464" y="3531204"/>
            <a:ext cx="8637072" cy="977621"/>
          </a:xfrm>
        </p:spPr>
        <p:txBody>
          <a:bodyPr>
            <a:normAutofit fontScale="92500" lnSpcReduction="20000"/>
          </a:bodyPr>
          <a:lstStyle/>
          <a:p>
            <a:pPr algn="ctr"/>
            <a:r>
              <a:rPr lang="ce-Cyrl-RU" dirty="0"/>
              <a:t>ингушские притчи </a:t>
            </a:r>
            <a:br>
              <a:rPr lang="ce-Cyrl-RU" dirty="0"/>
            </a:br>
            <a:r>
              <a:rPr lang="ce-Cyrl-RU" dirty="0"/>
              <a:t>с переводом на русский, чеченский и Английский языки.</a:t>
            </a:r>
            <a:br>
              <a:rPr lang="ce-Cyrl-RU" dirty="0"/>
            </a:br>
            <a:r>
              <a:rPr lang="ru-RU" dirty="0"/>
              <a:t>Р</a:t>
            </a:r>
            <a:r>
              <a:rPr lang="ce-Cyrl-RU" dirty="0"/>
              <a:t>азбор лексики и грамматики.</a:t>
            </a:r>
            <a:endParaRPr lang="nl-BE" dirty="0"/>
          </a:p>
          <a:p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32878191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Tm="2000"/>
    </mc:Choice>
    <mc:Fallback xmlns="">
      <p:transition advTm="2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numSld="999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0DEEFE-FAC7-B414-5EE3-E89A0F227B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4363" y="223737"/>
            <a:ext cx="9603275" cy="493813"/>
          </a:xfrm>
        </p:spPr>
        <p:txBody>
          <a:bodyPr>
            <a:normAutofit fontScale="90000"/>
          </a:bodyPr>
          <a:lstStyle/>
          <a:p>
            <a:pPr algn="ctr"/>
            <a:r>
              <a:rPr lang="ce-Cyrl-RU" dirty="0"/>
              <a:t>Мудрые наставления наших предков</a:t>
            </a:r>
            <a:endParaRPr lang="nl-BE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A46817F-2590-AF4F-062B-7810BBC5A99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55422" y="2171671"/>
            <a:ext cx="1969259" cy="344963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3DC7B53-5EC4-58F2-9016-E24BFB87501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2455" y="2171671"/>
            <a:ext cx="3011997" cy="3449638"/>
          </a:xfrm>
          <a:prstGeom prst="rect">
            <a:avLst/>
          </a:prstGeom>
        </p:spPr>
      </p:pic>
      <p:sp>
        <p:nvSpPr>
          <p:cNvPr id="6" name="Subtitle 7">
            <a:extLst>
              <a:ext uri="{FF2B5EF4-FFF2-40B4-BE49-F238E27FC236}">
                <a16:creationId xmlns:a16="http://schemas.microsoft.com/office/drawing/2014/main" id="{F8D657EF-BD2E-4F0B-971C-809E230094C5}"/>
              </a:ext>
            </a:extLst>
          </p:cNvPr>
          <p:cNvSpPr txBox="1">
            <a:spLocks/>
          </p:cNvSpPr>
          <p:nvPr/>
        </p:nvSpPr>
        <p:spPr>
          <a:xfrm>
            <a:off x="1777464" y="768955"/>
            <a:ext cx="8637072" cy="843945"/>
          </a:xfrm>
          <a:prstGeom prst="rect">
            <a:avLst/>
          </a:prstGeom>
        </p:spPr>
        <p:txBody>
          <a:bodyPr vert="horz" lIns="91440" tIns="91440" rIns="91440" bIns="91440" rtlCol="0">
            <a:normAutofit/>
          </a:bodyPr>
          <a:lstStyle>
            <a:lvl1pPr indent="0" algn="ctr" defTabSz="914400">
              <a:lnSpc>
                <a:spcPct val="120000"/>
              </a:lnSpc>
              <a:spcBef>
                <a:spcPts val="10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b="0" cap="all" baseline="0">
                <a:effectLst/>
              </a:defRPr>
            </a:lvl1pPr>
            <a:lvl2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cap="none" baseline="0">
                <a:effectLst/>
              </a:defRPr>
            </a:lvl2pPr>
            <a:lvl3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>
                <a:effectLst/>
              </a:defRPr>
            </a:lvl3pPr>
            <a:lvl4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600" cap="none" baseline="0">
                <a:effectLst/>
              </a:defRPr>
            </a:lvl4pPr>
            <a:lvl5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600">
                <a:effectLst/>
              </a:defRPr>
            </a:lvl5pPr>
            <a:lvl6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600">
                <a:effectLst/>
              </a:defRPr>
            </a:lvl6pPr>
            <a:lvl7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600">
                <a:effectLst/>
              </a:defRPr>
            </a:lvl7pPr>
            <a:lvl8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600" baseline="0">
                <a:effectLst/>
              </a:defRPr>
            </a:lvl8pPr>
            <a:lvl9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600" baseline="0">
                <a:effectLst/>
              </a:defRPr>
            </a:lvl9pPr>
          </a:lstStyle>
          <a:p>
            <a:r>
              <a:rPr lang="ce-Cyrl-RU" dirty="0"/>
              <a:t>Из ингушского фольклора</a:t>
            </a:r>
            <a:br>
              <a:rPr lang="ce-Cyrl-RU" dirty="0"/>
            </a:br>
            <a:r>
              <a:rPr lang="ce-Cyrl-RU" dirty="0"/>
              <a:t>И.А. Дахкильгов, 2000 г.</a:t>
            </a:r>
            <a:endParaRPr lang="nl-BE" dirty="0"/>
          </a:p>
          <a:p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35118867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2000">
        <p:fade/>
      </p:transition>
    </mc:Choice>
    <mc:Fallback xmlns="">
      <p:transition spd="med" advTm="2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5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2CF6D9B2-7B50-314B-634A-73A548DB364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3532" y="1244970"/>
            <a:ext cx="6117074" cy="3336586"/>
          </a:xfrm>
          <a:prstGeom prst="rect">
            <a:avLst/>
          </a:prstGeom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1329C50E-74C0-7ABA-F08B-A63C7E035D85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6716226" y="1952171"/>
            <a:ext cx="4965970" cy="461665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Пир</a:t>
            </a:r>
            <a:r>
              <a:rPr kumimoji="0" lang="nl-BE" sz="2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l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онх</a:t>
            </a:r>
            <a:r>
              <a:rPr kumimoji="0" lang="nl-BE" sz="2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l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алак</a:t>
            </a:r>
            <a:r>
              <a:rPr kumimoji="0" lang="ce-Cyrl-RU" sz="2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ь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хиларах </a:t>
            </a:r>
            <a:r>
              <a:rPr kumimoji="0" lang="ce-Cyrl-RU" sz="2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 </a:t>
            </a:r>
            <a:endParaRPr kumimoji="0" lang="nl-BE" sz="2400" b="1" i="0" u="none" strike="noStrike" kern="1200" cap="none" spc="0" normalizeH="0" baseline="0" noProof="0" dirty="0">
              <a:ln>
                <a:noFill/>
              </a:ln>
              <a:solidFill>
                <a:srgbClr val="CC6600"/>
              </a:solidFill>
              <a:effectLst/>
              <a:uLnTx/>
              <a:uFillTx/>
              <a:latin typeface="Gill Sans MT" panose="020B0502020104020203"/>
              <a:ea typeface="+mn-ea"/>
              <a:cs typeface="+mn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343BD79-EADF-39AF-26F8-D7E577B6C3C9}"/>
              </a:ext>
            </a:extLst>
          </p:cNvPr>
          <p:cNvSpPr txBox="1"/>
          <p:nvPr/>
        </p:nvSpPr>
        <p:spPr>
          <a:xfrm>
            <a:off x="7322585" y="1322794"/>
            <a:ext cx="395267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ce-Cyrl-RU" sz="32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latin typeface="Alasassy Caps"/>
                <a:ea typeface="+mn-ea"/>
                <a:cs typeface="+mn-cs"/>
              </a:rPr>
              <a:t>№ 2</a:t>
            </a:r>
            <a:endParaRPr kumimoji="0" lang="nl-BE" sz="3200" b="1" i="0" u="none" strike="noStrike" kern="1200" cap="none" spc="0" normalizeH="0" baseline="0" noProof="0" dirty="0">
              <a:ln>
                <a:noFill/>
              </a:ln>
              <a:solidFill>
                <a:srgbClr val="CC6600"/>
              </a:solidFill>
              <a:effectLst/>
              <a:uLnTx/>
              <a:uFillTx/>
              <a:latin typeface="Alasassy Caps"/>
              <a:ea typeface="+mn-ea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2A48C73-175C-D8D8-25C7-9E0DDE77C77F}"/>
              </a:ext>
            </a:extLst>
          </p:cNvPr>
          <p:cNvSpPr txBox="1"/>
          <p:nvPr/>
        </p:nvSpPr>
        <p:spPr>
          <a:xfrm>
            <a:off x="6589766" y="3381439"/>
            <a:ext cx="536966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ea typeface="+mn-ea"/>
                <a:cs typeface="+mn-cs"/>
              </a:rPr>
              <a:t>Гибель Пиръона</a:t>
            </a:r>
            <a:br>
              <a:rPr kumimoji="0" lang="ce-Cyrl-RU" sz="20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ea typeface="+mn-ea"/>
                <a:cs typeface="+mn-cs"/>
              </a:rPr>
            </a:br>
            <a:br>
              <a:rPr kumimoji="0" lang="ce-Cyrl-RU" sz="20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ea typeface="+mn-ea"/>
                <a:cs typeface="+mn-cs"/>
              </a:rPr>
            </a:b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latin typeface="Gill Sans MT" panose="020B0502020104020203"/>
                <a:ea typeface="+mn-ea"/>
                <a:cs typeface="+mn-cs"/>
              </a:rPr>
              <a:t>The Downfall of the Pharaoh</a:t>
            </a:r>
            <a:endParaRPr kumimoji="0" lang="nl-BE" sz="2000" b="0" i="0" u="none" strike="noStrike" kern="1200" cap="none" spc="0" normalizeH="0" baseline="0" noProof="0" dirty="0">
              <a:ln>
                <a:noFill/>
              </a:ln>
              <a:solidFill>
                <a:srgbClr val="CC6600"/>
              </a:solidFill>
              <a:effectLst/>
              <a:uLnTx/>
              <a:uFillTx/>
              <a:latin typeface="Gill Sans MT" panose="020B0502020104020203"/>
              <a:ea typeface="+mn-ea"/>
              <a:cs typeface="+mn-cs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F44E224-A0A3-F28E-221F-EB5BC8440BAA}"/>
              </a:ext>
            </a:extLst>
          </p:cNvPr>
          <p:cNvCxnSpPr>
            <a:cxnSpLocks/>
          </p:cNvCxnSpPr>
          <p:nvPr/>
        </p:nvCxnSpPr>
        <p:spPr>
          <a:xfrm>
            <a:off x="8369925" y="1899972"/>
            <a:ext cx="1556425" cy="0"/>
          </a:xfrm>
          <a:prstGeom prst="line">
            <a:avLst/>
          </a:prstGeom>
          <a:ln>
            <a:solidFill>
              <a:srgbClr val="CC66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8B7D954C-17E0-A338-D96F-6134F0C5115A}"/>
              </a:ext>
            </a:extLst>
          </p:cNvPr>
          <p:cNvCxnSpPr>
            <a:cxnSpLocks/>
          </p:cNvCxnSpPr>
          <p:nvPr/>
        </p:nvCxnSpPr>
        <p:spPr>
          <a:xfrm>
            <a:off x="8369925" y="2558211"/>
            <a:ext cx="1556425" cy="0"/>
          </a:xfrm>
          <a:prstGeom prst="line">
            <a:avLst/>
          </a:prstGeom>
          <a:ln>
            <a:solidFill>
              <a:srgbClr val="CC66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C34AFEBD-0312-5DC2-8668-33F8363DE6B2}"/>
              </a:ext>
            </a:extLst>
          </p:cNvPr>
          <p:cNvCxnSpPr>
            <a:cxnSpLocks/>
          </p:cNvCxnSpPr>
          <p:nvPr/>
        </p:nvCxnSpPr>
        <p:spPr>
          <a:xfrm>
            <a:off x="8369925" y="3867825"/>
            <a:ext cx="1556425" cy="0"/>
          </a:xfrm>
          <a:prstGeom prst="line">
            <a:avLst/>
          </a:prstGeom>
          <a:ln>
            <a:solidFill>
              <a:srgbClr val="CC66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614013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2000">
        <p:fade/>
      </p:transition>
    </mc:Choice>
    <mc:Fallback xmlns="">
      <p:transition spd="med" advTm="2000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388FC515-7E5F-5531-8FDD-8728149AFB7C}"/>
              </a:ext>
            </a:extLst>
          </p:cNvPr>
          <p:cNvSpPr txBox="1"/>
          <p:nvPr/>
        </p:nvSpPr>
        <p:spPr>
          <a:xfrm>
            <a:off x="770917" y="910779"/>
            <a:ext cx="10525328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/>
              <a:t>ПирӀон харцахьа саг хиннав. Цхьанахьа дуне йисте гезах цхьа сигала хьисапе кхоаленаш яьй цо. Царна тӀагӀолла педаш хехкаш, таташ деш, тӀера хий Ӏочумехкадеш хиннав из.</a:t>
            </a:r>
          </a:p>
          <a:p>
            <a:r>
              <a:rPr lang="ru-RU" sz="1600" dirty="0"/>
              <a:t>- Со а веций ды къувкъадеш, догӀа делхийташ. Со а веций даьла? – оалаш хиннад цо.</a:t>
            </a:r>
          </a:p>
          <a:p>
            <a:endParaRPr lang="ru-RU" sz="1600" dirty="0"/>
          </a:p>
          <a:p>
            <a:r>
              <a:rPr lang="ru-RU" sz="1600" dirty="0"/>
              <a:t>Вахаш пхи бӀаь шу даьккхад ПирӀона. Харцача хӀаманна тӀехьа из хинна воллашехьа а, зе-зулам хулаш хиннадац цунна, хӀана аьлча, цох доаллаш дар дика кхо хӀама – боккхий нах лархӀар, бераш хьесташ хилар, ялата а дуача моллагӀча а хьурмат дар.</a:t>
            </a:r>
          </a:p>
          <a:p>
            <a:endParaRPr lang="ru-RU" sz="1600" dirty="0"/>
          </a:p>
          <a:p>
            <a:r>
              <a:rPr lang="ru-RU" sz="1600" dirty="0"/>
              <a:t>ПирӀон воаве дагадеад гӀамсилга. ПирӀонна дӀатӀа а даха, аьннад цо:</a:t>
            </a:r>
          </a:p>
          <a:p>
            <a:r>
              <a:rPr lang="ru-RU" sz="1600" dirty="0"/>
              <a:t>- ПирӀон, хьайха нах белаш болга хой хьона?</a:t>
            </a:r>
          </a:p>
          <a:p>
            <a:r>
              <a:rPr lang="ru-RU" sz="1600" dirty="0"/>
              <a:t>- Сох хӀана бел? – аьнна, хьаттад цо.</a:t>
            </a:r>
          </a:p>
          <a:p>
            <a:r>
              <a:rPr lang="ru-RU" sz="1600" dirty="0"/>
              <a:t>- Къабенна, мурбенна, хӀамана пайданна боацача, каша бахка мара мегаргбоацача боккхийча наьха Ӏа сий дарах бел, - аьннад.</a:t>
            </a:r>
          </a:p>
          <a:p>
            <a:r>
              <a:rPr lang="ru-RU" sz="1600" dirty="0"/>
              <a:t>- Долче, хьа духьа из дитар аз, - аьннад ПирӀона.</a:t>
            </a:r>
          </a:p>
          <a:p>
            <a:r>
              <a:rPr lang="ru-RU" sz="1600" dirty="0"/>
              <a:t>- Кхы а бел хьох нах, - дӀахо дийцад гӀамсилга, - мӀадаш даьха, мераж Ӏоуха бераш хьест Ӏа, яхаш, бел хьох нах.</a:t>
            </a:r>
          </a:p>
          <a:p>
            <a:r>
              <a:rPr lang="ru-RU" sz="1600" dirty="0"/>
              <a:t>- Иштта из долче, хьа духьа из а дут аз, - аьлар ПирӀона.</a:t>
            </a:r>
          </a:p>
          <a:p>
            <a:r>
              <a:rPr lang="ru-RU" sz="1600" dirty="0"/>
              <a:t>- ХӀаьта, кхы а нах бел хьох. Наха йоах хьо цӀаьрмата ва, маькха юхкаш дӀаехкаш, зирталгаш гулдеш ва, йоах цар, - аьннад гӀамсилго.</a:t>
            </a:r>
          </a:p>
          <a:p>
            <a:r>
              <a:rPr lang="ru-RU" sz="1600" dirty="0"/>
              <a:t>- ДӀахо дӀайодача хана из а кхы дергдоацаш дут аз, - жоп деннад ПирӀона.</a:t>
            </a:r>
          </a:p>
          <a:p>
            <a:endParaRPr lang="ru-RU" sz="1600" dirty="0"/>
          </a:p>
          <a:p>
            <a:r>
              <a:rPr lang="ru-RU" sz="1600" dirty="0"/>
              <a:t>Из аьнна воаллашехьа хӀалак а хинна, вайна дӀаваьлар ПирӀон.</a:t>
            </a:r>
            <a:endParaRPr lang="nl-BE" sz="1600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0443C54C-441A-C5BB-DBFD-00B50500ACB0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2742565" y="311883"/>
            <a:ext cx="6706870" cy="461665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ce-Cyrl-RU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2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. 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Пир</a:t>
            </a:r>
            <a:r>
              <a:rPr kumimoji="0" lang="nl-BE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l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онх</a:t>
            </a:r>
            <a:r>
              <a:rPr kumimoji="0" lang="nl-BE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l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алакахиларах</a:t>
            </a:r>
            <a:endParaRPr kumimoji="0" lang="nl-BE" sz="24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528268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41000">
        <p:fade/>
      </p:transition>
    </mc:Choice>
    <mc:Fallback xmlns="">
      <p:transition spd="med" advTm="41000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BDF90C-729C-3B9C-4997-1D0EDCAB43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1F4E762B-BE22-34F4-37FC-54D7F596ABD9}"/>
              </a:ext>
            </a:extLst>
          </p:cNvPr>
          <p:cNvSpPr txBox="1">
            <a:spLocks/>
          </p:cNvSpPr>
          <p:nvPr/>
        </p:nvSpPr>
        <p:spPr>
          <a:xfrm>
            <a:off x="906292" y="551289"/>
            <a:ext cx="10379413" cy="5755422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2. </a:t>
            </a:r>
            <a:r>
              <a:rPr kumimoji="0" lang="ru-RU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Гибель Пиръона</a:t>
            </a:r>
            <a:br>
              <a:rPr kumimoji="0" lang="ce-Cyrl-RU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</a:br>
            <a:endParaRPr kumimoji="0" lang="ru-RU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Пиръон был неправедный человек. Где-то на краю света из латуни и меди он сделал своды в виде небес. По ним он с грохотом катал бочки и лил из них воду.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- Я ли не могу греметь громом? Я ли не могу лить дождь? Я ли не являюсь богом? – говорил он при этом.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Жил Пиръон пятьсот лет. Хотя все это время он и пытался соперничать с самим Всевышним, но Бог не причинял ему никакого вреда, потому что Пиръон соблюдал три хороших обычая: уважал старших, любил детей, свято относился к пище.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Некая гамсилг – ведьма – решила погубить Пиръона. Пришла она к нему и сказала: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- Знаешь ли ты, Пиръон, что люди смеются над тобою?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- А почему они смеются надо мною? – спросил он.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- Смеются потому, что ты уважаешь старых людей, которые столь дряхлы и непригодны в этой жизни, что их впору класть в могилы.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- Ладно, ради тебя я этого больше делать не буду.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- А еще люди смеются, - продолжала гамсилг, - что ты ласкаешь грязных и сопливых детей.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- Раз так и этого ради тебя я более не буду делать, - сказал Пиръон.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- Также люди смеются над тобой, говоря, что ты жаден настолько, что собираешь хлебные крошки и огрызки, - сказала гамсилг.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- Далее и этого я не буду делать, - ответил Пиръон.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После этих слов Пиръон сразу же сгинул со света.</a:t>
            </a:r>
            <a:endParaRPr kumimoji="0" lang="nl-BE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l Sans MT" panose="020B0502020104020203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D79485C-8E5D-861C-BF82-F93A3D3B61D5}"/>
              </a:ext>
            </a:extLst>
          </p:cNvPr>
          <p:cNvSpPr txBox="1"/>
          <p:nvPr/>
        </p:nvSpPr>
        <p:spPr>
          <a:xfrm>
            <a:off x="5108641" y="178360"/>
            <a:ext cx="1974716" cy="338554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ce-Cyrl-RU" sz="1600" b="1" dirty="0"/>
              <a:t>РУССКИЙ</a:t>
            </a:r>
            <a:endParaRPr lang="nl-BE" sz="1600" dirty="0"/>
          </a:p>
        </p:txBody>
      </p:sp>
    </p:spTree>
    <p:extLst>
      <p:ext uri="{BB962C8B-B14F-4D97-AF65-F5344CB8AC3E}">
        <p14:creationId xmlns:p14="http://schemas.microsoft.com/office/powerpoint/2010/main" val="126509062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 advTm="2000">
        <p:fade/>
      </p:transition>
    </mc:Choice>
    <mc:Fallback>
      <p:transition spd="med" advTm="2000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F3E228-0DFB-EEF1-2338-3AD6B9EA92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C3BEDB9C-78AC-CAD6-9DEC-DD7DD284558F}"/>
              </a:ext>
            </a:extLst>
          </p:cNvPr>
          <p:cNvSpPr txBox="1"/>
          <p:nvPr/>
        </p:nvSpPr>
        <p:spPr>
          <a:xfrm>
            <a:off x="5108642" y="107410"/>
            <a:ext cx="1974716" cy="338554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/>
              <a:t>ENGLISH</a:t>
            </a:r>
            <a:endParaRPr lang="nl-BE" sz="16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96AE75D-6FB0-0CE2-7060-2DE8ECBECE3C}"/>
              </a:ext>
            </a:extLst>
          </p:cNvPr>
          <p:cNvSpPr txBox="1"/>
          <p:nvPr/>
        </p:nvSpPr>
        <p:spPr>
          <a:xfrm>
            <a:off x="906293" y="661864"/>
            <a:ext cx="10379413" cy="52937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2. The Downfall of the Pharaoh</a:t>
            </a:r>
            <a:endParaRPr lang="en-US" sz="1600" b="1" dirty="0"/>
          </a:p>
          <a:p>
            <a:endParaRPr lang="en-US" sz="1600" b="1" dirty="0"/>
          </a:p>
          <a:p>
            <a:r>
              <a:rPr lang="en-US" sz="1600" dirty="0"/>
              <a:t>The Pharaoh was a wicked man. Somewhere at the edge of the world, he fashioned vaults of brass and copper to resemble the heavens. Along these vaults he rolled barrels with a clatter, pouring water from them.</a:t>
            </a:r>
          </a:p>
          <a:p>
            <a:r>
              <a:rPr lang="en-US" sz="1600" dirty="0"/>
              <a:t>‘Am I not able to make thunder roar? Am I not able to make rain fall?’ Am I not a god?’ he would say as he did so.</a:t>
            </a:r>
          </a:p>
          <a:p>
            <a:endParaRPr lang="en-US" sz="1600" dirty="0"/>
          </a:p>
          <a:p>
            <a:r>
              <a:rPr lang="en-US" sz="1600" dirty="0"/>
              <a:t>Pharaoh lived for five hundred years. Although all this time he tried to rival the Almighty himself, God did him no harm, because Pharaoh observed three good customs: he respected his elders, loved children, and treated food with reverence.</a:t>
            </a:r>
          </a:p>
          <a:p>
            <a:endParaRPr lang="en-US" sz="1600" dirty="0"/>
          </a:p>
          <a:p>
            <a:r>
              <a:rPr lang="en-US" sz="1600" dirty="0"/>
              <a:t>A certain </a:t>
            </a:r>
            <a:r>
              <a:rPr lang="en-US" sz="1600" dirty="0" err="1"/>
              <a:t>hamsilg</a:t>
            </a:r>
            <a:r>
              <a:rPr lang="en-US" sz="1600" dirty="0"/>
              <a:t> – a witch – decided to destroy Pharaoh. She came to him and said:</a:t>
            </a:r>
          </a:p>
          <a:p>
            <a:r>
              <a:rPr lang="en-US" sz="1600" dirty="0"/>
              <a:t>‘Do you know, Pharaoh, that people are laughing at you?’</a:t>
            </a:r>
          </a:p>
          <a:p>
            <a:r>
              <a:rPr lang="en-US" sz="1600" dirty="0"/>
              <a:t>‘And why are they laughing at me?’ he asked.</a:t>
            </a:r>
          </a:p>
          <a:p>
            <a:r>
              <a:rPr lang="en-US" sz="1600" dirty="0"/>
              <a:t>‘They laugh because you respect old people who are so decrepit and useless in this life that they ought to be put in their graves.’</a:t>
            </a:r>
          </a:p>
          <a:p>
            <a:r>
              <a:rPr lang="en-US" sz="1600" dirty="0"/>
              <a:t>‘All right, for your sake I won’t do that anymore.’</a:t>
            </a:r>
          </a:p>
          <a:p>
            <a:r>
              <a:rPr lang="en-US" sz="1600" dirty="0"/>
              <a:t>‘And people also laugh,’ continued the </a:t>
            </a:r>
            <a:r>
              <a:rPr lang="en-US" sz="1600" dirty="0" err="1"/>
              <a:t>gamsilg</a:t>
            </a:r>
            <a:r>
              <a:rPr lang="en-US" sz="1600" dirty="0"/>
              <a:t>, ‘that you caress dirty, snotty children.’</a:t>
            </a:r>
          </a:p>
          <a:p>
            <a:r>
              <a:rPr lang="en-US" sz="1600" dirty="0"/>
              <a:t>‘In that case, for your sake, I shall stop doing that too,’ said Pharaoh.</a:t>
            </a:r>
          </a:p>
          <a:p>
            <a:r>
              <a:rPr lang="en-US" sz="1600" dirty="0"/>
              <a:t>‘People also laugh at you, saying that you are so greedy that you gather breadcrumbs and scraps,’ said the </a:t>
            </a:r>
            <a:r>
              <a:rPr lang="en-US" sz="1600" dirty="0" err="1"/>
              <a:t>gamsilg</a:t>
            </a:r>
            <a:r>
              <a:rPr lang="en-US" sz="1600" dirty="0"/>
              <a:t>.</a:t>
            </a:r>
          </a:p>
          <a:p>
            <a:r>
              <a:rPr lang="en-US" sz="1600" dirty="0"/>
              <a:t>‘I shall stop doing that as well,’ replied Pharaoh.</a:t>
            </a:r>
          </a:p>
          <a:p>
            <a:endParaRPr lang="en-US" sz="1600" dirty="0"/>
          </a:p>
          <a:p>
            <a:r>
              <a:rPr lang="en-US" sz="1600" dirty="0"/>
              <a:t>After these words, Pharaoh vanished from the face of the earth at once.</a:t>
            </a:r>
            <a:endParaRPr lang="nl-BE" sz="1600" dirty="0"/>
          </a:p>
        </p:txBody>
      </p:sp>
    </p:spTree>
    <p:extLst>
      <p:ext uri="{BB962C8B-B14F-4D97-AF65-F5344CB8AC3E}">
        <p14:creationId xmlns:p14="http://schemas.microsoft.com/office/powerpoint/2010/main" val="391225838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 advTm="2000">
        <p:fade/>
      </p:transition>
    </mc:Choice>
    <mc:Fallback>
      <p:transition spd="med" advTm="2000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AD386A-E652-F092-4302-9A5564B64E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93E2E525-A17F-4826-347D-F47A09EB0F54}"/>
              </a:ext>
            </a:extLst>
          </p:cNvPr>
          <p:cNvSpPr txBox="1"/>
          <p:nvPr/>
        </p:nvSpPr>
        <p:spPr>
          <a:xfrm>
            <a:off x="906293" y="553306"/>
            <a:ext cx="10379413" cy="57554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/>
              <a:t>2. </a:t>
            </a:r>
            <a:r>
              <a:rPr lang="ru-RU" sz="1600" b="1" dirty="0"/>
              <a:t>Пир</a:t>
            </a:r>
            <a:r>
              <a:rPr lang="nl-BE" sz="1600" b="1" dirty="0"/>
              <a:t>l</a:t>
            </a:r>
            <a:r>
              <a:rPr lang="ru-RU" sz="1600" b="1" dirty="0"/>
              <a:t>ун х</a:t>
            </a:r>
            <a:r>
              <a:rPr lang="nl-BE" sz="1600" b="1" dirty="0"/>
              <a:t>l</a:t>
            </a:r>
            <a:r>
              <a:rPr lang="ru-RU" sz="1600" b="1" dirty="0"/>
              <a:t>аллакьхиларах</a:t>
            </a:r>
            <a:endParaRPr lang="en-US" sz="1600" b="1" dirty="0"/>
          </a:p>
          <a:p>
            <a:r>
              <a:rPr lang="ru-RU" sz="1600" dirty="0"/>
              <a:t>ПирӀун харцхьа стаг хилла. Цхьанхьа дуьненна йистехь гезах цхьа стигалан хьесапе кхалонаш йина цо. Царна тӀехула черманаш хоьхкуш, татанаш деш, тӀера хи Ӏенадеш хилла иза.</a:t>
            </a:r>
          </a:p>
          <a:p>
            <a:r>
              <a:rPr lang="ru-RU" sz="1600" dirty="0"/>
              <a:t>- Со а вац стигал къовкъайеш, догӀа доьлхуьйтуш. Со а вац дела? – олуш хилла цо.</a:t>
            </a:r>
          </a:p>
          <a:p>
            <a:endParaRPr lang="ru-RU" sz="1600" dirty="0"/>
          </a:p>
          <a:p>
            <a:r>
              <a:rPr lang="ru-RU" sz="1600" dirty="0"/>
              <a:t>Вехаш пхи бӀе шо даьккхина ПирӀуно. Харцачу хӀуманна тӀехь иза воллушехь а, зен-зулам хуьлуш хилла дац цунна, хӀунда аьлча, цунах доллуш дар дика кхоъ хӀума – баккхий нах ларар, бераш хьоьстуш хилар, йалтина а дуучунна молучунна а хьурмат дар.</a:t>
            </a:r>
          </a:p>
          <a:p>
            <a:endParaRPr lang="ru-RU" sz="1600" dirty="0"/>
          </a:p>
          <a:p>
            <a:r>
              <a:rPr lang="ru-RU" sz="1600" dirty="0"/>
              <a:t>ПирӀун вохаван дагадеан гӀоман. ПирӀунна тӀе а дахна, аьлла цо:</a:t>
            </a:r>
          </a:p>
          <a:p>
            <a:r>
              <a:rPr lang="ru-RU" sz="1600" dirty="0"/>
              <a:t>- ПирӀун, хьайх нах боьлуш болий хаьий хьуна?</a:t>
            </a:r>
          </a:p>
          <a:p>
            <a:r>
              <a:rPr lang="ru-RU" sz="1600" dirty="0"/>
              <a:t>- Сох хӀунда боьлу? – аьлла, хаьттина цо.</a:t>
            </a:r>
          </a:p>
          <a:p>
            <a:r>
              <a:rPr lang="ru-RU" sz="1600" dirty="0"/>
              <a:t>- Къанбелла, мурбоьлла, хӀуманна пайден боцачу, коше бахка бен мегар боцачу баккхийчу нехан ахь сий дарех боьлу, - аьлла.</a:t>
            </a:r>
          </a:p>
          <a:p>
            <a:r>
              <a:rPr lang="ru-RU" sz="1600" dirty="0"/>
              <a:t>- Делахь, хьан дуьхьа иза дитира ас, - аьлла ПирӀуно.</a:t>
            </a:r>
          </a:p>
          <a:p>
            <a:r>
              <a:rPr lang="ru-RU" sz="1600" dirty="0"/>
              <a:t>- Кхин а боьлу хьох нах, - кхидӀа дийцина гӀомо, - модех дохку, мераш охьаоьху бераш хьестадо ахь, бохуш, боьлу хьох нах.</a:t>
            </a:r>
          </a:p>
          <a:p>
            <a:r>
              <a:rPr lang="ru-RU" sz="1600" dirty="0"/>
              <a:t>- Иштта иза делахь, хьан дуьхьа иза а дуьту ас, - элира ПирӀуно.</a:t>
            </a:r>
          </a:p>
          <a:p>
            <a:r>
              <a:rPr lang="ru-RU" sz="1600" dirty="0"/>
              <a:t>- ХӀета, кхин а нах боьлу хьох. Наха боху хьо сутара ву, баьпкан йуьхкаш дӀайохкуш, цуьргаш гулдеш ву, бах цара, - аьлла гӀомо.</a:t>
            </a:r>
          </a:p>
          <a:p>
            <a:r>
              <a:rPr lang="ru-RU" sz="1600" dirty="0"/>
              <a:t>- КхидӀа дӀайоьдучу хенахь иза а кхин дийра доцуш дуьту ас, - жоп делла ПирӀуно.</a:t>
            </a:r>
          </a:p>
          <a:p>
            <a:endParaRPr lang="ru-RU" sz="1600" dirty="0"/>
          </a:p>
          <a:p>
            <a:r>
              <a:rPr lang="ru-RU" sz="1600" dirty="0"/>
              <a:t>Иза аьлла воллушехь хӀаллак а хилла, вайна дӀавелир ПирӀун.</a:t>
            </a:r>
            <a:endParaRPr lang="ru-RU" sz="1600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62501EA-A4E5-78D0-3E04-F3E2BF5DAC77}"/>
              </a:ext>
            </a:extLst>
          </p:cNvPr>
          <p:cNvSpPr txBox="1"/>
          <p:nvPr/>
        </p:nvSpPr>
        <p:spPr>
          <a:xfrm>
            <a:off x="5108642" y="113760"/>
            <a:ext cx="1974716" cy="369332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ce-Cyrl-RU" b="1" dirty="0"/>
              <a:t>НОХЧИЙН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429317206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 advTm="2000">
        <p:fade/>
      </p:transition>
    </mc:Choice>
    <mc:Fallback>
      <p:transition spd="med" advTm="2000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DD79A5-B4FF-B41C-F4E9-DF9BF7B6EE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5353" y="164324"/>
            <a:ext cx="2021294" cy="580936"/>
          </a:xfrm>
        </p:spPr>
        <p:txBody>
          <a:bodyPr>
            <a:normAutofit/>
          </a:bodyPr>
          <a:lstStyle/>
          <a:p>
            <a:r>
              <a:rPr lang="ce-Cyrl-RU" dirty="0"/>
              <a:t>Лексика</a:t>
            </a:r>
            <a:endParaRPr lang="nl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A79155C-CF26-7137-7DDB-1E5F0CAF8B18}"/>
              </a:ext>
            </a:extLst>
          </p:cNvPr>
          <p:cNvSpPr txBox="1"/>
          <p:nvPr/>
        </p:nvSpPr>
        <p:spPr>
          <a:xfrm>
            <a:off x="516030" y="1183629"/>
            <a:ext cx="8532720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ПирӀон харцахьа саг хиннав. Цхьанахьа дуне йисте гезах цхьа сигала хьисапе кхоаленаш яьй цо. Царна тӀагӀолла педаш хехкаш, таташ деш, тӀера хий Ӏочумехкадеш хиннав из.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- Со а веций ды къувкъадеш, догӀа делхийташ. Со а веций даьла? – оалаш хиннад цо.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Вахаш пхи бӀаь шу даьккхад ПирӀона. Харцача хӀаманна тӀехьа из хинна воллашехьа а, зе-зулам хулаш хиннадац цунна, хӀана аьлча, цох доаллаш дар дика кхо хӀама – боккхий нах лархӀар, бераш хьесташ хилар, ялата а дуача моллагӀча а хьурмат дар.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ПирӀон воаве дагадеад гӀамсилга. ПирӀонна дӀатӀа а даха, аьннад цо: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- ПирӀон, хьайха нах белаш болга хой хьона?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- Сох хӀана бел? – аьнна, хьаттад цо.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- Къабенна, мурбенна, хӀамана пайданна боацача, каша бахка мара мегаргбоацача боккхийча наьха Ӏа сий дарах бел, - аьннад.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- Долче, хьа духьа из дитар аз, - аьннад ПирӀона.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- Кхы а бел хьох нах, - дӀахо дийцад гӀамсилга, - мӀадаш даьха, мераж Ӏоуха бераш хьест Ӏа, яхаш, бел хьох нах.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- Иштта из долче, хьа духьа из а дут аз, - аьлар ПирӀона.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- ХӀаьта, кхы а нах бел хьох. Наха йоах хьо цӀаьрмата ва, маькха юхкаш дӀаехкаш, зирталгаш гулдеш ва, йоах цар, - аьннад гӀамсилго.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- ДӀахо дӀайодача хана из а кхы дергдоацаш дут аз, - жоп деннад ПирӀона.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Из аьнна воаллашехьа хӀалак а хинна, вайна дӀаваьлар ПирӀон.</a:t>
            </a:r>
            <a:endParaRPr kumimoji="0" lang="nl-BE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l Sans MT" panose="020B0502020104020203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F77DCDC-5205-92F6-7AED-35748EF0811E}"/>
              </a:ext>
            </a:extLst>
          </p:cNvPr>
          <p:cNvSpPr txBox="1"/>
          <p:nvPr/>
        </p:nvSpPr>
        <p:spPr>
          <a:xfrm>
            <a:off x="3722034" y="656122"/>
            <a:ext cx="474793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2. </a:t>
            </a:r>
            <a:r>
              <a:rPr lang="ru-RU" sz="2400" b="1" dirty="0"/>
              <a:t>Пир</a:t>
            </a:r>
            <a:r>
              <a:rPr lang="en-US" sz="2400" b="1" dirty="0"/>
              <a:t>l</a:t>
            </a:r>
            <a:r>
              <a:rPr lang="ru-RU" sz="2400" b="1" dirty="0"/>
              <a:t>онх</a:t>
            </a:r>
            <a:r>
              <a:rPr lang="en-US" sz="2400" b="1" dirty="0"/>
              <a:t>l</a:t>
            </a:r>
            <a:r>
              <a:rPr lang="ru-RU" sz="2400" b="1" dirty="0"/>
              <a:t>алак</a:t>
            </a:r>
            <a:r>
              <a:rPr lang="ce-Cyrl-RU" sz="2400" b="1" dirty="0"/>
              <a:t>ь</a:t>
            </a:r>
            <a:r>
              <a:rPr lang="ru-RU" sz="2400" b="1" dirty="0"/>
              <a:t>хиларах</a:t>
            </a:r>
            <a:endParaRPr lang="nl-BE" sz="2400" b="1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8741982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373661">
        <p:fade/>
      </p:transition>
    </mc:Choice>
    <mc:Fallback xmlns="">
      <p:transition spd="med" advTm="373661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5" presetClass="emph" presetSubtype="0" grpId="0" nodeType="click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set>
                                      <p:cBhvr override="childStyle">
                                        <p:cTn id="6" dur="indefinite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5" presetClass="emph" presetSubtype="0" grpId="0" nodeType="click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set>
                                      <p:cBhvr override="childStyle">
                                        <p:cTn id="10" dur="indefinite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5" presetClass="emph" presetSubtype="0" grpId="0" nodeType="click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set>
                                      <p:cBhvr override="childStyle">
                                        <p:cTn id="14" dur="indefinite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5" presetClass="emph" presetSubtype="0" grpId="0" nodeType="click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set>
                                      <p:cBhvr override="childStyle">
                                        <p:cTn id="18" dur="indefinite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5" presetClass="emph" presetSubtype="0" grpId="0" nodeType="click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set>
                                      <p:cBhvr override="childStyle">
                                        <p:cTn id="22" dur="indefinite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5" presetClass="emph" presetSubtype="0" grpId="0" nodeType="click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set>
                                      <p:cBhvr override="childStyle">
                                        <p:cTn id="26" dur="indefinite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5" presetClass="emph" presetSubtype="0" grpId="0" nodeType="click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set>
                                      <p:cBhvr override="childStyle">
                                        <p:cTn id="30" dur="indefinite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5" presetClass="emph" presetSubtype="0" grpId="0" nodeType="click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set>
                                      <p:cBhvr override="childStyle">
                                        <p:cTn id="34" dur="indefinite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5" presetClass="emph" presetSubtype="0" grpId="0" nodeType="click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set>
                                      <p:cBhvr override="childStyle">
                                        <p:cTn id="38" dur="indefinite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5" presetClass="emph" presetSubtype="0" grpId="0" nodeType="click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set>
                                      <p:cBhvr override="childStyle">
                                        <p:cTn id="42" dur="indefinite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5" presetClass="emph" presetSubtype="0" grpId="0" nodeType="click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set>
                                      <p:cBhvr override="childStyle">
                                        <p:cTn id="46" dur="indefinite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5" presetClass="emph" presetSubtype="0" grpId="0" nodeType="click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set>
                                      <p:cBhvr override="childStyle">
                                        <p:cTn id="50" dur="indefinite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5" presetClass="emph" presetSubtype="0" grpId="0" nodeType="click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set>
                                      <p:cBhvr override="childStyle">
                                        <p:cTn id="54" dur="indefinite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51C3D7-8F43-C664-6847-4DA52E5AA5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8987B4-C964-B0CD-00E2-2CCAC2768F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8400" y="221474"/>
            <a:ext cx="5043185" cy="489726"/>
          </a:xfrm>
        </p:spPr>
        <p:txBody>
          <a:bodyPr>
            <a:normAutofit fontScale="90000"/>
          </a:bodyPr>
          <a:lstStyle/>
          <a:p>
            <a:r>
              <a:rPr lang="ru-RU" dirty="0"/>
              <a:t>Г</a:t>
            </a:r>
            <a:r>
              <a:rPr lang="ce-Cyrl-RU" dirty="0"/>
              <a:t>рамматика : АЛФАВИТ</a:t>
            </a:r>
            <a:endParaRPr lang="nl-B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923BAD7-7A9D-C3E8-1310-252346763A0D}"/>
              </a:ext>
            </a:extLst>
          </p:cNvPr>
          <p:cNvSpPr txBox="1"/>
          <p:nvPr/>
        </p:nvSpPr>
        <p:spPr>
          <a:xfrm>
            <a:off x="323851" y="895350"/>
            <a:ext cx="8928100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ce-Cyrl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Буквы, которых нет в русском :  </a:t>
            </a:r>
            <a:r>
              <a:rPr kumimoji="0" lang="ce-Cyrl-RU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аь,  яь,</a:t>
            </a:r>
            <a:r>
              <a:rPr kumimoji="0" lang="ce-Cyrl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  </a:t>
            </a:r>
            <a:r>
              <a:rPr kumimoji="0" lang="ce-Cyrl-RU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г1, кх, къ, к1, п1, т1, хь, х1, ц1,  ч1, 1</a:t>
            </a:r>
            <a:endParaRPr kumimoji="0" lang="en-US" sz="1800" b="0" i="1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l Sans MT" panose="020B0502020104020203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ce-Cyrl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Отсутствуют гласные </a:t>
            </a:r>
            <a:r>
              <a:rPr kumimoji="0" lang="ce-Cyrl-RU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оь, уь, юь, </a:t>
            </a:r>
            <a:r>
              <a:rPr kumimoji="0" lang="ce-Cyrl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которые есть в чеченском;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ce-Cyrl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Присутствует дифтонг </a:t>
            </a:r>
            <a:r>
              <a:rPr kumimoji="0" lang="ce-Cyrl-RU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оа</a:t>
            </a:r>
            <a:r>
              <a:rPr kumimoji="0" lang="ce-Cyrl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, которого нет в чеченском: к1оаг – к1аг, лоам – лам.  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ce-Cyrl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Буква </a:t>
            </a:r>
            <a:r>
              <a:rPr kumimoji="0" lang="ru-RU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Ӏ</a:t>
            </a:r>
            <a:r>
              <a:rPr kumimoji="0" lang="ce-Cyrl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 (кирилл. палочка), на практике ее заменяют латинской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 MT" panose="020B0502020104020203"/>
                <a:ea typeface="+mn-ea"/>
                <a:cs typeface="+mn-cs"/>
              </a:rPr>
              <a:t>I </a:t>
            </a:r>
            <a:r>
              <a:rPr kumimoji="0" lang="ce-Cyrl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или цифрой </a:t>
            </a:r>
            <a:r>
              <a:rPr kumimoji="0" lang="ce-Cyrl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+mn-cs"/>
              </a:rPr>
              <a:t>1</a:t>
            </a:r>
            <a:r>
              <a:rPr kumimoji="0" lang="ce-Cyrl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.</a:t>
            </a:r>
          </a:p>
          <a:p>
            <a:pPr marL="285750" lvl="0" indent="-285750">
              <a:buFont typeface="Arial" panose="020B0604020202020204" pitchFamily="34" charset="0"/>
              <a:buChar char="•"/>
              <a:defRPr/>
            </a:pPr>
            <a:r>
              <a:rPr lang="ru-RU" dirty="0">
                <a:solidFill>
                  <a:prstClr val="black"/>
                </a:solidFill>
              </a:rPr>
              <a:t>Если встречаются подряд две двойные буквы, то первая в письме сокращается</a:t>
            </a:r>
            <a:r>
              <a:rPr lang="ce-Cyrl-RU" dirty="0">
                <a:solidFill>
                  <a:prstClr val="black"/>
                </a:solidFill>
              </a:rPr>
              <a:t>: </a:t>
            </a:r>
            <a:br>
              <a:rPr lang="ce-Cyrl-RU" dirty="0">
                <a:solidFill>
                  <a:prstClr val="black"/>
                </a:solidFill>
              </a:rPr>
            </a:br>
            <a:r>
              <a:rPr lang="ru-RU" dirty="0">
                <a:solidFill>
                  <a:prstClr val="black"/>
                </a:solidFill>
              </a:rPr>
              <a:t>докхкха - доккха, ц</a:t>
            </a:r>
            <a:r>
              <a:rPr lang="nl-BE" dirty="0">
                <a:solidFill>
                  <a:prstClr val="black"/>
                </a:solidFill>
              </a:rPr>
              <a:t>I</a:t>
            </a:r>
            <a:r>
              <a:rPr lang="ru-RU" dirty="0">
                <a:solidFill>
                  <a:prstClr val="black"/>
                </a:solidFill>
              </a:rPr>
              <a:t>къа - цкъа, т</a:t>
            </a:r>
            <a:r>
              <a:rPr lang="nl-BE" dirty="0">
                <a:solidFill>
                  <a:prstClr val="black"/>
                </a:solidFill>
              </a:rPr>
              <a:t>I</a:t>
            </a:r>
            <a:r>
              <a:rPr lang="ru-RU" dirty="0">
                <a:solidFill>
                  <a:prstClr val="black"/>
                </a:solidFill>
              </a:rPr>
              <a:t>къа - ткъа</a:t>
            </a:r>
            <a:endParaRPr kumimoji="0" lang="ce-Cyrl-RU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ce-Cyrl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Буква Ф – присутствует в исконно ингушских словах: </a:t>
            </a:r>
            <a:br>
              <a:rPr kumimoji="0" lang="ce-Cyrl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</a:br>
            <a:r>
              <a:rPr kumimoji="0" lang="ce-Cyrl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фу (что), фусам (жилье), фийг (зернышко), фоарт (затылок)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l Sans MT" panose="020B0502020104020203"/>
              <a:ea typeface="+mn-ea"/>
              <a:cs typeface="+mn-cs"/>
            </a:endParaRPr>
          </a:p>
          <a:p>
            <a:pPr marL="285750" lvl="0" indent="-285750">
              <a:buFont typeface="Arial" panose="020B0604020202020204" pitchFamily="34" charset="0"/>
              <a:buChar char="•"/>
              <a:defRPr/>
            </a:pPr>
            <a:r>
              <a:rPr kumimoji="0" lang="ce-Cyrl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Буква Х1 встречается реже, чем в чеченском : </a:t>
            </a:r>
            <a:r>
              <a:rPr lang="ce-Cyrl-RU" dirty="0">
                <a:solidFill>
                  <a:prstClr val="black"/>
                </a:solidFill>
              </a:rPr>
              <a:t>уотта</a:t>
            </a:r>
            <a:r>
              <a:rPr kumimoji="0" lang="ce-Cyrl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 – </a:t>
            </a:r>
            <a:r>
              <a:rPr lang="ce-Cyrl-RU" dirty="0">
                <a:solidFill>
                  <a:prstClr val="black"/>
                </a:solidFill>
              </a:rPr>
              <a:t>х1отта</a:t>
            </a:r>
            <a:r>
              <a:rPr kumimoji="0" lang="ce-Cyrl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, </a:t>
            </a:r>
            <a:r>
              <a:rPr lang="ce-Cyrl-RU" dirty="0">
                <a:solidFill>
                  <a:prstClr val="black"/>
                </a:solidFill>
              </a:rPr>
              <a:t>йара</a:t>
            </a:r>
            <a:r>
              <a:rPr kumimoji="0" lang="ce-Cyrl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 – </a:t>
            </a:r>
            <a:r>
              <a:rPr lang="ce-Cyrl-RU" dirty="0">
                <a:solidFill>
                  <a:prstClr val="black"/>
                </a:solidFill>
              </a:rPr>
              <a:t>х1ара</a:t>
            </a:r>
            <a:r>
              <a:rPr kumimoji="0" lang="ce-Cyrl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, </a:t>
            </a:r>
            <a:r>
              <a:rPr lang="ce-Cyrl-RU" dirty="0">
                <a:solidFill>
                  <a:prstClr val="black"/>
                </a:solidFill>
              </a:rPr>
              <a:t>фуъ – </a:t>
            </a:r>
            <a:r>
              <a:rPr kumimoji="0" lang="ce-Cyrl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х1оа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ce-Cyrl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Буква И часто произносится как Ы : из – “ыз”, ц1илеторг – “ц1ылеторг”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ce-Cyrl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Буква Е практически</a:t>
            </a:r>
            <a:r>
              <a:rPr kumimoji="0" lang="ce-Cyrl-RU" sz="18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 отсутствует, </a:t>
            </a:r>
            <a:r>
              <a:rPr kumimoji="0" lang="ce-Cyrl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произносится : </a:t>
            </a:r>
            <a:br>
              <a:rPr kumimoji="0" lang="ce-Cyrl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</a:br>
            <a:r>
              <a:rPr kumimoji="0" lang="ce-Cyrl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или как краткое э – эзар, дей (легкий);</a:t>
            </a:r>
            <a:r>
              <a:rPr kumimoji="0" lang="ce-Cyrl-RU" sz="18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 </a:t>
            </a:r>
            <a:br>
              <a:rPr kumimoji="0" lang="ce-Cyrl-RU" sz="18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</a:br>
            <a:r>
              <a:rPr kumimoji="0" lang="ce-Cyrl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или как дифтонг </a:t>
            </a:r>
            <a:r>
              <a:rPr kumimoji="0" lang="ce-Cyrl-RU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иэ</a:t>
            </a:r>
            <a:r>
              <a:rPr kumimoji="0" lang="ce-Cyrl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 – безам, </a:t>
            </a:r>
            <a:r>
              <a:rPr kumimoji="0" lang="ce-Cyrl-RU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де</a:t>
            </a:r>
            <a:r>
              <a:rPr kumimoji="0" lang="ce-Cyrl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 (делай), </a:t>
            </a:r>
            <a:r>
              <a:rPr kumimoji="0" lang="ce-Cyrl-RU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берх1а</a:t>
            </a:r>
            <a:r>
              <a:rPr kumimoji="0" lang="ce-Cyrl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 (соус). (как “е” в слове </a:t>
            </a:r>
            <a:r>
              <a:rPr kumimoji="0" lang="ce-Cyrl-RU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белый)</a:t>
            </a:r>
            <a:r>
              <a:rPr kumimoji="0" lang="ce-Cyrl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. </a:t>
            </a:r>
            <a:br>
              <a:rPr kumimoji="0" lang="ce-Cyrl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</a:br>
            <a:r>
              <a:rPr kumimoji="0" lang="ce-Cyrl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Ср. чеч.</a:t>
            </a:r>
            <a:r>
              <a:rPr kumimoji="0" lang="ce-Cyrl-RU" sz="18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 “Дела реза хуьлда” и инг. “Даьла раьза хилда”.</a:t>
            </a:r>
            <a:endParaRPr kumimoji="0" lang="ce-Cyrl-RU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ce-Cyrl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Назальных звуков меньше, чем в чеченском, в письме они никак не отображаются.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ce-Cyrl-RU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Лг, рг, шк, кк, г, к </a:t>
            </a:r>
            <a:r>
              <a:rPr kumimoji="0" lang="ce-Cyrl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на конце слов произносятся мягко, как </a:t>
            </a:r>
            <a:r>
              <a:rPr kumimoji="0" lang="ce-Cyrl-RU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льгь, рьгь, шькь, ськь, ккь</a:t>
            </a:r>
            <a:br>
              <a:rPr kumimoji="0" lang="ce-Cyrl-RU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</a:br>
            <a:r>
              <a:rPr kumimoji="0" lang="ce-Cyrl-RU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(кулг, лерг, пешк, циск, икк, гииг)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ce-Cyrl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Буквы “ж” и “з” обычно произносятся как “дж” и “дз” – модж, хьадж, модз, гердз.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ce-Cyrl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Буква “ш” на конце обычно произносится звонко, как “ж” (ср. чеч. “уьш” – инг. “уж”)</a:t>
            </a:r>
            <a:endParaRPr kumimoji="0" lang="nl-BE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l Sans MT" panose="020B0502020104020203"/>
              <a:ea typeface="+mn-ea"/>
              <a:cs typeface="+mn-cs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6431796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373661">
        <p:fade/>
      </p:transition>
    </mc:Choice>
    <mc:Fallback xmlns="">
      <p:transition spd="med" advTm="373661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uiExpand="1" build="p"/>
    </p:bld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91.3|0.5|0.5|1.5|0.5|0.9|176|0.5|0.3|0.5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91.3|0.5|0.5|1.5|0.5|0.9|176|0.5|0.3|0.5"/>
</p:tagLst>
</file>

<file path=ppt/theme/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43000" r="43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0</TotalTime>
  <Words>1812</Words>
  <Application>Microsoft Office PowerPoint</Application>
  <PresentationFormat>Widescreen</PresentationFormat>
  <Paragraphs>111</Paragraphs>
  <Slides>9</Slides>
  <Notes>0</Notes>
  <HiddenSlides>0</HiddenSlides>
  <MMClips>1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Alasassy Caps</vt:lpstr>
      <vt:lpstr>Arial</vt:lpstr>
      <vt:lpstr>Gill Sans MT</vt:lpstr>
      <vt:lpstr>Times New Roman</vt:lpstr>
      <vt:lpstr>Gallery</vt:lpstr>
      <vt:lpstr>Опыт изучения ингушского языка</vt:lpstr>
      <vt:lpstr>Мудрые наставления наших предков</vt:lpstr>
      <vt:lpstr>Пирlонхlалакьхиларах  </vt:lpstr>
      <vt:lpstr>2. Пирlонхlалакахиларах</vt:lpstr>
      <vt:lpstr>PowerPoint Presentation</vt:lpstr>
      <vt:lpstr>PowerPoint Presentation</vt:lpstr>
      <vt:lpstr>PowerPoint Presentation</vt:lpstr>
      <vt:lpstr>Лексика</vt:lpstr>
      <vt:lpstr>Грамматика : АЛФАВИТ</vt:lpstr>
    </vt:vector>
  </TitlesOfParts>
  <Company>FPS Public Health Belgium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Abdulvakhid Shoudouev (FOD VVVL - SPF SPSCAE)</dc:creator>
  <cp:lastModifiedBy>Abdulvakhid Shoudouev (FOD VVVL - SPF SPSCAE)</cp:lastModifiedBy>
  <cp:revision>103</cp:revision>
  <dcterms:created xsi:type="dcterms:W3CDTF">2026-06-01T18:53:02Z</dcterms:created>
  <dcterms:modified xsi:type="dcterms:W3CDTF">2026-06-13T19:17:00Z</dcterms:modified>
</cp:coreProperties>
</file>