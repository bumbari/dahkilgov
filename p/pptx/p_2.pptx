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185C242-68B7-4DC8-A407-97B28E6BAFC5}">
          <p14:sldIdLst>
            <p14:sldId id="256"/>
          </p14:sldIdLst>
        </p14:section>
        <p14:section name="book_cover" id="{FEE08EA0-157C-42D5-9554-D7F4899B98FD}">
          <p14:sldIdLst>
            <p14:sldId id="257"/>
          </p14:sldIdLst>
        </p14:section>
        <p14:section name="story_name" id="{3529E971-8119-4829-BD88-A7D2789F4180}">
          <p14:sldIdLst>
            <p14:sldId id="258"/>
          </p14:sldIdLst>
        </p14:section>
        <p14:section name="Story_text_inh" id="{9FE4DF01-14C5-45CE-ACA8-0B0B0612A66C}">
          <p14:sldIdLst>
            <p14:sldId id="259"/>
          </p14:sldIdLst>
        </p14:section>
        <p14:section name="Story_text_ru" id="{EC7CF159-B613-4BB0-A71F-6A447E7D2288}">
          <p14:sldIdLst>
            <p14:sldId id="267"/>
          </p14:sldIdLst>
        </p14:section>
        <p14:section name="story_text_eng" id="{1F75236F-9138-4460-9D2C-69429F04EC38}">
          <p14:sldIdLst>
            <p14:sldId id="260"/>
          </p14:sldIdLst>
        </p14:section>
        <p14:section name="story_text_che" id="{0754FFD2-BC67-43BD-9920-805D43719411}">
          <p14:sldIdLst>
            <p14:sldId id="261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1412" autoAdjust="0"/>
  </p:normalViewPr>
  <p:slideViewPr>
    <p:cSldViewPr snapToGrid="0">
      <p:cViewPr varScale="1">
        <p:scale>
          <a:sx n="68" d="100"/>
          <a:sy n="68" d="100"/>
        </p:scale>
        <p:origin x="121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4891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9BEDC-71F1-4F49-90B8-16EFC5E7B3B1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7A7F-F974-4A33-92EE-C6FCDE25A5E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054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Интересна трансформация арабского “ФираIУн” (фараон) в ПирIон (или наоборот, пир1он в фира1ун, мы не будем углубляться в дебаты о том, какие слова древнее): Ф переходит в П, ударение смещается на первый слог, безударная буква “а” в середине выпадает, “у” в середине переходит в “о”.</a:t>
            </a:r>
            <a:b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ХIаллакьхилар – погибель, буквально – “становление разрушенным”, переход в состояние разрушения, эвфемизм для смерти. К табуированным словам и их заменителям, эвфемизмам, мы планируем вернуться позже, в Притче 38 “Са даьй мохк ба ер”. Хилар – становление, масдар, отглагольное существительное от глагола “хила” - становиться. “Хиларах” – вещественный падеж от “хилар”. К масдарам и падежам мы вернемся позже.</a:t>
            </a:r>
            <a:endParaRPr lang="ce-Cyrl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Гез – 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латунь,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«желтая медь», 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“моажа ц1аста”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сплав меди с цинком. «Красная медь», или просто медь, обозначается словом ц1аста.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Кхоале, кхоаленаш (й, й) – навес. Кхалар – навес из соломы, глины. Тхов – крыша.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Аналогичные чеченские слова – раг1у, кхало, тхов.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Пед (педаш) (й,й) – бочка, кадка, кадушка.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Похожие слова – бешка, черма, т1акха.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(Аналогичные слова на чеченском – черма, шелиг, тӀекха).</a:t>
            </a:r>
            <a:b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“догӀа делхийташ” -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«дог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делха» - дождь плачет. Неправильно будет сказать «дог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даха» (дождь идет).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 также слово “с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ерс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 серсаш йа – на улице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моросит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Аналогично со снегом – «лоа делха», но не «ло даха».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чеченском в случае со снегом говорят «ло дуьллу» - покрывается снегом.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Зе-зулам – вред-зло, зловредие.</a:t>
            </a:r>
            <a:endParaRPr lang="ce-Cyrl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Ларх1а – уважать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Хьаста – ласкать, но хоаставе – хвалить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Ялат – зерно, злаки, хлеб на корню.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Хьурмат – Долчох хьурмат дар – быть бережливым, похожие слова – кходар, хам бар, лорадар.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Г1амсилг «да», а не «йа» (также нускал «да») – по правилу, слова, обозначающие женщин, имеют показатель класса «йа», но эти два слова являются исключением.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(то же самое в чеченском, «г1ам ду», «нускал ду»). Классы более подробно в Притче 3.</a:t>
            </a:r>
            <a:endParaRPr lang="nl-B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Мурбенна – так говорят о прогнившей древесине, не пригодной для огня.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Сий дар – чествовать, уважать.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Мераж – нос, сопли.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чеченской орфографии здесь делается различие, в том числе между ед. и мн. числом: нос – мара, марош; сопли – марш, маршаш.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Ц1аьрмата – скупой. Синонимы – сутара, б1армеца, пис, самеца.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чеченском «ц1аьрмат» означает «</a:t>
            </a:r>
            <a:r>
              <a:rPr lang="ce-Cyrl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уродливый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мерзкий».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Мекх – хлеб (чеч. бепиг, кхаллар)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Юхкаш – огрызки (чеч. юьхкаш)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Зирталгаш – крошки (чеч. цуьргаш)</a:t>
            </a:r>
            <a:endParaRPr lang="nl-B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7A7F-F974-4A33-92EE-C6FCDE25A5E5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786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Твердый знак ъ </a:t>
            </a:r>
            <a:r>
              <a:rPr lang="ce-Cyrl-RU" dirty="0">
                <a:effectLst/>
              </a:rPr>
              <a:t>после гласных </a:t>
            </a:r>
            <a:r>
              <a:rPr lang="ru-RU" dirty="0">
                <a:effectLst/>
              </a:rPr>
              <a:t>служит </a:t>
            </a:r>
            <a:r>
              <a:rPr lang="ce-Cyrl-RU" dirty="0">
                <a:effectLst/>
              </a:rPr>
              <a:t>также</a:t>
            </a:r>
            <a:r>
              <a:rPr lang="ru-RU" dirty="0">
                <a:effectLst/>
              </a:rPr>
              <a:t> для обозначения межсвязочного смыка, твердого приступа. Произн</a:t>
            </a:r>
            <a:r>
              <a:rPr lang="ce-Cyrl-RU" dirty="0">
                <a:effectLst/>
              </a:rPr>
              <a:t>осится как </a:t>
            </a:r>
            <a:r>
              <a:rPr lang="ru-RU" dirty="0">
                <a:effectLst/>
              </a:rPr>
              <a:t>в слове О’ОН</a:t>
            </a:r>
            <a:r>
              <a:rPr lang="ce-Cyrl-RU" dirty="0">
                <a:effectLst/>
              </a:rPr>
              <a:t>. </a:t>
            </a:r>
            <a:br>
              <a:rPr lang="ce-Cyrl-RU" dirty="0">
                <a:effectLst/>
              </a:rPr>
            </a:br>
            <a:r>
              <a:rPr lang="ce-Cyrl-RU" dirty="0">
                <a:effectLst/>
              </a:rPr>
              <a:t>шиъ, кхоъ</a:t>
            </a:r>
            <a:r>
              <a:rPr lang="ru-RU" dirty="0">
                <a:effectLst/>
              </a:rPr>
              <a:t>; </a:t>
            </a:r>
            <a:r>
              <a:rPr lang="ce-Cyrl-RU" dirty="0">
                <a:effectLst/>
              </a:rPr>
              <a:t>то</a:t>
            </a:r>
            <a:r>
              <a:rPr lang="ru-RU" dirty="0">
                <a:effectLst/>
              </a:rPr>
              <a:t>ъал </a:t>
            </a:r>
            <a:r>
              <a:rPr lang="ce-Cyrl-RU" dirty="0">
                <a:effectLst/>
              </a:rPr>
              <a:t>- достаточно</a:t>
            </a:r>
            <a:r>
              <a:rPr lang="ru-RU" dirty="0">
                <a:effectLst/>
              </a:rPr>
              <a:t>.. </a:t>
            </a:r>
            <a:br>
              <a:rPr lang="ce-Cyrl-RU" dirty="0">
                <a:effectLst/>
              </a:rPr>
            </a:b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“ма ала” пишется раздельно. </a:t>
            </a:r>
            <a:b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Мадарра пишется вместе, в отличие </a:t>
            </a:r>
            <a:r>
              <a:rPr kumimoji="0" lang="ce-Cyrl-RU" sz="12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от чеченского ма-дарра.</a:t>
            </a:r>
            <a:b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Составные географические названия также пишутся через дефис: </a:t>
            </a:r>
            <a:b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Нана-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Наьсаре</a:t>
            </a:r>
            <a:r>
              <a:rPr lang="ce-Cyrl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Шолж-Г1ала.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7A7F-F974-4A33-92EE-C6FCDE25A5E5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41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55A86-9B17-54B9-2CE5-8916635CDC73}"/>
              </a:ext>
            </a:extLst>
          </p:cNvPr>
          <p:cNvSpPr txBox="1"/>
          <p:nvPr userDrawn="1"/>
        </p:nvSpPr>
        <p:spPr>
          <a:xfrm>
            <a:off x="419054" y="6299200"/>
            <a:ext cx="1982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CC6600"/>
                </a:solidFill>
              </a:rPr>
              <a:t>@LADUGA_LADOGA</a:t>
            </a:r>
            <a:endParaRPr lang="nl-BE" sz="1200" b="1" dirty="0">
              <a:solidFill>
                <a:srgbClr val="CC66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0D7826-67D3-570C-DC2E-EC5B60B640A7}"/>
              </a:ext>
            </a:extLst>
          </p:cNvPr>
          <p:cNvSpPr txBox="1"/>
          <p:nvPr userDrawn="1"/>
        </p:nvSpPr>
        <p:spPr>
          <a:xfrm>
            <a:off x="3832529" y="6299200"/>
            <a:ext cx="786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И.А. </a:t>
            </a:r>
            <a:r>
              <a:rPr lang="ru-RU" sz="1400" b="1" kern="1200" noProof="0" dirty="0">
                <a:solidFill>
                  <a:srgbClr val="CC6600"/>
                </a:solidFill>
                <a:latin typeface="+mn-lt"/>
                <a:ea typeface="+mn-ea"/>
                <a:cs typeface="+mn-cs"/>
              </a:rPr>
              <a:t>Дахкильгов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. Хьехаме дувцарш - поучительные рассказы-притчи.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Из ингушского фольклора.</a:t>
            </a:r>
            <a:endParaRPr lang="nl-BE" sz="1400" b="1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29059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62EAB-314F-C75A-21DD-AB2C064388D5}"/>
              </a:ext>
            </a:extLst>
          </p:cNvPr>
          <p:cNvSpPr txBox="1"/>
          <p:nvPr userDrawn="1"/>
        </p:nvSpPr>
        <p:spPr>
          <a:xfrm>
            <a:off x="419054" y="6299200"/>
            <a:ext cx="1982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CC6600"/>
                </a:solidFill>
              </a:rPr>
              <a:t>@LADUGA_LADOGA</a:t>
            </a:r>
            <a:endParaRPr lang="nl-BE" sz="1200" b="1" dirty="0">
              <a:solidFill>
                <a:srgbClr val="CC66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E0B99-DB1E-7DFC-9C7B-70FA11250A1B}"/>
              </a:ext>
            </a:extLst>
          </p:cNvPr>
          <p:cNvSpPr txBox="1"/>
          <p:nvPr userDrawn="1"/>
        </p:nvSpPr>
        <p:spPr>
          <a:xfrm>
            <a:off x="3832529" y="6299200"/>
            <a:ext cx="786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И.А. </a:t>
            </a:r>
            <a:r>
              <a:rPr lang="ru-RU" sz="1400" b="1" kern="1200" noProof="0" dirty="0">
                <a:solidFill>
                  <a:srgbClr val="CC6600"/>
                </a:solidFill>
                <a:latin typeface="+mn-lt"/>
                <a:ea typeface="+mn-ea"/>
                <a:cs typeface="+mn-cs"/>
              </a:rPr>
              <a:t>Дахкильгов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. Хьехаме дувцарш - поучительные рассказы-притчи.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Из ингушского фольклора.</a:t>
            </a:r>
            <a:endParaRPr lang="nl-BE" sz="1400" b="1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231634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08310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5692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09565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41629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7484124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65480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2035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009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27334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94000"/>
                <a:lumOff val="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86570-2C26-4E5F-9D28-4D18F9BAC427}" type="datetimeFigureOut">
              <a:rPr lang="nl-BE" smtClean="0"/>
              <a:t>15/06/2026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5E9C3EB-3209-46C0-A1BF-04B855C83966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19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arodnaya_Ingushskaya">
            <a:hlinkClick r:id="" action="ppaction://media"/>
            <a:extLst>
              <a:ext uri="{FF2B5EF4-FFF2-40B4-BE49-F238E27FC236}">
                <a16:creationId xmlns:a16="http://schemas.microsoft.com/office/drawing/2014/main" id="{6AA5EB36-CCC9-D90B-7C25-A280071F853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602" end="133226.9375"/>
                  <p14:fade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0332" y="5626500"/>
            <a:ext cx="487363" cy="4873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B9045-3109-7F3D-3F6E-A237CA6F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4425" y="802299"/>
            <a:ext cx="8623151" cy="1991144"/>
          </a:xfrm>
        </p:spPr>
        <p:txBody>
          <a:bodyPr/>
          <a:lstStyle/>
          <a:p>
            <a:pPr algn="ctr"/>
            <a:r>
              <a:rPr lang="ce-Cyrl-RU" dirty="0"/>
              <a:t>Опыт изучения ингушского языка</a:t>
            </a:r>
            <a:endParaRPr lang="nl-B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A53427-5985-4E85-8EC8-645334CA8C0A}"/>
              </a:ext>
            </a:extLst>
          </p:cNvPr>
          <p:cNvCxnSpPr>
            <a:cxnSpLocks/>
          </p:cNvCxnSpPr>
          <p:nvPr/>
        </p:nvCxnSpPr>
        <p:spPr>
          <a:xfrm>
            <a:off x="1307876" y="323444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CFFAA4-007A-6284-7B95-54B3559E4A1E}"/>
              </a:ext>
            </a:extLst>
          </p:cNvPr>
          <p:cNvCxnSpPr>
            <a:cxnSpLocks/>
          </p:cNvCxnSpPr>
          <p:nvPr/>
        </p:nvCxnSpPr>
        <p:spPr>
          <a:xfrm>
            <a:off x="1307876" y="534210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7">
            <a:extLst>
              <a:ext uri="{FF2B5EF4-FFF2-40B4-BE49-F238E27FC236}">
                <a16:creationId xmlns:a16="http://schemas.microsoft.com/office/drawing/2014/main" id="{2CFAA90A-62ED-E505-101E-911AC776E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ce-Cyrl-RU" dirty="0"/>
              <a:t>ингушские притчи </a:t>
            </a:r>
            <a:br>
              <a:rPr lang="ce-Cyrl-RU" dirty="0"/>
            </a:br>
            <a:r>
              <a:rPr lang="ce-Cyrl-RU" dirty="0"/>
              <a:t>с переводом на русский, чеченский и Английский языки.</a:t>
            </a:r>
            <a:br>
              <a:rPr lang="ce-Cyrl-RU" dirty="0"/>
            </a:br>
            <a:r>
              <a:rPr lang="ru-RU" dirty="0"/>
              <a:t>Р</a:t>
            </a:r>
            <a:r>
              <a:rPr lang="ce-Cyrl-RU" dirty="0"/>
              <a:t>азбор лексики и грамматики.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8781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EEFE-FAC7-B414-5EE3-E89A0F22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223737"/>
            <a:ext cx="9603275" cy="493813"/>
          </a:xfrm>
        </p:spPr>
        <p:txBody>
          <a:bodyPr>
            <a:normAutofit fontScale="90000"/>
          </a:bodyPr>
          <a:lstStyle/>
          <a:p>
            <a:pPr algn="ctr"/>
            <a:r>
              <a:rPr lang="ce-Cyrl-RU" dirty="0"/>
              <a:t>Мудрые наставления наших предков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6817F-2590-AF4F-062B-7810BBC5A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422" y="2171671"/>
            <a:ext cx="1969259" cy="3449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C7B53-5EC4-58F2-9016-E24BFB875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455" y="2171671"/>
            <a:ext cx="3011997" cy="3449638"/>
          </a:xfrm>
          <a:prstGeom prst="rect">
            <a:avLst/>
          </a:prstGeom>
        </p:spPr>
      </p:pic>
      <p:sp>
        <p:nvSpPr>
          <p:cNvPr id="6" name="Subtitle 7">
            <a:extLst>
              <a:ext uri="{FF2B5EF4-FFF2-40B4-BE49-F238E27FC236}">
                <a16:creationId xmlns:a16="http://schemas.microsoft.com/office/drawing/2014/main" id="{F8D657EF-BD2E-4F0B-971C-809E230094C5}"/>
              </a:ext>
            </a:extLst>
          </p:cNvPr>
          <p:cNvSpPr txBox="1">
            <a:spLocks/>
          </p:cNvSpPr>
          <p:nvPr/>
        </p:nvSpPr>
        <p:spPr>
          <a:xfrm>
            <a:off x="1777464" y="768955"/>
            <a:ext cx="8637072" cy="843945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indent="0" algn="ctr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b="0" cap="all" baseline="0">
                <a:effectLst/>
              </a:defRPr>
            </a:lvl1pPr>
            <a:lvl2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cap="none" baseline="0">
                <a:effectLst/>
              </a:defRPr>
            </a:lvl2pPr>
            <a:lvl3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3pPr>
            <a:lvl4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cap="none" baseline="0">
                <a:effectLst/>
              </a:defRPr>
            </a:lvl4pPr>
            <a:lvl5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5pPr>
            <a:lvl6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6pPr>
            <a:lvl7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7pPr>
            <a:lvl8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8pPr>
            <a:lvl9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9pPr>
          </a:lstStyle>
          <a:p>
            <a:r>
              <a:rPr lang="ce-Cyrl-RU" dirty="0"/>
              <a:t>Из ингушского фольклора</a:t>
            </a:r>
            <a:br>
              <a:rPr lang="ce-Cyrl-RU" dirty="0"/>
            </a:br>
            <a:r>
              <a:rPr lang="ce-Cyrl-RU" dirty="0"/>
              <a:t>И.А. Дахкильгов, 2000 г.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1188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F6D9B2-7B50-314B-634A-73A548DB3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32" y="1244970"/>
            <a:ext cx="6117074" cy="333658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329C50E-74C0-7ABA-F08B-A63C7E035D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16226" y="1952171"/>
            <a:ext cx="4965970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Пир</a:t>
            </a: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онх</a:t>
            </a: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алак</a:t>
            </a:r>
            <a:r>
              <a:rPr kumimoji="0" lang="ce-Cyrl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ь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хиларах </a:t>
            </a:r>
            <a:r>
              <a:rPr kumimoji="0" lang="ce-Cyrl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endParaRPr kumimoji="0" lang="nl-BE" sz="24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3BD79-EADF-39AF-26F8-D7E577B6C3C9}"/>
              </a:ext>
            </a:extLst>
          </p:cNvPr>
          <p:cNvSpPr txBox="1"/>
          <p:nvPr/>
        </p:nvSpPr>
        <p:spPr>
          <a:xfrm>
            <a:off x="7322585" y="1322794"/>
            <a:ext cx="3952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e-Cyrl-RU" sz="32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Alasassy Caps"/>
                <a:ea typeface="+mn-ea"/>
                <a:cs typeface="+mn-cs"/>
              </a:rPr>
              <a:t>№ 2</a:t>
            </a:r>
            <a:endParaRPr kumimoji="0" lang="nl-BE" sz="32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Alasassy Cap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48C73-175C-D8D8-25C7-9E0DDE77C77F}"/>
              </a:ext>
            </a:extLst>
          </p:cNvPr>
          <p:cNvSpPr txBox="1"/>
          <p:nvPr/>
        </p:nvSpPr>
        <p:spPr>
          <a:xfrm>
            <a:off x="6589766" y="3381439"/>
            <a:ext cx="5369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Гибель Пиръона</a:t>
            </a:r>
            <a:br>
              <a:rPr kumimoji="0" lang="ce-Cyrl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</a:br>
            <a:br>
              <a:rPr kumimoji="0" lang="ce-Cyrl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The Downfall of the Pharaoh</a:t>
            </a: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44E224-A0A3-F28E-221F-EB5BC8440BAA}"/>
              </a:ext>
            </a:extLst>
          </p:cNvPr>
          <p:cNvCxnSpPr>
            <a:cxnSpLocks/>
          </p:cNvCxnSpPr>
          <p:nvPr/>
        </p:nvCxnSpPr>
        <p:spPr>
          <a:xfrm>
            <a:off x="8369925" y="1899972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7D954C-17E0-A338-D96F-6134F0C5115A}"/>
              </a:ext>
            </a:extLst>
          </p:cNvPr>
          <p:cNvCxnSpPr>
            <a:cxnSpLocks/>
          </p:cNvCxnSpPr>
          <p:nvPr/>
        </p:nvCxnSpPr>
        <p:spPr>
          <a:xfrm>
            <a:off x="8369925" y="2558211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4AFEBD-0312-5DC2-8668-33F8363DE6B2}"/>
              </a:ext>
            </a:extLst>
          </p:cNvPr>
          <p:cNvCxnSpPr>
            <a:cxnSpLocks/>
          </p:cNvCxnSpPr>
          <p:nvPr/>
        </p:nvCxnSpPr>
        <p:spPr>
          <a:xfrm>
            <a:off x="8369925" y="3867825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40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8FC515-7E5F-5531-8FDD-8728149AFB7C}"/>
              </a:ext>
            </a:extLst>
          </p:cNvPr>
          <p:cNvSpPr txBox="1"/>
          <p:nvPr/>
        </p:nvSpPr>
        <p:spPr>
          <a:xfrm>
            <a:off x="770917" y="910779"/>
            <a:ext cx="105253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ПирӀон харцахьа саг хиннав. Цхьанахьа дуне йисте гезах цхьа сигала хьисапе кхоаленаш яьй цо. Царна тӀагӀолла педаш хехкаш, таташ деш, тӀера хий Ӏочумехкадеш хиннав из.</a:t>
            </a:r>
          </a:p>
          <a:p>
            <a:r>
              <a:rPr lang="ru-RU" sz="1600" dirty="0"/>
              <a:t>- Со а веций ды къувкъадеш, догӀа делхийташ. Со а веций даьла? – оалаш хиннад цо.</a:t>
            </a:r>
          </a:p>
          <a:p>
            <a:endParaRPr lang="ru-RU" sz="1600" dirty="0"/>
          </a:p>
          <a:p>
            <a:r>
              <a:rPr lang="ru-RU" sz="1600" dirty="0"/>
              <a:t>Вахаш пхи бӀаь шу даьккхад ПирӀона. Харцача хӀаманна тӀехьа из хинна воллашехьа а, зе-зулам хулаш хиннадац цунна, хӀана аьлча, цох доаллаш дар дика кхо хӀама – боккхий нах лархӀар, бераш хьесташ хилар, ялата а дуача моллагӀча а хьурмат дар.</a:t>
            </a:r>
          </a:p>
          <a:p>
            <a:endParaRPr lang="ru-RU" sz="1600" dirty="0"/>
          </a:p>
          <a:p>
            <a:r>
              <a:rPr lang="ru-RU" sz="1600" dirty="0"/>
              <a:t>ПирӀон воаве дагадеад гӀамсилга. ПирӀонна дӀатӀа а даха, аьннад цо:</a:t>
            </a:r>
          </a:p>
          <a:p>
            <a:r>
              <a:rPr lang="ru-RU" sz="1600" dirty="0"/>
              <a:t>- ПирӀон, хьайха нах белаш болга хой хьона?</a:t>
            </a:r>
          </a:p>
          <a:p>
            <a:r>
              <a:rPr lang="ru-RU" sz="1600" dirty="0"/>
              <a:t>- Сох хӀана бел? – аьнна, хьаттад цо.</a:t>
            </a:r>
          </a:p>
          <a:p>
            <a:r>
              <a:rPr lang="ru-RU" sz="1600" dirty="0"/>
              <a:t>- Къабенна, мурбенна, хӀамана пайданна боацача, каша бахка мара мегаргбоацача боккхийча наьха Ӏа сий дарах бел, - аьннад.</a:t>
            </a:r>
          </a:p>
          <a:p>
            <a:r>
              <a:rPr lang="ru-RU" sz="1600" dirty="0"/>
              <a:t>- Долче, хьа духьа из дитар аз, - аьннад ПирӀона.</a:t>
            </a:r>
          </a:p>
          <a:p>
            <a:r>
              <a:rPr lang="ru-RU" sz="1600" dirty="0"/>
              <a:t>- Кхы а бел хьох нах, - дӀахо дийцад гӀамсилга, - мӀадаш даьха, мераж Ӏоуха бераш хьест Ӏа, яхаш, бел хьох нах.</a:t>
            </a:r>
          </a:p>
          <a:p>
            <a:r>
              <a:rPr lang="ru-RU" sz="1600" dirty="0"/>
              <a:t>- Иштта из долче, хьа духьа из а дут аз, - аьлар ПирӀона.</a:t>
            </a:r>
          </a:p>
          <a:p>
            <a:r>
              <a:rPr lang="ru-RU" sz="1600" dirty="0"/>
              <a:t>- ХӀаьта, кхы а нах бел хьох. Наха йоах хьо цӀаьрмата ва, маькха юхкаш дӀаехкаш, зирталгаш гулдеш ва, йоах цар, - аьннад гӀамсилго.</a:t>
            </a:r>
          </a:p>
          <a:p>
            <a:r>
              <a:rPr lang="ru-RU" sz="1600" dirty="0"/>
              <a:t>- ДӀахо дӀайодача хана из а кхы дергдоацаш дут аз, - жоп деннад ПирӀона.</a:t>
            </a:r>
          </a:p>
          <a:p>
            <a:endParaRPr lang="ru-RU" sz="1600" dirty="0"/>
          </a:p>
          <a:p>
            <a:r>
              <a:rPr lang="ru-RU" sz="1600" dirty="0"/>
              <a:t>Из аьнна воаллашехьа хӀалак а хинна, вайна дӀаваьлар ПирӀон.</a:t>
            </a:r>
            <a:endParaRPr lang="nl-BE" sz="16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443C54C-441A-C5BB-DBFD-00B50500AC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2565" y="311883"/>
            <a:ext cx="6706870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e-Cyrl-R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Пир</a:t>
            </a: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онх</a:t>
            </a: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алакахиларах</a:t>
            </a:r>
            <a:endParaRPr kumimoji="0" lang="nl-B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82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000">
        <p:fade/>
      </p:transition>
    </mc:Choice>
    <mc:Fallback xmlns="">
      <p:transition spd="med" advTm="4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F90C-729C-3B9C-4997-1D0EDCAB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F4E762B-BE22-34F4-37FC-54D7F596ABD9}"/>
              </a:ext>
            </a:extLst>
          </p:cNvPr>
          <p:cNvSpPr txBox="1">
            <a:spLocks/>
          </p:cNvSpPr>
          <p:nvPr/>
        </p:nvSpPr>
        <p:spPr>
          <a:xfrm>
            <a:off x="906292" y="551289"/>
            <a:ext cx="10379413" cy="575542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Гибель Пиръона</a:t>
            </a:r>
            <a:br>
              <a:rPr kumimoji="0" lang="ce-Cyrl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Пиръон был неправедный человек. Где-то на краю света из латуни и меди он сделал своды в виде небес. По ним он с грохотом катал бочки и лил из них воду.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Я ли не могу греметь громом? Я ли не могу лить дождь? Я ли не являюсь богом? – говорил он при этом.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Жил Пиръон пятьсот лет. Хотя все это время он и пытался соперничать с самим Всевышним, но Бог не причинял ему никакого вреда, потому что Пиръон соблюдал три хороших обычая: уважал старших, любил детей, свято относился к пище.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Некая гамсилг – ведьма – решила погубить Пиръона. Пришла она к нему и сказала: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Знаешь ли ты, Пиръон, что люди смеются над тобою?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А почему они смеются надо мною? – спросил он.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Смеются потому, что ты уважаешь старых людей, которые столь дряхлы и непригодны в этой жизни, что их впору класть в могилы.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Ладно, ради тебя я этого больше делать не буду.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А еще люди смеются, - продолжала гамсилг, - что ты ласкаешь грязных и сопливых детей.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Раз так и этого ради тебя я более не буду делать, - сказал Пиръон.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Также люди смеются над тобой, говоря, что ты жаден настолько, что собираешь хлебные крошки и огрызки, - сказала гамсилг.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Далее и этого я не буду делать, - ответил Пиръон.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После этих слов Пиръон сразу же сгинул со света.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9485C-8E5D-861C-BF82-F93A3D3B61D5}"/>
              </a:ext>
            </a:extLst>
          </p:cNvPr>
          <p:cNvSpPr txBox="1"/>
          <p:nvPr/>
        </p:nvSpPr>
        <p:spPr>
          <a:xfrm>
            <a:off x="5108641" y="178360"/>
            <a:ext cx="1974716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ce-Cyrl-RU" sz="1600" b="1" dirty="0"/>
              <a:t>РУССКИЙ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126509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3E228-0DFB-EEF1-2338-3AD6B9EA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BEDB9C-78AC-CAD6-9DEC-DD7DD284558F}"/>
              </a:ext>
            </a:extLst>
          </p:cNvPr>
          <p:cNvSpPr txBox="1"/>
          <p:nvPr/>
        </p:nvSpPr>
        <p:spPr>
          <a:xfrm>
            <a:off x="5108642" y="107410"/>
            <a:ext cx="1974716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ENGLISH</a:t>
            </a:r>
            <a:endParaRPr lang="nl-B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AE75D-6FB0-0CE2-7060-2DE8ECBECE3C}"/>
              </a:ext>
            </a:extLst>
          </p:cNvPr>
          <p:cNvSpPr txBox="1"/>
          <p:nvPr/>
        </p:nvSpPr>
        <p:spPr>
          <a:xfrm>
            <a:off x="906293" y="661864"/>
            <a:ext cx="1037941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2. The Downfall of the Pharaoh</a:t>
            </a:r>
            <a:endParaRPr lang="en-US" sz="1600" b="1" dirty="0"/>
          </a:p>
          <a:p>
            <a:endParaRPr lang="en-US" sz="1600" b="1" dirty="0"/>
          </a:p>
          <a:p>
            <a:r>
              <a:rPr lang="en-US" sz="1600" dirty="0"/>
              <a:t>The Pharaoh was a wicked man. Somewhere at the edge of the world, he fashioned vaults of brass and copper to resemble the heavens. Along these vaults he rolled barrels with a clatter, pouring water from them.</a:t>
            </a:r>
          </a:p>
          <a:p>
            <a:r>
              <a:rPr lang="en-US" sz="1600" dirty="0"/>
              <a:t>‘Am I not able to make thunder roar? Am I not able to make rain fall?’ Am I not a god?’ he would say as he did so.</a:t>
            </a:r>
          </a:p>
          <a:p>
            <a:endParaRPr lang="en-US" sz="1600" dirty="0"/>
          </a:p>
          <a:p>
            <a:r>
              <a:rPr lang="en-US" sz="1600" dirty="0"/>
              <a:t>Pharaoh lived for five hundred years. Although all this time he tried to rival the Almighty himself, God did him no harm, because Pharaoh observed three good customs: he respected his elders, loved children, and treated food with reverence.</a:t>
            </a:r>
          </a:p>
          <a:p>
            <a:endParaRPr lang="en-US" sz="1600" dirty="0"/>
          </a:p>
          <a:p>
            <a:r>
              <a:rPr lang="en-US" sz="1600" dirty="0"/>
              <a:t>A certain </a:t>
            </a:r>
            <a:r>
              <a:rPr lang="en-US" sz="1600" dirty="0" err="1"/>
              <a:t>hamsilg</a:t>
            </a:r>
            <a:r>
              <a:rPr lang="en-US" sz="1600" dirty="0"/>
              <a:t> – a witch – decided to destroy Pharaoh. She came to him and said:</a:t>
            </a:r>
          </a:p>
          <a:p>
            <a:r>
              <a:rPr lang="en-US" sz="1600" dirty="0"/>
              <a:t>‘Do you know, Pharaoh, that people are laughing at you?’</a:t>
            </a:r>
          </a:p>
          <a:p>
            <a:r>
              <a:rPr lang="en-US" sz="1600" dirty="0"/>
              <a:t>‘And why are they laughing at me?’ he asked.</a:t>
            </a:r>
          </a:p>
          <a:p>
            <a:r>
              <a:rPr lang="en-US" sz="1600" dirty="0"/>
              <a:t>‘They laugh because you respect old people who are so decrepit and useless in this life that they ought to be put in their graves.’</a:t>
            </a:r>
          </a:p>
          <a:p>
            <a:r>
              <a:rPr lang="en-US" sz="1600" dirty="0"/>
              <a:t>‘All right, for your sake I won’t do that anymore.’</a:t>
            </a:r>
          </a:p>
          <a:p>
            <a:r>
              <a:rPr lang="en-US" sz="1600" dirty="0"/>
              <a:t>‘And people also laugh,’ continued the </a:t>
            </a:r>
            <a:r>
              <a:rPr lang="en-US" sz="1600" dirty="0" err="1"/>
              <a:t>gamsilg</a:t>
            </a:r>
            <a:r>
              <a:rPr lang="en-US" sz="1600" dirty="0"/>
              <a:t>, ‘that you caress dirty, snotty children.’</a:t>
            </a:r>
          </a:p>
          <a:p>
            <a:r>
              <a:rPr lang="en-US" sz="1600" dirty="0"/>
              <a:t>‘In that case, for your sake, I shall stop doing that too,’ said Pharaoh.</a:t>
            </a:r>
          </a:p>
          <a:p>
            <a:r>
              <a:rPr lang="en-US" sz="1600" dirty="0"/>
              <a:t>‘People also laugh at you, saying that you are so greedy that you gather breadcrumbs and scraps,’ said the </a:t>
            </a:r>
            <a:r>
              <a:rPr lang="en-US" sz="1600" dirty="0" err="1"/>
              <a:t>gamsilg</a:t>
            </a:r>
            <a:r>
              <a:rPr lang="en-US" sz="1600" dirty="0"/>
              <a:t>.</a:t>
            </a:r>
          </a:p>
          <a:p>
            <a:r>
              <a:rPr lang="en-US" sz="1600" dirty="0"/>
              <a:t>‘I shall stop doing that as well,’ replied Pharaoh.</a:t>
            </a:r>
          </a:p>
          <a:p>
            <a:endParaRPr lang="en-US" sz="1600" dirty="0"/>
          </a:p>
          <a:p>
            <a:r>
              <a:rPr lang="en-US" sz="1600" dirty="0"/>
              <a:t>After these words, Pharaoh vanished from the face of the earth at once.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391225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D386A-E652-F092-4302-9A5564B6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3E2E525-A17F-4826-347D-F47A09EB0F54}"/>
              </a:ext>
            </a:extLst>
          </p:cNvPr>
          <p:cNvSpPr txBox="1"/>
          <p:nvPr/>
        </p:nvSpPr>
        <p:spPr>
          <a:xfrm>
            <a:off x="906293" y="553306"/>
            <a:ext cx="1037941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2. </a:t>
            </a:r>
            <a:r>
              <a:rPr lang="ru-RU" sz="1600" b="1" dirty="0"/>
              <a:t>Пир</a:t>
            </a:r>
            <a:r>
              <a:rPr lang="nl-BE" sz="1600" b="1" dirty="0"/>
              <a:t>l</a:t>
            </a:r>
            <a:r>
              <a:rPr lang="ru-RU" sz="1600" b="1" dirty="0"/>
              <a:t>ун х</a:t>
            </a:r>
            <a:r>
              <a:rPr lang="nl-BE" sz="1600" b="1" dirty="0"/>
              <a:t>l</a:t>
            </a:r>
            <a:r>
              <a:rPr lang="ru-RU" sz="1600" b="1" dirty="0"/>
              <a:t>аллакьхиларах</a:t>
            </a:r>
            <a:endParaRPr lang="en-US" sz="1600" b="1" dirty="0"/>
          </a:p>
          <a:p>
            <a:r>
              <a:rPr lang="ru-RU" sz="1600" dirty="0"/>
              <a:t>ПирӀун харцхьа стаг хилла. Цхьанхьа дуьненна йистехь гезах цхьа стигалан хьесапе кхалонаш йина цо. Царна тӀехула черманаш хоьхкуш, татанаш деш, тӀера хи Ӏенадеш хилла иза.</a:t>
            </a:r>
          </a:p>
          <a:p>
            <a:r>
              <a:rPr lang="ru-RU" sz="1600" dirty="0"/>
              <a:t>- Со а вац стигал къовкъайеш, догӀа доьлхуьйтуш. Со а вац дела? – олуш хилла цо.</a:t>
            </a:r>
          </a:p>
          <a:p>
            <a:endParaRPr lang="ru-RU" sz="1600" dirty="0"/>
          </a:p>
          <a:p>
            <a:r>
              <a:rPr lang="ru-RU" sz="1600" dirty="0"/>
              <a:t>Вехаш пхи бӀе шо даьккхина ПирӀуно. Харцачу хӀуманна тӀехь иза воллушехь а, зен-зулам хуьлуш хилла дац цунна, хӀунда аьлча, цунах доллуш дар дика кхоъ хӀума – баккхий нах ларар, бераш хьоьстуш хилар, йалтина а дуучунна молучунна а хьурмат дар.</a:t>
            </a:r>
          </a:p>
          <a:p>
            <a:endParaRPr lang="ru-RU" sz="1600" dirty="0"/>
          </a:p>
          <a:p>
            <a:r>
              <a:rPr lang="ru-RU" sz="1600" dirty="0"/>
              <a:t>ПирӀун вохаван дагадеан гӀоман. ПирӀунна тӀе а дахна, аьлла цо:</a:t>
            </a:r>
          </a:p>
          <a:p>
            <a:r>
              <a:rPr lang="ru-RU" sz="1600" dirty="0"/>
              <a:t>- ПирӀун, хьайх нах боьлуш болий хаьий хьуна?</a:t>
            </a:r>
          </a:p>
          <a:p>
            <a:r>
              <a:rPr lang="ru-RU" sz="1600" dirty="0"/>
              <a:t>- Сох хӀунда боьлу? – аьлла, хаьттина цо.</a:t>
            </a:r>
          </a:p>
          <a:p>
            <a:r>
              <a:rPr lang="ru-RU" sz="1600" dirty="0"/>
              <a:t>- Къанбелла, мурбоьлла, хӀуманна пайден боцачу, коше бахка бен мегар боцачу баккхийчу нехан ахь сий дарех боьлу, - аьлла.</a:t>
            </a:r>
          </a:p>
          <a:p>
            <a:r>
              <a:rPr lang="ru-RU" sz="1600" dirty="0"/>
              <a:t>- Делахь, хьан дуьхьа иза дитира ас, - аьлла ПирӀуно.</a:t>
            </a:r>
          </a:p>
          <a:p>
            <a:r>
              <a:rPr lang="ru-RU" sz="1600" dirty="0"/>
              <a:t>- Кхин а боьлу хьох нах, - кхидӀа дийцина гӀомо, - модех дохку, мераш охьаоьху бераш хьестадо ахь, бохуш, боьлу хьох нах.</a:t>
            </a:r>
          </a:p>
          <a:p>
            <a:r>
              <a:rPr lang="ru-RU" sz="1600" dirty="0"/>
              <a:t>- Иштта иза делахь, хьан дуьхьа иза а дуьту ас, - элира ПирӀуно.</a:t>
            </a:r>
          </a:p>
          <a:p>
            <a:r>
              <a:rPr lang="ru-RU" sz="1600" dirty="0"/>
              <a:t>- ХӀета, кхин а нах боьлу хьох. Наха боху хьо сутара ву, баьпкан йуьхкаш дӀайохкуш, цуьргаш гулдеш ву, бах цара, - аьлла гӀомо.</a:t>
            </a:r>
          </a:p>
          <a:p>
            <a:r>
              <a:rPr lang="ru-RU" sz="1600" dirty="0"/>
              <a:t>- КхидӀа дӀайоьдучу хенахь иза а кхин дийра доцуш дуьту ас, - жоп делла ПирӀуно.</a:t>
            </a:r>
          </a:p>
          <a:p>
            <a:endParaRPr lang="ru-RU" sz="1600" dirty="0"/>
          </a:p>
          <a:p>
            <a:r>
              <a:rPr lang="ru-RU" sz="1600" dirty="0"/>
              <a:t>Иза аьлла воллушехь хӀаллак а хилла, вайна дӀавелир ПирӀун.</a:t>
            </a:r>
            <a:endParaRPr lang="ru-RU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501EA-A4E5-78D0-3E04-F3E2BF5DAC77}"/>
              </a:ext>
            </a:extLst>
          </p:cNvPr>
          <p:cNvSpPr txBox="1"/>
          <p:nvPr/>
        </p:nvSpPr>
        <p:spPr>
          <a:xfrm>
            <a:off x="5108642" y="113760"/>
            <a:ext cx="1974716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ce-Cyrl-RU" b="1" dirty="0"/>
              <a:t>НОХЧИЙН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931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79A5-B4FF-B41C-F4E9-DF9BF7B6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353" y="164324"/>
            <a:ext cx="2021294" cy="580936"/>
          </a:xfrm>
        </p:spPr>
        <p:txBody>
          <a:bodyPr>
            <a:normAutofit/>
          </a:bodyPr>
          <a:lstStyle/>
          <a:p>
            <a:r>
              <a:rPr lang="ce-Cyrl-RU" dirty="0"/>
              <a:t>Лексика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9155C-CF26-7137-7DDB-1E5F0CAF8B18}"/>
              </a:ext>
            </a:extLst>
          </p:cNvPr>
          <p:cNvSpPr txBox="1"/>
          <p:nvPr/>
        </p:nvSpPr>
        <p:spPr>
          <a:xfrm>
            <a:off x="516030" y="1183629"/>
            <a:ext cx="85327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ПирӀон харцахьа саг хиннав. Цхьанахьа дуне йисте гезах цхьа сигала хьисапе кхоаленаш яьй цо. Царна тӀагӀолла педаш хехкаш, таташ деш, тӀера хий Ӏочумехкадеш хиннав из.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Со а веций ды къувкъадеш, догӀа делхийташ. Со а веций даьла? – оалаш хиннад цо.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Вахаш пхи бӀаь шу даьккхад ПирӀона. Харцача хӀаманна тӀехьа из хинна воллашехьа а, зе-зулам хулаш хиннадац цунна, хӀана аьлча, цох доаллаш дар дика кхо хӀама – боккхий нах лархӀар, бераш хьесташ хилар, ялата а дуача моллагӀча а хьурмат дар.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ПирӀон воаве дагадеад гӀамсилга. ПирӀонна дӀатӀа а даха, аьннад цо: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ПирӀон, хьайха нах белаш болга хой хьона?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Сох хӀана бел? – аьнна, хьаттад цо.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Къабенна, мурбенна, хӀамана пайданна боацача, каша бахка мара мегаргбоацача боккхийча наьха Ӏа сий дарах бел, - аьннад.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Долче, хьа духьа из дитар аз, - аьннад ПирӀона.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Кхы а бел хьох нах, - дӀахо дийцад гӀамсилга, - мӀадаш даьха, мераж Ӏоуха бераш хьест Ӏа, яхаш, бел хьох нах.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Иштта из долче, хьа духьа из а дут аз, - аьлар ПирӀона.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ХӀаьта, кхы а нах бел хьох. Наха йоах хьо цӀаьрмата ва, маькха юхкаш дӀаехкаш, зирталгаш гулдеш ва, йоах цар, - аьннад гӀамсилго.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- ДӀахо дӀайодача хана из а кхы дергдоацаш дут аз, - жоп деннад ПирӀона.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Из аьнна воаллашехьа хӀалак а хинна, вайна дӀаваьлар ПирӀон.</a:t>
            </a:r>
            <a:endParaRPr kumimoji="0" lang="nl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7DCDC-5205-92F6-7AED-35748EF0811E}"/>
              </a:ext>
            </a:extLst>
          </p:cNvPr>
          <p:cNvSpPr txBox="1"/>
          <p:nvPr/>
        </p:nvSpPr>
        <p:spPr>
          <a:xfrm>
            <a:off x="3722034" y="656122"/>
            <a:ext cx="4747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2. </a:t>
            </a:r>
            <a:r>
              <a:rPr lang="ru-RU" sz="2400" b="1" dirty="0"/>
              <a:t>Пир</a:t>
            </a:r>
            <a:r>
              <a:rPr lang="en-US" sz="2400" b="1" dirty="0"/>
              <a:t>l</a:t>
            </a:r>
            <a:r>
              <a:rPr lang="ru-RU" sz="2400" b="1" dirty="0"/>
              <a:t>онх</a:t>
            </a:r>
            <a:r>
              <a:rPr lang="en-US" sz="2400" b="1" dirty="0"/>
              <a:t>l</a:t>
            </a:r>
            <a:r>
              <a:rPr lang="ru-RU" sz="2400" b="1" dirty="0"/>
              <a:t>алак</a:t>
            </a:r>
            <a:r>
              <a:rPr lang="ce-Cyrl-RU" sz="2400" b="1" dirty="0"/>
              <a:t>ь</a:t>
            </a:r>
            <a:r>
              <a:rPr lang="ru-RU" sz="2400" b="1" dirty="0"/>
              <a:t>хиларах</a:t>
            </a:r>
            <a:endParaRPr lang="nl-BE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419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73661">
        <p:fade/>
      </p:transition>
    </mc:Choice>
    <mc:Fallback xmlns="">
      <p:transition spd="med" advTm="3736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mph" presetSubtype="0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C3D7-8F43-C664-6847-4DA52E5AA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87B4-C964-B0CD-00E2-2CCAC276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167" y="221474"/>
            <a:ext cx="8593667" cy="489726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Г</a:t>
            </a:r>
            <a:r>
              <a:rPr lang="ce-Cyrl-RU" sz="2400" dirty="0"/>
              <a:t>рамматика : двойные буквы, составные слова</a:t>
            </a:r>
            <a:endParaRPr lang="nl-B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3BAD7-7A9D-C3E8-1310-252346763A0D}"/>
              </a:ext>
            </a:extLst>
          </p:cNvPr>
          <p:cNvSpPr txBox="1"/>
          <p:nvPr/>
        </p:nvSpPr>
        <p:spPr>
          <a:xfrm>
            <a:off x="323851" y="895350"/>
            <a:ext cx="8928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</a:rPr>
              <a:t>Если встречаются подряд две двойные буквы, то первая в письме сокращается: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ru-RU" dirty="0">
                <a:solidFill>
                  <a:prstClr val="black"/>
                </a:solidFill>
              </a:rPr>
              <a:t>докхкха - доккха, цIкъа - цкъа, тIкъа - ткъа</a:t>
            </a:r>
            <a:endParaRPr kumimoji="0" lang="ce-Cyrl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ce-Cyrl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Составные слова, общее правило :  если первая</a:t>
            </a:r>
            <a:r>
              <a:rPr kumimoji="0" lang="ce-Cyrl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часть слова заканчивается на согласный, а вторая – на гласный, то между ними ставится Ъ – твердый знак.</a:t>
            </a:r>
            <a:br>
              <a:rPr kumimoji="0" lang="ce-Cyrl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lang="ru-RU" dirty="0">
                <a:solidFill>
                  <a:prstClr val="black"/>
                </a:solidFill>
              </a:rPr>
              <a:t>хьалъолла – повесить</a:t>
            </a:r>
            <a:r>
              <a:rPr lang="ce-Cyrl-RU" dirty="0">
                <a:solidFill>
                  <a:prstClr val="black"/>
                </a:solidFill>
              </a:rPr>
              <a:t>, </a:t>
            </a:r>
            <a:r>
              <a:rPr lang="ce-Cyrl-RU" dirty="0"/>
              <a:t>чакхъяккха – закончить, шелъеннай – замерзла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</a:rPr>
              <a:t>Если </a:t>
            </a:r>
            <a:r>
              <a:rPr lang="ce-Cyrl-RU" dirty="0">
                <a:solidFill>
                  <a:prstClr val="black"/>
                </a:solidFill>
              </a:rPr>
              <a:t>при этом</a:t>
            </a:r>
            <a:r>
              <a:rPr lang="ru-RU" dirty="0">
                <a:solidFill>
                  <a:prstClr val="black"/>
                </a:solidFill>
              </a:rPr>
              <a:t> первая часть заканчивается на согласную </a:t>
            </a:r>
            <a:r>
              <a:rPr lang="ru-RU" i="1" dirty="0">
                <a:solidFill>
                  <a:prstClr val="black"/>
                </a:solidFill>
              </a:rPr>
              <a:t>г, хь, к</a:t>
            </a:r>
            <a:r>
              <a:rPr lang="ru-RU" dirty="0">
                <a:solidFill>
                  <a:prstClr val="black"/>
                </a:solidFill>
              </a:rPr>
              <a:t>, то между ними ставится Ь:</a:t>
            </a:r>
            <a:br>
              <a:rPr lang="ce-Cyrl-RU" dirty="0">
                <a:solidFill>
                  <a:prstClr val="black"/>
                </a:solidFill>
              </a:rPr>
            </a:br>
            <a:r>
              <a:rPr lang="ru-RU" dirty="0">
                <a:solidFill>
                  <a:prstClr val="black"/>
                </a:solidFill>
              </a:rPr>
              <a:t>яхьаргья – принесу, кагье – ломай, Яхьья – имя, шокьеттарг – свистящий.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</a:rPr>
              <a:t>Специальный случай : если первая часть составного слова оканчивается на «к», а вторая начинается с «х», то между ними надо ставить мягкий знак</a:t>
            </a:r>
            <a:r>
              <a:rPr lang="ce-Cyrl-RU" dirty="0">
                <a:solidFill>
                  <a:prstClr val="black"/>
                </a:solidFill>
              </a:rPr>
              <a:t>.</a:t>
            </a:r>
            <a:br>
              <a:rPr lang="ce-Cyrl-RU" dirty="0">
                <a:solidFill>
                  <a:prstClr val="black"/>
                </a:solidFill>
              </a:rPr>
            </a:br>
            <a:r>
              <a:rPr lang="ce-Cyrl-RU" dirty="0">
                <a:solidFill>
                  <a:prstClr val="black"/>
                </a:solidFill>
              </a:rPr>
              <a:t>Без разделительного знака “к” и “х” слились бы в букву “кх”, а с твердым знаком получилась бы буква “къ”.</a:t>
            </a:r>
            <a:endParaRPr kumimoji="0" lang="ce-Cyrl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</a:rPr>
              <a:t>Если составное слово служит для противопоставления или для усиления, то между двумя словами ставится дефис</a:t>
            </a:r>
            <a:r>
              <a:rPr lang="ce-Cyrl-RU" dirty="0">
                <a:solidFill>
                  <a:prstClr val="black"/>
                </a:solidFill>
              </a:rPr>
              <a:t>:</a:t>
            </a:r>
            <a:br>
              <a:rPr lang="ce-Cyrl-RU" dirty="0">
                <a:solidFill>
                  <a:prstClr val="black"/>
                </a:solidFill>
              </a:rPr>
            </a:br>
            <a:r>
              <a:rPr lang="ce-Cyrl-RU" dirty="0"/>
              <a:t>зе-зулам, дика-во, да-нана</a:t>
            </a:r>
            <a:br>
              <a:rPr lang="ce-Cyrl-RU" dirty="0"/>
            </a:br>
            <a:r>
              <a:rPr lang="ce-Cyrl-RU" dirty="0"/>
              <a:t>хоз-хозаг1а, ваьн-ваьннар, тайп-тайпара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ce-Cyrl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Усилительные</a:t>
            </a:r>
            <a:r>
              <a:rPr kumimoji="0" lang="ce-Cyrl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частицы “м”, “кх”, “кха” пишутся через дефис;</a:t>
            </a:r>
            <a:br>
              <a:rPr kumimoji="0" lang="ce-Cyrl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Со-м вац, из ва-кх, шо а да-кха. </a:t>
            </a:r>
            <a:endParaRPr kumimoji="0" lang="ce-Cyrl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317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73661">
        <p:fade/>
      </p:transition>
    </mc:Choice>
    <mc:Fallback xmlns="">
      <p:transition spd="med" advTm="3736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1.3|0.5|0.5|1.5|0.5|0.9|176|0.5|0.3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1.3|0.5|0.5|1.5|0.5|0.9|176|0.5|0.3|0.5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2304</Words>
  <Application>Microsoft Office PowerPoint</Application>
  <PresentationFormat>Widescreen</PresentationFormat>
  <Paragraphs>111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Alasassy Caps</vt:lpstr>
      <vt:lpstr>Aptos</vt:lpstr>
      <vt:lpstr>Arial</vt:lpstr>
      <vt:lpstr>Gill Sans MT</vt:lpstr>
      <vt:lpstr>Gallery</vt:lpstr>
      <vt:lpstr>Опыт изучения ингушского языка</vt:lpstr>
      <vt:lpstr>Мудрые наставления наших предков</vt:lpstr>
      <vt:lpstr>Пирlонхlалакьхиларах  </vt:lpstr>
      <vt:lpstr>2. Пирlонхlалакахиларах</vt:lpstr>
      <vt:lpstr>PowerPoint Presentation</vt:lpstr>
      <vt:lpstr>PowerPoint Presentation</vt:lpstr>
      <vt:lpstr>PowerPoint Presentation</vt:lpstr>
      <vt:lpstr>Лексика</vt:lpstr>
      <vt:lpstr>Грамматика : двойные буквы, составные слова</vt:lpstr>
    </vt:vector>
  </TitlesOfParts>
  <Company>FPS Public Health Belgium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Abdulvakhid Shoudouev (FOD VVVL - SPF SPSCAE)</dc:creator>
  <cp:lastModifiedBy>Abdulvakhid Shoudouev (FOD VVVL - SPF SPSCAE)</cp:lastModifiedBy>
  <cp:revision>111</cp:revision>
  <dcterms:created xsi:type="dcterms:W3CDTF">2026-06-01T18:53:02Z</dcterms:created>
  <dcterms:modified xsi:type="dcterms:W3CDTF">2026-06-15T09:09:03Z</dcterms:modified>
</cp:coreProperties>
</file>